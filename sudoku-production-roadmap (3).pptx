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6366F1"/>
          </a:solidFill>
          <a:ln/>
        </p:spPr>
      </p:sp>
      <p:sp>
        <p:nvSpPr>
          <p:cNvPr id="3" name="Shape 1"/>
          <p:cNvSpPr/>
          <p:nvPr/>
        </p:nvSpPr>
        <p:spPr>
          <a:xfrm>
            <a:off x="0" y="5079492"/>
            <a:ext cx="9144000" cy="64008"/>
          </a:xfrm>
          <a:prstGeom prst="rect">
            <a:avLst/>
          </a:prstGeom>
          <a:solidFill>
            <a:srgbClr val="6366F1"/>
          </a:solidFill>
          <a:ln/>
        </p:spPr>
      </p:sp>
      <p:sp>
        <p:nvSpPr>
          <p:cNvPr id="4" name="Shape 2"/>
          <p:cNvSpPr/>
          <p:nvPr/>
        </p:nvSpPr>
        <p:spPr>
          <a:xfrm>
            <a:off x="0" y="64008"/>
            <a:ext cx="64008" cy="5015484"/>
          </a:xfrm>
          <a:prstGeom prst="rect">
            <a:avLst/>
          </a:prstGeom>
          <a:solidFill>
            <a:srgbClr val="6366F1"/>
          </a:solidFill>
          <a:ln/>
        </p:spPr>
      </p:sp>
      <p:sp>
        <p:nvSpPr>
          <p:cNvPr id="5" name="Shape 3"/>
          <p:cNvSpPr/>
          <p:nvPr/>
        </p:nvSpPr>
        <p:spPr>
          <a:xfrm>
            <a:off x="5577840" y="411480"/>
            <a:ext cx="310896" cy="310896"/>
          </a:xfrm>
          <a:prstGeom prst="rect">
            <a:avLst/>
          </a:prstGeom>
          <a:solidFill>
            <a:srgbClr val="0D1929"/>
          </a:solidFill>
          <a:ln w="3810">
            <a:solidFill>
              <a:srgbClr val="263A5A"/>
            </a:solidFill>
            <a:prstDash val="solid"/>
          </a:ln>
        </p:spPr>
      </p:sp>
      <p:sp>
        <p:nvSpPr>
          <p:cNvPr id="6" name="Text 4"/>
          <p:cNvSpPr/>
          <p:nvPr/>
        </p:nvSpPr>
        <p:spPr>
          <a:xfrm>
            <a:off x="5577840" y="411480"/>
            <a:ext cx="310896" cy="310896"/>
          </a:xfrm>
          <a:prstGeom prst="rect">
            <a:avLst/>
          </a:prstGeom>
          <a:noFill/>
          <a:ln/>
        </p:spPr>
        <p:txBody>
          <a:bodyPr wrap="square" rtlCol="0" anchor="ctr"/>
          <a:lstStyle/>
          <a:p>
            <a:pPr algn="ctr" indent="0" marL="0">
              <a:buNone/>
            </a:pPr>
            <a:r>
              <a:rPr lang="en-US" sz="1100" b="1" dirty="0">
                <a:solidFill>
                  <a:srgbClr val="6366F1"/>
                </a:solidFill>
                <a:latin typeface="Calibri" pitchFamily="34" charset="0"/>
                <a:ea typeface="Calibri" pitchFamily="34" charset="-122"/>
                <a:cs typeface="Calibri" pitchFamily="34" charset="-120"/>
              </a:rPr>
              <a:t>6</a:t>
            </a:r>
            <a:endParaRPr lang="en-US" sz="1100" dirty="0"/>
          </a:p>
        </p:txBody>
      </p:sp>
      <p:sp>
        <p:nvSpPr>
          <p:cNvPr id="7" name="Shape 5"/>
          <p:cNvSpPr/>
          <p:nvPr/>
        </p:nvSpPr>
        <p:spPr>
          <a:xfrm>
            <a:off x="5916168" y="411480"/>
            <a:ext cx="310896" cy="310896"/>
          </a:xfrm>
          <a:prstGeom prst="rect">
            <a:avLst/>
          </a:prstGeom>
          <a:solidFill>
            <a:srgbClr val="1E293B"/>
          </a:solidFill>
          <a:ln w="3810">
            <a:solidFill>
              <a:srgbClr val="263A5A"/>
            </a:solidFill>
            <a:prstDash val="solid"/>
          </a:ln>
        </p:spPr>
      </p:sp>
      <p:sp>
        <p:nvSpPr>
          <p:cNvPr id="8" name="Shape 6"/>
          <p:cNvSpPr/>
          <p:nvPr/>
        </p:nvSpPr>
        <p:spPr>
          <a:xfrm>
            <a:off x="6254496" y="411480"/>
            <a:ext cx="310896" cy="310896"/>
          </a:xfrm>
          <a:prstGeom prst="rect">
            <a:avLst/>
          </a:prstGeom>
          <a:solidFill>
            <a:srgbClr val="1A2844"/>
          </a:solidFill>
          <a:ln w="3810">
            <a:solidFill>
              <a:srgbClr val="263A5A"/>
            </a:solidFill>
            <a:prstDash val="solid"/>
          </a:ln>
        </p:spPr>
      </p:sp>
      <p:sp>
        <p:nvSpPr>
          <p:cNvPr id="9" name="Shape 7"/>
          <p:cNvSpPr/>
          <p:nvPr/>
        </p:nvSpPr>
        <p:spPr>
          <a:xfrm>
            <a:off x="6592824" y="411480"/>
            <a:ext cx="310896" cy="310896"/>
          </a:xfrm>
          <a:prstGeom prst="rect">
            <a:avLst/>
          </a:prstGeom>
          <a:solidFill>
            <a:srgbClr val="1E293B"/>
          </a:solidFill>
          <a:ln w="3810">
            <a:solidFill>
              <a:srgbClr val="263A5A"/>
            </a:solidFill>
            <a:prstDash val="solid"/>
          </a:ln>
        </p:spPr>
      </p:sp>
      <p:sp>
        <p:nvSpPr>
          <p:cNvPr id="10" name="Shape 8"/>
          <p:cNvSpPr/>
          <p:nvPr/>
        </p:nvSpPr>
        <p:spPr>
          <a:xfrm>
            <a:off x="6931152" y="411480"/>
            <a:ext cx="310896" cy="310896"/>
          </a:xfrm>
          <a:prstGeom prst="rect">
            <a:avLst/>
          </a:prstGeom>
          <a:solidFill>
            <a:srgbClr val="0D1929"/>
          </a:solidFill>
          <a:ln w="3810">
            <a:solidFill>
              <a:srgbClr val="263A5A"/>
            </a:solidFill>
            <a:prstDash val="solid"/>
          </a:ln>
        </p:spPr>
      </p:sp>
      <p:sp>
        <p:nvSpPr>
          <p:cNvPr id="11" name="Shape 9"/>
          <p:cNvSpPr/>
          <p:nvPr/>
        </p:nvSpPr>
        <p:spPr>
          <a:xfrm>
            <a:off x="7269480" y="411480"/>
            <a:ext cx="310896" cy="310896"/>
          </a:xfrm>
          <a:prstGeom prst="rect">
            <a:avLst/>
          </a:prstGeom>
          <a:solidFill>
            <a:srgbClr val="1E293B"/>
          </a:solidFill>
          <a:ln w="3810">
            <a:solidFill>
              <a:srgbClr val="263A5A"/>
            </a:solidFill>
            <a:prstDash val="solid"/>
          </a:ln>
        </p:spPr>
      </p:sp>
      <p:sp>
        <p:nvSpPr>
          <p:cNvPr id="12" name="Shape 10"/>
          <p:cNvSpPr/>
          <p:nvPr/>
        </p:nvSpPr>
        <p:spPr>
          <a:xfrm>
            <a:off x="7607808" y="411480"/>
            <a:ext cx="310896" cy="310896"/>
          </a:xfrm>
          <a:prstGeom prst="rect">
            <a:avLst/>
          </a:prstGeom>
          <a:solidFill>
            <a:srgbClr val="152238"/>
          </a:solidFill>
          <a:ln w="3810">
            <a:solidFill>
              <a:srgbClr val="263A5A"/>
            </a:solidFill>
            <a:prstDash val="solid"/>
          </a:ln>
        </p:spPr>
      </p:sp>
      <p:sp>
        <p:nvSpPr>
          <p:cNvPr id="13" name="Shape 11"/>
          <p:cNvSpPr/>
          <p:nvPr/>
        </p:nvSpPr>
        <p:spPr>
          <a:xfrm>
            <a:off x="7946136" y="411480"/>
            <a:ext cx="310896" cy="310896"/>
          </a:xfrm>
          <a:prstGeom prst="rect">
            <a:avLst/>
          </a:prstGeom>
          <a:solidFill>
            <a:srgbClr val="1E293B"/>
          </a:solidFill>
          <a:ln w="3810">
            <a:solidFill>
              <a:srgbClr val="263A5A"/>
            </a:solidFill>
            <a:prstDash val="solid"/>
          </a:ln>
        </p:spPr>
      </p:sp>
      <p:sp>
        <p:nvSpPr>
          <p:cNvPr id="14" name="Shape 12"/>
          <p:cNvSpPr/>
          <p:nvPr/>
        </p:nvSpPr>
        <p:spPr>
          <a:xfrm>
            <a:off x="8284464" y="411480"/>
            <a:ext cx="310896" cy="310896"/>
          </a:xfrm>
          <a:prstGeom prst="rect">
            <a:avLst/>
          </a:prstGeom>
          <a:solidFill>
            <a:srgbClr val="0D1929"/>
          </a:solidFill>
          <a:ln w="3810">
            <a:solidFill>
              <a:srgbClr val="263A5A"/>
            </a:solidFill>
            <a:prstDash val="solid"/>
          </a:ln>
        </p:spPr>
      </p:sp>
      <p:sp>
        <p:nvSpPr>
          <p:cNvPr id="15" name="Shape 13"/>
          <p:cNvSpPr/>
          <p:nvPr/>
        </p:nvSpPr>
        <p:spPr>
          <a:xfrm>
            <a:off x="5577840" y="749808"/>
            <a:ext cx="310896" cy="310896"/>
          </a:xfrm>
          <a:prstGeom prst="rect">
            <a:avLst/>
          </a:prstGeom>
          <a:solidFill>
            <a:srgbClr val="1E293B"/>
          </a:solidFill>
          <a:ln w="3810">
            <a:solidFill>
              <a:srgbClr val="263A5A"/>
            </a:solidFill>
            <a:prstDash val="solid"/>
          </a:ln>
        </p:spPr>
      </p:sp>
      <p:sp>
        <p:nvSpPr>
          <p:cNvPr id="16" name="Shape 14"/>
          <p:cNvSpPr/>
          <p:nvPr/>
        </p:nvSpPr>
        <p:spPr>
          <a:xfrm>
            <a:off x="5916168" y="749808"/>
            <a:ext cx="310896" cy="310896"/>
          </a:xfrm>
          <a:prstGeom prst="rect">
            <a:avLst/>
          </a:prstGeom>
          <a:solidFill>
            <a:srgbClr val="1A2844"/>
          </a:solidFill>
          <a:ln w="3810">
            <a:solidFill>
              <a:srgbClr val="263A5A"/>
            </a:solidFill>
            <a:prstDash val="solid"/>
          </a:ln>
        </p:spPr>
      </p:sp>
      <p:sp>
        <p:nvSpPr>
          <p:cNvPr id="17" name="Shape 15"/>
          <p:cNvSpPr/>
          <p:nvPr/>
        </p:nvSpPr>
        <p:spPr>
          <a:xfrm>
            <a:off x="6254496" y="749808"/>
            <a:ext cx="310896" cy="310896"/>
          </a:xfrm>
          <a:prstGeom prst="rect">
            <a:avLst/>
          </a:prstGeom>
          <a:solidFill>
            <a:srgbClr val="1E293B"/>
          </a:solidFill>
          <a:ln w="3810">
            <a:solidFill>
              <a:srgbClr val="263A5A"/>
            </a:solidFill>
            <a:prstDash val="solid"/>
          </a:ln>
        </p:spPr>
      </p:sp>
      <p:sp>
        <p:nvSpPr>
          <p:cNvPr id="18" name="Text 16"/>
          <p:cNvSpPr/>
          <p:nvPr/>
        </p:nvSpPr>
        <p:spPr>
          <a:xfrm>
            <a:off x="6254496" y="749808"/>
            <a:ext cx="310896" cy="310896"/>
          </a:xfrm>
          <a:prstGeom prst="rect">
            <a:avLst/>
          </a:prstGeom>
          <a:noFill/>
          <a:ln/>
        </p:spPr>
        <p:txBody>
          <a:bodyPr wrap="square" rtlCol="0" anchor="ctr"/>
          <a:lstStyle/>
          <a:p>
            <a:pPr algn="ctr" indent="0" marL="0">
              <a:buNone/>
            </a:pPr>
            <a:r>
              <a:rPr lang="en-US" sz="1100" b="1" dirty="0">
                <a:solidFill>
                  <a:srgbClr val="6366F1"/>
                </a:solidFill>
                <a:latin typeface="Calibri" pitchFamily="34" charset="0"/>
                <a:ea typeface="Calibri" pitchFamily="34" charset="-122"/>
                <a:cs typeface="Calibri" pitchFamily="34" charset="-120"/>
              </a:rPr>
              <a:t>5</a:t>
            </a:r>
            <a:endParaRPr lang="en-US" sz="1100" dirty="0"/>
          </a:p>
        </p:txBody>
      </p:sp>
      <p:sp>
        <p:nvSpPr>
          <p:cNvPr id="19" name="Shape 17"/>
          <p:cNvSpPr/>
          <p:nvPr/>
        </p:nvSpPr>
        <p:spPr>
          <a:xfrm>
            <a:off x="6592824" y="749808"/>
            <a:ext cx="310896" cy="310896"/>
          </a:xfrm>
          <a:prstGeom prst="rect">
            <a:avLst/>
          </a:prstGeom>
          <a:solidFill>
            <a:srgbClr val="0D1929"/>
          </a:solidFill>
          <a:ln w="3810">
            <a:solidFill>
              <a:srgbClr val="263A5A"/>
            </a:solidFill>
            <a:prstDash val="solid"/>
          </a:ln>
        </p:spPr>
      </p:sp>
      <p:sp>
        <p:nvSpPr>
          <p:cNvPr id="20" name="Shape 18"/>
          <p:cNvSpPr/>
          <p:nvPr/>
        </p:nvSpPr>
        <p:spPr>
          <a:xfrm>
            <a:off x="6931152" y="749808"/>
            <a:ext cx="310896" cy="310896"/>
          </a:xfrm>
          <a:prstGeom prst="rect">
            <a:avLst/>
          </a:prstGeom>
          <a:solidFill>
            <a:srgbClr val="1E293B"/>
          </a:solidFill>
          <a:ln w="3810">
            <a:solidFill>
              <a:srgbClr val="263A5A"/>
            </a:solidFill>
            <a:prstDash val="solid"/>
          </a:ln>
        </p:spPr>
      </p:sp>
      <p:sp>
        <p:nvSpPr>
          <p:cNvPr id="21" name="Shape 19"/>
          <p:cNvSpPr/>
          <p:nvPr/>
        </p:nvSpPr>
        <p:spPr>
          <a:xfrm>
            <a:off x="7269480" y="749808"/>
            <a:ext cx="310896" cy="310896"/>
          </a:xfrm>
          <a:prstGeom prst="rect">
            <a:avLst/>
          </a:prstGeom>
          <a:solidFill>
            <a:srgbClr val="152238"/>
          </a:solidFill>
          <a:ln w="3810">
            <a:solidFill>
              <a:srgbClr val="263A5A"/>
            </a:solidFill>
            <a:prstDash val="solid"/>
          </a:ln>
        </p:spPr>
      </p:sp>
      <p:sp>
        <p:nvSpPr>
          <p:cNvPr id="22" name="Shape 20"/>
          <p:cNvSpPr/>
          <p:nvPr/>
        </p:nvSpPr>
        <p:spPr>
          <a:xfrm>
            <a:off x="7607808" y="749808"/>
            <a:ext cx="310896" cy="310896"/>
          </a:xfrm>
          <a:prstGeom prst="rect">
            <a:avLst/>
          </a:prstGeom>
          <a:solidFill>
            <a:srgbClr val="1E293B"/>
          </a:solidFill>
          <a:ln w="3810">
            <a:solidFill>
              <a:srgbClr val="263A5A"/>
            </a:solidFill>
            <a:prstDash val="solid"/>
          </a:ln>
        </p:spPr>
      </p:sp>
      <p:sp>
        <p:nvSpPr>
          <p:cNvPr id="23" name="Shape 21"/>
          <p:cNvSpPr/>
          <p:nvPr/>
        </p:nvSpPr>
        <p:spPr>
          <a:xfrm>
            <a:off x="7946136" y="749808"/>
            <a:ext cx="310896" cy="310896"/>
          </a:xfrm>
          <a:prstGeom prst="rect">
            <a:avLst/>
          </a:prstGeom>
          <a:solidFill>
            <a:srgbClr val="0D1929"/>
          </a:solidFill>
          <a:ln w="3810">
            <a:solidFill>
              <a:srgbClr val="263A5A"/>
            </a:solidFill>
            <a:prstDash val="solid"/>
          </a:ln>
        </p:spPr>
      </p:sp>
      <p:sp>
        <p:nvSpPr>
          <p:cNvPr id="24" name="Shape 22"/>
          <p:cNvSpPr/>
          <p:nvPr/>
        </p:nvSpPr>
        <p:spPr>
          <a:xfrm>
            <a:off x="8284464" y="749808"/>
            <a:ext cx="310896" cy="310896"/>
          </a:xfrm>
          <a:prstGeom prst="rect">
            <a:avLst/>
          </a:prstGeom>
          <a:solidFill>
            <a:srgbClr val="0D1929"/>
          </a:solidFill>
          <a:ln w="3810">
            <a:solidFill>
              <a:srgbClr val="263A5A"/>
            </a:solidFill>
            <a:prstDash val="solid"/>
          </a:ln>
        </p:spPr>
      </p:sp>
      <p:sp>
        <p:nvSpPr>
          <p:cNvPr id="25" name="Text 23"/>
          <p:cNvSpPr/>
          <p:nvPr/>
        </p:nvSpPr>
        <p:spPr>
          <a:xfrm>
            <a:off x="8284464" y="749808"/>
            <a:ext cx="310896" cy="310896"/>
          </a:xfrm>
          <a:prstGeom prst="rect">
            <a:avLst/>
          </a:prstGeom>
          <a:noFill/>
          <a:ln/>
        </p:spPr>
        <p:txBody>
          <a:bodyPr wrap="square" rtlCol="0" anchor="ctr"/>
          <a:lstStyle/>
          <a:p>
            <a:pPr algn="ctr" indent="0" marL="0">
              <a:buNone/>
            </a:pPr>
            <a:r>
              <a:rPr lang="en-US" sz="1100" b="1" dirty="0">
                <a:solidFill>
                  <a:srgbClr val="6366F1"/>
                </a:solidFill>
                <a:latin typeface="Calibri" pitchFamily="34" charset="0"/>
                <a:ea typeface="Calibri" pitchFamily="34" charset="-122"/>
                <a:cs typeface="Calibri" pitchFamily="34" charset="-120"/>
              </a:rPr>
              <a:t>2</a:t>
            </a:r>
            <a:endParaRPr lang="en-US" sz="1100" dirty="0"/>
          </a:p>
        </p:txBody>
      </p:sp>
      <p:sp>
        <p:nvSpPr>
          <p:cNvPr id="26" name="Shape 24"/>
          <p:cNvSpPr/>
          <p:nvPr/>
        </p:nvSpPr>
        <p:spPr>
          <a:xfrm>
            <a:off x="5577840" y="1088136"/>
            <a:ext cx="310896" cy="310896"/>
          </a:xfrm>
          <a:prstGeom prst="rect">
            <a:avLst/>
          </a:prstGeom>
          <a:solidFill>
            <a:srgbClr val="1A2844"/>
          </a:solidFill>
          <a:ln w="3810">
            <a:solidFill>
              <a:srgbClr val="263A5A"/>
            </a:solidFill>
            <a:prstDash val="solid"/>
          </a:ln>
        </p:spPr>
      </p:sp>
      <p:sp>
        <p:nvSpPr>
          <p:cNvPr id="27" name="Shape 25"/>
          <p:cNvSpPr/>
          <p:nvPr/>
        </p:nvSpPr>
        <p:spPr>
          <a:xfrm>
            <a:off x="5916168" y="1088136"/>
            <a:ext cx="310896" cy="310896"/>
          </a:xfrm>
          <a:prstGeom prst="rect">
            <a:avLst/>
          </a:prstGeom>
          <a:solidFill>
            <a:srgbClr val="1E293B"/>
          </a:solidFill>
          <a:ln w="3810">
            <a:solidFill>
              <a:srgbClr val="263A5A"/>
            </a:solidFill>
            <a:prstDash val="solid"/>
          </a:ln>
        </p:spPr>
      </p:sp>
      <p:sp>
        <p:nvSpPr>
          <p:cNvPr id="28" name="Shape 26"/>
          <p:cNvSpPr/>
          <p:nvPr/>
        </p:nvSpPr>
        <p:spPr>
          <a:xfrm>
            <a:off x="6254496" y="1088136"/>
            <a:ext cx="310896" cy="310896"/>
          </a:xfrm>
          <a:prstGeom prst="rect">
            <a:avLst/>
          </a:prstGeom>
          <a:solidFill>
            <a:srgbClr val="0D1929"/>
          </a:solidFill>
          <a:ln w="3810">
            <a:solidFill>
              <a:srgbClr val="263A5A"/>
            </a:solidFill>
            <a:prstDash val="solid"/>
          </a:ln>
        </p:spPr>
      </p:sp>
      <p:sp>
        <p:nvSpPr>
          <p:cNvPr id="29" name="Shape 27"/>
          <p:cNvSpPr/>
          <p:nvPr/>
        </p:nvSpPr>
        <p:spPr>
          <a:xfrm>
            <a:off x="6592824" y="1088136"/>
            <a:ext cx="310896" cy="310896"/>
          </a:xfrm>
          <a:prstGeom prst="rect">
            <a:avLst/>
          </a:prstGeom>
          <a:solidFill>
            <a:srgbClr val="1E293B"/>
          </a:solidFill>
          <a:ln w="3810">
            <a:solidFill>
              <a:srgbClr val="263A5A"/>
            </a:solidFill>
            <a:prstDash val="solid"/>
          </a:ln>
        </p:spPr>
      </p:sp>
      <p:sp>
        <p:nvSpPr>
          <p:cNvPr id="30" name="Shape 28"/>
          <p:cNvSpPr/>
          <p:nvPr/>
        </p:nvSpPr>
        <p:spPr>
          <a:xfrm>
            <a:off x="6931152" y="1088136"/>
            <a:ext cx="310896" cy="310896"/>
          </a:xfrm>
          <a:prstGeom prst="rect">
            <a:avLst/>
          </a:prstGeom>
          <a:solidFill>
            <a:srgbClr val="152238"/>
          </a:solidFill>
          <a:ln w="3810">
            <a:solidFill>
              <a:srgbClr val="263A5A"/>
            </a:solidFill>
            <a:prstDash val="solid"/>
          </a:ln>
        </p:spPr>
      </p:sp>
      <p:sp>
        <p:nvSpPr>
          <p:cNvPr id="31" name="Text 29"/>
          <p:cNvSpPr/>
          <p:nvPr/>
        </p:nvSpPr>
        <p:spPr>
          <a:xfrm>
            <a:off x="6931152" y="1088136"/>
            <a:ext cx="310896" cy="310896"/>
          </a:xfrm>
          <a:prstGeom prst="rect">
            <a:avLst/>
          </a:prstGeom>
          <a:noFill/>
          <a:ln/>
        </p:spPr>
        <p:txBody>
          <a:bodyPr wrap="square" rtlCol="0" anchor="ctr"/>
          <a:lstStyle/>
          <a:p>
            <a:pPr algn="ctr" indent="0" marL="0">
              <a:buNone/>
            </a:pPr>
            <a:r>
              <a:rPr lang="en-US" sz="1100" b="1" dirty="0">
                <a:solidFill>
                  <a:srgbClr val="6366F1"/>
                </a:solidFill>
                <a:latin typeface="Calibri" pitchFamily="34" charset="0"/>
                <a:ea typeface="Calibri" pitchFamily="34" charset="-122"/>
                <a:cs typeface="Calibri" pitchFamily="34" charset="-120"/>
              </a:rPr>
              <a:t>4</a:t>
            </a:r>
            <a:endParaRPr lang="en-US" sz="1100" dirty="0"/>
          </a:p>
        </p:txBody>
      </p:sp>
      <p:sp>
        <p:nvSpPr>
          <p:cNvPr id="32" name="Shape 30"/>
          <p:cNvSpPr/>
          <p:nvPr/>
        </p:nvSpPr>
        <p:spPr>
          <a:xfrm>
            <a:off x="7269480" y="1088136"/>
            <a:ext cx="310896" cy="310896"/>
          </a:xfrm>
          <a:prstGeom prst="rect">
            <a:avLst/>
          </a:prstGeom>
          <a:solidFill>
            <a:srgbClr val="1E293B"/>
          </a:solidFill>
          <a:ln w="3810">
            <a:solidFill>
              <a:srgbClr val="263A5A"/>
            </a:solidFill>
            <a:prstDash val="solid"/>
          </a:ln>
        </p:spPr>
      </p:sp>
      <p:sp>
        <p:nvSpPr>
          <p:cNvPr id="33" name="Shape 31"/>
          <p:cNvSpPr/>
          <p:nvPr/>
        </p:nvSpPr>
        <p:spPr>
          <a:xfrm>
            <a:off x="7607808" y="1088136"/>
            <a:ext cx="310896" cy="310896"/>
          </a:xfrm>
          <a:prstGeom prst="rect">
            <a:avLst/>
          </a:prstGeom>
          <a:solidFill>
            <a:srgbClr val="0D1929"/>
          </a:solidFill>
          <a:ln w="3810">
            <a:solidFill>
              <a:srgbClr val="263A5A"/>
            </a:solidFill>
            <a:prstDash val="solid"/>
          </a:ln>
        </p:spPr>
      </p:sp>
      <p:sp>
        <p:nvSpPr>
          <p:cNvPr id="34" name="Shape 32"/>
          <p:cNvSpPr/>
          <p:nvPr/>
        </p:nvSpPr>
        <p:spPr>
          <a:xfrm>
            <a:off x="7946136" y="1088136"/>
            <a:ext cx="310896" cy="310896"/>
          </a:xfrm>
          <a:prstGeom prst="rect">
            <a:avLst/>
          </a:prstGeom>
          <a:solidFill>
            <a:srgbClr val="0D1929"/>
          </a:solidFill>
          <a:ln w="3810">
            <a:solidFill>
              <a:srgbClr val="263A5A"/>
            </a:solidFill>
            <a:prstDash val="solid"/>
          </a:ln>
        </p:spPr>
      </p:sp>
      <p:sp>
        <p:nvSpPr>
          <p:cNvPr id="35" name="Shape 33"/>
          <p:cNvSpPr/>
          <p:nvPr/>
        </p:nvSpPr>
        <p:spPr>
          <a:xfrm>
            <a:off x="8284464" y="1088136"/>
            <a:ext cx="310896" cy="310896"/>
          </a:xfrm>
          <a:prstGeom prst="rect">
            <a:avLst/>
          </a:prstGeom>
          <a:solidFill>
            <a:srgbClr val="1E293B"/>
          </a:solidFill>
          <a:ln w="3810">
            <a:solidFill>
              <a:srgbClr val="263A5A"/>
            </a:solidFill>
            <a:prstDash val="solid"/>
          </a:ln>
        </p:spPr>
      </p:sp>
      <p:sp>
        <p:nvSpPr>
          <p:cNvPr id="36" name="Shape 34"/>
          <p:cNvSpPr/>
          <p:nvPr/>
        </p:nvSpPr>
        <p:spPr>
          <a:xfrm>
            <a:off x="5577840" y="1426464"/>
            <a:ext cx="310896" cy="310896"/>
          </a:xfrm>
          <a:prstGeom prst="rect">
            <a:avLst/>
          </a:prstGeom>
          <a:solidFill>
            <a:srgbClr val="1E293B"/>
          </a:solidFill>
          <a:ln w="3810">
            <a:solidFill>
              <a:srgbClr val="263A5A"/>
            </a:solidFill>
            <a:prstDash val="solid"/>
          </a:ln>
        </p:spPr>
      </p:sp>
      <p:sp>
        <p:nvSpPr>
          <p:cNvPr id="37" name="Shape 35"/>
          <p:cNvSpPr/>
          <p:nvPr/>
        </p:nvSpPr>
        <p:spPr>
          <a:xfrm>
            <a:off x="5916168" y="1426464"/>
            <a:ext cx="310896" cy="310896"/>
          </a:xfrm>
          <a:prstGeom prst="rect">
            <a:avLst/>
          </a:prstGeom>
          <a:solidFill>
            <a:srgbClr val="0D1929"/>
          </a:solidFill>
          <a:ln w="3810">
            <a:solidFill>
              <a:srgbClr val="263A5A"/>
            </a:solidFill>
            <a:prstDash val="solid"/>
          </a:ln>
        </p:spPr>
      </p:sp>
      <p:sp>
        <p:nvSpPr>
          <p:cNvPr id="38" name="Shape 36"/>
          <p:cNvSpPr/>
          <p:nvPr/>
        </p:nvSpPr>
        <p:spPr>
          <a:xfrm>
            <a:off x="6254496" y="1426464"/>
            <a:ext cx="310896" cy="310896"/>
          </a:xfrm>
          <a:prstGeom prst="rect">
            <a:avLst/>
          </a:prstGeom>
          <a:solidFill>
            <a:srgbClr val="1E293B"/>
          </a:solidFill>
          <a:ln w="3810">
            <a:solidFill>
              <a:srgbClr val="263A5A"/>
            </a:solidFill>
            <a:prstDash val="solid"/>
          </a:ln>
        </p:spPr>
      </p:sp>
      <p:sp>
        <p:nvSpPr>
          <p:cNvPr id="39" name="Shape 37"/>
          <p:cNvSpPr/>
          <p:nvPr/>
        </p:nvSpPr>
        <p:spPr>
          <a:xfrm>
            <a:off x="6592824" y="1426464"/>
            <a:ext cx="310896" cy="310896"/>
          </a:xfrm>
          <a:prstGeom prst="rect">
            <a:avLst/>
          </a:prstGeom>
          <a:solidFill>
            <a:srgbClr val="152238"/>
          </a:solidFill>
          <a:ln w="3810">
            <a:solidFill>
              <a:srgbClr val="263A5A"/>
            </a:solidFill>
            <a:prstDash val="solid"/>
          </a:ln>
        </p:spPr>
      </p:sp>
      <p:sp>
        <p:nvSpPr>
          <p:cNvPr id="40" name="Shape 38"/>
          <p:cNvSpPr/>
          <p:nvPr/>
        </p:nvSpPr>
        <p:spPr>
          <a:xfrm>
            <a:off x="6931152" y="1426464"/>
            <a:ext cx="310896" cy="310896"/>
          </a:xfrm>
          <a:prstGeom prst="rect">
            <a:avLst/>
          </a:prstGeom>
          <a:solidFill>
            <a:srgbClr val="1E293B"/>
          </a:solidFill>
          <a:ln w="3810">
            <a:solidFill>
              <a:srgbClr val="263A5A"/>
            </a:solidFill>
            <a:prstDash val="solid"/>
          </a:ln>
        </p:spPr>
      </p:sp>
      <p:sp>
        <p:nvSpPr>
          <p:cNvPr id="41" name="Shape 39"/>
          <p:cNvSpPr/>
          <p:nvPr/>
        </p:nvSpPr>
        <p:spPr>
          <a:xfrm>
            <a:off x="7269480" y="1426464"/>
            <a:ext cx="310896" cy="310896"/>
          </a:xfrm>
          <a:prstGeom prst="rect">
            <a:avLst/>
          </a:prstGeom>
          <a:solidFill>
            <a:srgbClr val="0D1929"/>
          </a:solidFill>
          <a:ln w="3810">
            <a:solidFill>
              <a:srgbClr val="263A5A"/>
            </a:solidFill>
            <a:prstDash val="solid"/>
          </a:ln>
        </p:spPr>
      </p:sp>
      <p:sp>
        <p:nvSpPr>
          <p:cNvPr id="42" name="Shape 40"/>
          <p:cNvSpPr/>
          <p:nvPr/>
        </p:nvSpPr>
        <p:spPr>
          <a:xfrm>
            <a:off x="7607808" y="1426464"/>
            <a:ext cx="310896" cy="310896"/>
          </a:xfrm>
          <a:prstGeom prst="rect">
            <a:avLst/>
          </a:prstGeom>
          <a:solidFill>
            <a:srgbClr val="0D1929"/>
          </a:solidFill>
          <a:ln w="3810">
            <a:solidFill>
              <a:srgbClr val="263A5A"/>
            </a:solidFill>
            <a:prstDash val="solid"/>
          </a:ln>
        </p:spPr>
      </p:sp>
      <p:sp>
        <p:nvSpPr>
          <p:cNvPr id="43" name="Text 41"/>
          <p:cNvSpPr/>
          <p:nvPr/>
        </p:nvSpPr>
        <p:spPr>
          <a:xfrm>
            <a:off x="7607808" y="1426464"/>
            <a:ext cx="310896" cy="310896"/>
          </a:xfrm>
          <a:prstGeom prst="rect">
            <a:avLst/>
          </a:prstGeom>
          <a:noFill/>
          <a:ln/>
        </p:spPr>
        <p:txBody>
          <a:bodyPr wrap="square" rtlCol="0" anchor="ctr"/>
          <a:lstStyle/>
          <a:p>
            <a:pPr algn="ctr" indent="0" marL="0">
              <a:buNone/>
            </a:pPr>
            <a:r>
              <a:rPr lang="en-US" sz="1100" b="1" dirty="0">
                <a:solidFill>
                  <a:srgbClr val="6366F1"/>
                </a:solidFill>
                <a:latin typeface="Calibri" pitchFamily="34" charset="0"/>
                <a:ea typeface="Calibri" pitchFamily="34" charset="-122"/>
                <a:cs typeface="Calibri" pitchFamily="34" charset="-120"/>
              </a:rPr>
              <a:t>3</a:t>
            </a:r>
            <a:endParaRPr lang="en-US" sz="1100" dirty="0"/>
          </a:p>
        </p:txBody>
      </p:sp>
      <p:sp>
        <p:nvSpPr>
          <p:cNvPr id="44" name="Shape 42"/>
          <p:cNvSpPr/>
          <p:nvPr/>
        </p:nvSpPr>
        <p:spPr>
          <a:xfrm>
            <a:off x="7946136" y="1426464"/>
            <a:ext cx="310896" cy="310896"/>
          </a:xfrm>
          <a:prstGeom prst="rect">
            <a:avLst/>
          </a:prstGeom>
          <a:solidFill>
            <a:srgbClr val="1E293B"/>
          </a:solidFill>
          <a:ln w="3810">
            <a:solidFill>
              <a:srgbClr val="263A5A"/>
            </a:solidFill>
            <a:prstDash val="solid"/>
          </a:ln>
        </p:spPr>
      </p:sp>
      <p:sp>
        <p:nvSpPr>
          <p:cNvPr id="45" name="Text 43"/>
          <p:cNvSpPr/>
          <p:nvPr/>
        </p:nvSpPr>
        <p:spPr>
          <a:xfrm>
            <a:off x="7946136" y="1426464"/>
            <a:ext cx="310896" cy="310896"/>
          </a:xfrm>
          <a:prstGeom prst="rect">
            <a:avLst/>
          </a:prstGeom>
          <a:noFill/>
          <a:ln/>
        </p:spPr>
        <p:txBody>
          <a:bodyPr wrap="square" rtlCol="0" anchor="ctr"/>
          <a:lstStyle/>
          <a:p>
            <a:pPr algn="ctr" indent="0" marL="0">
              <a:buNone/>
            </a:pPr>
            <a:r>
              <a:rPr lang="en-US" sz="1100" b="1" dirty="0">
                <a:solidFill>
                  <a:srgbClr val="6366F1"/>
                </a:solidFill>
                <a:latin typeface="Calibri" pitchFamily="34" charset="0"/>
                <a:ea typeface="Calibri" pitchFamily="34" charset="-122"/>
                <a:cs typeface="Calibri" pitchFamily="34" charset="-120"/>
              </a:rPr>
              <a:t>1</a:t>
            </a:r>
            <a:endParaRPr lang="en-US" sz="1100" dirty="0"/>
          </a:p>
        </p:txBody>
      </p:sp>
      <p:sp>
        <p:nvSpPr>
          <p:cNvPr id="46" name="Shape 44"/>
          <p:cNvSpPr/>
          <p:nvPr/>
        </p:nvSpPr>
        <p:spPr>
          <a:xfrm>
            <a:off x="8284464" y="1426464"/>
            <a:ext cx="310896" cy="310896"/>
          </a:xfrm>
          <a:prstGeom prst="rect">
            <a:avLst/>
          </a:prstGeom>
          <a:solidFill>
            <a:srgbClr val="1A2844"/>
          </a:solidFill>
          <a:ln w="3810">
            <a:solidFill>
              <a:srgbClr val="263A5A"/>
            </a:solidFill>
            <a:prstDash val="solid"/>
          </a:ln>
        </p:spPr>
      </p:sp>
      <p:sp>
        <p:nvSpPr>
          <p:cNvPr id="47" name="Shape 45"/>
          <p:cNvSpPr/>
          <p:nvPr/>
        </p:nvSpPr>
        <p:spPr>
          <a:xfrm>
            <a:off x="5577840" y="1764792"/>
            <a:ext cx="310896" cy="310896"/>
          </a:xfrm>
          <a:prstGeom prst="rect">
            <a:avLst/>
          </a:prstGeom>
          <a:solidFill>
            <a:srgbClr val="0D1929"/>
          </a:solidFill>
          <a:ln w="3810">
            <a:solidFill>
              <a:srgbClr val="263A5A"/>
            </a:solidFill>
            <a:prstDash val="solid"/>
          </a:ln>
        </p:spPr>
      </p:sp>
      <p:sp>
        <p:nvSpPr>
          <p:cNvPr id="48" name="Shape 46"/>
          <p:cNvSpPr/>
          <p:nvPr/>
        </p:nvSpPr>
        <p:spPr>
          <a:xfrm>
            <a:off x="5916168" y="1764792"/>
            <a:ext cx="310896" cy="310896"/>
          </a:xfrm>
          <a:prstGeom prst="rect">
            <a:avLst/>
          </a:prstGeom>
          <a:solidFill>
            <a:srgbClr val="1E293B"/>
          </a:solidFill>
          <a:ln w="3810">
            <a:solidFill>
              <a:srgbClr val="263A5A"/>
            </a:solidFill>
            <a:prstDash val="solid"/>
          </a:ln>
        </p:spPr>
      </p:sp>
      <p:sp>
        <p:nvSpPr>
          <p:cNvPr id="49" name="Shape 47"/>
          <p:cNvSpPr/>
          <p:nvPr/>
        </p:nvSpPr>
        <p:spPr>
          <a:xfrm>
            <a:off x="6254496" y="1764792"/>
            <a:ext cx="310896" cy="310896"/>
          </a:xfrm>
          <a:prstGeom prst="rect">
            <a:avLst/>
          </a:prstGeom>
          <a:solidFill>
            <a:srgbClr val="152238"/>
          </a:solidFill>
          <a:ln w="3810">
            <a:solidFill>
              <a:srgbClr val="263A5A"/>
            </a:solidFill>
            <a:prstDash val="solid"/>
          </a:ln>
        </p:spPr>
      </p:sp>
      <p:sp>
        <p:nvSpPr>
          <p:cNvPr id="50" name="Shape 48"/>
          <p:cNvSpPr/>
          <p:nvPr/>
        </p:nvSpPr>
        <p:spPr>
          <a:xfrm>
            <a:off x="6592824" y="1764792"/>
            <a:ext cx="310896" cy="310896"/>
          </a:xfrm>
          <a:prstGeom prst="rect">
            <a:avLst/>
          </a:prstGeom>
          <a:solidFill>
            <a:srgbClr val="1E293B"/>
          </a:solidFill>
          <a:ln w="3810">
            <a:solidFill>
              <a:srgbClr val="263A5A"/>
            </a:solidFill>
            <a:prstDash val="solid"/>
          </a:ln>
        </p:spPr>
      </p:sp>
      <p:sp>
        <p:nvSpPr>
          <p:cNvPr id="51" name="Shape 49"/>
          <p:cNvSpPr/>
          <p:nvPr/>
        </p:nvSpPr>
        <p:spPr>
          <a:xfrm>
            <a:off x="6931152" y="1764792"/>
            <a:ext cx="310896" cy="310896"/>
          </a:xfrm>
          <a:prstGeom prst="rect">
            <a:avLst/>
          </a:prstGeom>
          <a:solidFill>
            <a:srgbClr val="0D1929"/>
          </a:solidFill>
          <a:ln w="3810">
            <a:solidFill>
              <a:srgbClr val="263A5A"/>
            </a:solidFill>
            <a:prstDash val="solid"/>
          </a:ln>
        </p:spPr>
      </p:sp>
      <p:sp>
        <p:nvSpPr>
          <p:cNvPr id="52" name="Shape 50"/>
          <p:cNvSpPr/>
          <p:nvPr/>
        </p:nvSpPr>
        <p:spPr>
          <a:xfrm>
            <a:off x="7269480" y="1764792"/>
            <a:ext cx="310896" cy="310896"/>
          </a:xfrm>
          <a:prstGeom prst="rect">
            <a:avLst/>
          </a:prstGeom>
          <a:solidFill>
            <a:srgbClr val="0D1929"/>
          </a:solidFill>
          <a:ln w="3810">
            <a:solidFill>
              <a:srgbClr val="263A5A"/>
            </a:solidFill>
            <a:prstDash val="solid"/>
          </a:ln>
        </p:spPr>
      </p:sp>
      <p:sp>
        <p:nvSpPr>
          <p:cNvPr id="53" name="Shape 51"/>
          <p:cNvSpPr/>
          <p:nvPr/>
        </p:nvSpPr>
        <p:spPr>
          <a:xfrm>
            <a:off x="7607808" y="1764792"/>
            <a:ext cx="310896" cy="310896"/>
          </a:xfrm>
          <a:prstGeom prst="rect">
            <a:avLst/>
          </a:prstGeom>
          <a:solidFill>
            <a:srgbClr val="1E293B"/>
          </a:solidFill>
          <a:ln w="3810">
            <a:solidFill>
              <a:srgbClr val="263A5A"/>
            </a:solidFill>
            <a:prstDash val="solid"/>
          </a:ln>
        </p:spPr>
      </p:sp>
      <p:sp>
        <p:nvSpPr>
          <p:cNvPr id="54" name="Shape 52"/>
          <p:cNvSpPr/>
          <p:nvPr/>
        </p:nvSpPr>
        <p:spPr>
          <a:xfrm>
            <a:off x="7946136" y="1764792"/>
            <a:ext cx="310896" cy="310896"/>
          </a:xfrm>
          <a:prstGeom prst="rect">
            <a:avLst/>
          </a:prstGeom>
          <a:solidFill>
            <a:srgbClr val="1A2844"/>
          </a:solidFill>
          <a:ln w="3810">
            <a:solidFill>
              <a:srgbClr val="263A5A"/>
            </a:solidFill>
            <a:prstDash val="solid"/>
          </a:ln>
        </p:spPr>
      </p:sp>
      <p:sp>
        <p:nvSpPr>
          <p:cNvPr id="55" name="Shape 53"/>
          <p:cNvSpPr/>
          <p:nvPr/>
        </p:nvSpPr>
        <p:spPr>
          <a:xfrm>
            <a:off x="8284464" y="1764792"/>
            <a:ext cx="310896" cy="310896"/>
          </a:xfrm>
          <a:prstGeom prst="rect">
            <a:avLst/>
          </a:prstGeom>
          <a:solidFill>
            <a:srgbClr val="1E293B"/>
          </a:solidFill>
          <a:ln w="3810">
            <a:solidFill>
              <a:srgbClr val="263A5A"/>
            </a:solidFill>
            <a:prstDash val="solid"/>
          </a:ln>
        </p:spPr>
      </p:sp>
      <p:sp>
        <p:nvSpPr>
          <p:cNvPr id="56" name="Text 54"/>
          <p:cNvSpPr/>
          <p:nvPr/>
        </p:nvSpPr>
        <p:spPr>
          <a:xfrm>
            <a:off x="8284464" y="1764792"/>
            <a:ext cx="310896" cy="310896"/>
          </a:xfrm>
          <a:prstGeom prst="rect">
            <a:avLst/>
          </a:prstGeom>
          <a:noFill/>
          <a:ln/>
        </p:spPr>
        <p:txBody>
          <a:bodyPr wrap="square" rtlCol="0" anchor="ctr"/>
          <a:lstStyle/>
          <a:p>
            <a:pPr algn="ctr" indent="0" marL="0">
              <a:buNone/>
            </a:pPr>
            <a:r>
              <a:rPr lang="en-US" sz="1100" b="1" dirty="0">
                <a:solidFill>
                  <a:srgbClr val="6366F1"/>
                </a:solidFill>
                <a:latin typeface="Calibri" pitchFamily="34" charset="0"/>
                <a:ea typeface="Calibri" pitchFamily="34" charset="-122"/>
                <a:cs typeface="Calibri" pitchFamily="34" charset="-120"/>
              </a:rPr>
              <a:t>2</a:t>
            </a:r>
            <a:endParaRPr lang="en-US" sz="1100" dirty="0"/>
          </a:p>
        </p:txBody>
      </p:sp>
      <p:sp>
        <p:nvSpPr>
          <p:cNvPr id="57" name="Shape 55"/>
          <p:cNvSpPr/>
          <p:nvPr/>
        </p:nvSpPr>
        <p:spPr>
          <a:xfrm>
            <a:off x="5577840" y="2103120"/>
            <a:ext cx="310896" cy="310896"/>
          </a:xfrm>
          <a:prstGeom prst="rect">
            <a:avLst/>
          </a:prstGeom>
          <a:solidFill>
            <a:srgbClr val="1E293B"/>
          </a:solidFill>
          <a:ln w="3810">
            <a:solidFill>
              <a:srgbClr val="263A5A"/>
            </a:solidFill>
            <a:prstDash val="solid"/>
          </a:ln>
        </p:spPr>
      </p:sp>
      <p:sp>
        <p:nvSpPr>
          <p:cNvPr id="58" name="Shape 56"/>
          <p:cNvSpPr/>
          <p:nvPr/>
        </p:nvSpPr>
        <p:spPr>
          <a:xfrm>
            <a:off x="5916168" y="2103120"/>
            <a:ext cx="310896" cy="310896"/>
          </a:xfrm>
          <a:prstGeom prst="rect">
            <a:avLst/>
          </a:prstGeom>
          <a:solidFill>
            <a:srgbClr val="152238"/>
          </a:solidFill>
          <a:ln w="3810">
            <a:solidFill>
              <a:srgbClr val="263A5A"/>
            </a:solidFill>
            <a:prstDash val="solid"/>
          </a:ln>
        </p:spPr>
      </p:sp>
      <p:sp>
        <p:nvSpPr>
          <p:cNvPr id="59" name="Shape 57"/>
          <p:cNvSpPr/>
          <p:nvPr/>
        </p:nvSpPr>
        <p:spPr>
          <a:xfrm>
            <a:off x="6254496" y="2103120"/>
            <a:ext cx="310896" cy="310896"/>
          </a:xfrm>
          <a:prstGeom prst="rect">
            <a:avLst/>
          </a:prstGeom>
          <a:solidFill>
            <a:srgbClr val="1E293B"/>
          </a:solidFill>
          <a:ln w="3810">
            <a:solidFill>
              <a:srgbClr val="263A5A"/>
            </a:solidFill>
            <a:prstDash val="solid"/>
          </a:ln>
        </p:spPr>
      </p:sp>
      <p:sp>
        <p:nvSpPr>
          <p:cNvPr id="60" name="Shape 58"/>
          <p:cNvSpPr/>
          <p:nvPr/>
        </p:nvSpPr>
        <p:spPr>
          <a:xfrm>
            <a:off x="6592824" y="2103120"/>
            <a:ext cx="310896" cy="310896"/>
          </a:xfrm>
          <a:prstGeom prst="rect">
            <a:avLst/>
          </a:prstGeom>
          <a:solidFill>
            <a:srgbClr val="0D1929"/>
          </a:solidFill>
          <a:ln w="3810">
            <a:solidFill>
              <a:srgbClr val="263A5A"/>
            </a:solidFill>
            <a:prstDash val="solid"/>
          </a:ln>
        </p:spPr>
      </p:sp>
      <p:sp>
        <p:nvSpPr>
          <p:cNvPr id="61" name="Shape 59"/>
          <p:cNvSpPr/>
          <p:nvPr/>
        </p:nvSpPr>
        <p:spPr>
          <a:xfrm>
            <a:off x="6931152" y="2103120"/>
            <a:ext cx="310896" cy="310896"/>
          </a:xfrm>
          <a:prstGeom prst="rect">
            <a:avLst/>
          </a:prstGeom>
          <a:solidFill>
            <a:srgbClr val="0D1929"/>
          </a:solidFill>
          <a:ln w="3810">
            <a:solidFill>
              <a:srgbClr val="263A5A"/>
            </a:solidFill>
            <a:prstDash val="solid"/>
          </a:ln>
        </p:spPr>
      </p:sp>
      <p:sp>
        <p:nvSpPr>
          <p:cNvPr id="62" name="Shape 60"/>
          <p:cNvSpPr/>
          <p:nvPr/>
        </p:nvSpPr>
        <p:spPr>
          <a:xfrm>
            <a:off x="7269480" y="2103120"/>
            <a:ext cx="310896" cy="310896"/>
          </a:xfrm>
          <a:prstGeom prst="rect">
            <a:avLst/>
          </a:prstGeom>
          <a:solidFill>
            <a:srgbClr val="1E293B"/>
          </a:solidFill>
          <a:ln w="3810">
            <a:solidFill>
              <a:srgbClr val="263A5A"/>
            </a:solidFill>
            <a:prstDash val="solid"/>
          </a:ln>
        </p:spPr>
      </p:sp>
      <p:sp>
        <p:nvSpPr>
          <p:cNvPr id="63" name="Shape 61"/>
          <p:cNvSpPr/>
          <p:nvPr/>
        </p:nvSpPr>
        <p:spPr>
          <a:xfrm>
            <a:off x="7607808" y="2103120"/>
            <a:ext cx="310896" cy="310896"/>
          </a:xfrm>
          <a:prstGeom prst="rect">
            <a:avLst/>
          </a:prstGeom>
          <a:solidFill>
            <a:srgbClr val="1A2844"/>
          </a:solidFill>
          <a:ln w="3810">
            <a:solidFill>
              <a:srgbClr val="263A5A"/>
            </a:solidFill>
            <a:prstDash val="solid"/>
          </a:ln>
        </p:spPr>
      </p:sp>
      <p:sp>
        <p:nvSpPr>
          <p:cNvPr id="64" name="Text 62"/>
          <p:cNvSpPr/>
          <p:nvPr/>
        </p:nvSpPr>
        <p:spPr>
          <a:xfrm>
            <a:off x="7607808" y="2103120"/>
            <a:ext cx="310896" cy="310896"/>
          </a:xfrm>
          <a:prstGeom prst="rect">
            <a:avLst/>
          </a:prstGeom>
          <a:noFill/>
          <a:ln/>
        </p:spPr>
        <p:txBody>
          <a:bodyPr wrap="square" rtlCol="0" anchor="ctr"/>
          <a:lstStyle/>
          <a:p>
            <a:pPr algn="ctr" indent="0" marL="0">
              <a:buNone/>
            </a:pPr>
            <a:r>
              <a:rPr lang="en-US" sz="1100" b="1" dirty="0">
                <a:solidFill>
                  <a:srgbClr val="6366F1"/>
                </a:solidFill>
                <a:latin typeface="Calibri" pitchFamily="34" charset="0"/>
                <a:ea typeface="Calibri" pitchFamily="34" charset="-122"/>
                <a:cs typeface="Calibri" pitchFamily="34" charset="-120"/>
              </a:rPr>
              <a:t>9</a:t>
            </a:r>
            <a:endParaRPr lang="en-US" sz="1100" dirty="0"/>
          </a:p>
        </p:txBody>
      </p:sp>
      <p:sp>
        <p:nvSpPr>
          <p:cNvPr id="65" name="Shape 63"/>
          <p:cNvSpPr/>
          <p:nvPr/>
        </p:nvSpPr>
        <p:spPr>
          <a:xfrm>
            <a:off x="7946136" y="2103120"/>
            <a:ext cx="310896" cy="310896"/>
          </a:xfrm>
          <a:prstGeom prst="rect">
            <a:avLst/>
          </a:prstGeom>
          <a:solidFill>
            <a:srgbClr val="1E293B"/>
          </a:solidFill>
          <a:ln w="3810">
            <a:solidFill>
              <a:srgbClr val="263A5A"/>
            </a:solidFill>
            <a:prstDash val="solid"/>
          </a:ln>
        </p:spPr>
      </p:sp>
      <p:sp>
        <p:nvSpPr>
          <p:cNvPr id="66" name="Shape 64"/>
          <p:cNvSpPr/>
          <p:nvPr/>
        </p:nvSpPr>
        <p:spPr>
          <a:xfrm>
            <a:off x="8284464" y="2103120"/>
            <a:ext cx="310896" cy="310896"/>
          </a:xfrm>
          <a:prstGeom prst="rect">
            <a:avLst/>
          </a:prstGeom>
          <a:solidFill>
            <a:srgbClr val="0D1929"/>
          </a:solidFill>
          <a:ln w="3810">
            <a:solidFill>
              <a:srgbClr val="263A5A"/>
            </a:solidFill>
            <a:prstDash val="solid"/>
          </a:ln>
        </p:spPr>
      </p:sp>
      <p:sp>
        <p:nvSpPr>
          <p:cNvPr id="67" name="Shape 65"/>
          <p:cNvSpPr/>
          <p:nvPr/>
        </p:nvSpPr>
        <p:spPr>
          <a:xfrm>
            <a:off x="5577840" y="2441448"/>
            <a:ext cx="310896" cy="310896"/>
          </a:xfrm>
          <a:prstGeom prst="rect">
            <a:avLst/>
          </a:prstGeom>
          <a:solidFill>
            <a:srgbClr val="152238"/>
          </a:solidFill>
          <a:ln w="3810">
            <a:solidFill>
              <a:srgbClr val="263A5A"/>
            </a:solidFill>
            <a:prstDash val="solid"/>
          </a:ln>
        </p:spPr>
      </p:sp>
      <p:sp>
        <p:nvSpPr>
          <p:cNvPr id="68" name="Shape 66"/>
          <p:cNvSpPr/>
          <p:nvPr/>
        </p:nvSpPr>
        <p:spPr>
          <a:xfrm>
            <a:off x="5916168" y="2441448"/>
            <a:ext cx="310896" cy="310896"/>
          </a:xfrm>
          <a:prstGeom prst="rect">
            <a:avLst/>
          </a:prstGeom>
          <a:solidFill>
            <a:srgbClr val="1E293B"/>
          </a:solidFill>
          <a:ln w="3810">
            <a:solidFill>
              <a:srgbClr val="263A5A"/>
            </a:solidFill>
            <a:prstDash val="solid"/>
          </a:ln>
        </p:spPr>
      </p:sp>
      <p:sp>
        <p:nvSpPr>
          <p:cNvPr id="69" name="Text 67"/>
          <p:cNvSpPr/>
          <p:nvPr/>
        </p:nvSpPr>
        <p:spPr>
          <a:xfrm>
            <a:off x="5916168" y="2441448"/>
            <a:ext cx="310896" cy="310896"/>
          </a:xfrm>
          <a:prstGeom prst="rect">
            <a:avLst/>
          </a:prstGeom>
          <a:noFill/>
          <a:ln/>
        </p:spPr>
        <p:txBody>
          <a:bodyPr wrap="square" rtlCol="0" anchor="ctr"/>
          <a:lstStyle/>
          <a:p>
            <a:pPr algn="ctr" indent="0" marL="0">
              <a:buNone/>
            </a:pPr>
            <a:r>
              <a:rPr lang="en-US" sz="1100" b="1" dirty="0">
                <a:solidFill>
                  <a:srgbClr val="6366F1"/>
                </a:solidFill>
                <a:latin typeface="Calibri" pitchFamily="34" charset="0"/>
                <a:ea typeface="Calibri" pitchFamily="34" charset="-122"/>
                <a:cs typeface="Calibri" pitchFamily="34" charset="-120"/>
              </a:rPr>
              <a:t>4</a:t>
            </a:r>
            <a:endParaRPr lang="en-US" sz="1100" dirty="0"/>
          </a:p>
        </p:txBody>
      </p:sp>
      <p:sp>
        <p:nvSpPr>
          <p:cNvPr id="70" name="Shape 68"/>
          <p:cNvSpPr/>
          <p:nvPr/>
        </p:nvSpPr>
        <p:spPr>
          <a:xfrm>
            <a:off x="6254496" y="2441448"/>
            <a:ext cx="310896" cy="310896"/>
          </a:xfrm>
          <a:prstGeom prst="rect">
            <a:avLst/>
          </a:prstGeom>
          <a:solidFill>
            <a:srgbClr val="0D1929"/>
          </a:solidFill>
          <a:ln w="3810">
            <a:solidFill>
              <a:srgbClr val="263A5A"/>
            </a:solidFill>
            <a:prstDash val="solid"/>
          </a:ln>
        </p:spPr>
      </p:sp>
      <p:sp>
        <p:nvSpPr>
          <p:cNvPr id="71" name="Shape 69"/>
          <p:cNvSpPr/>
          <p:nvPr/>
        </p:nvSpPr>
        <p:spPr>
          <a:xfrm>
            <a:off x="6592824" y="2441448"/>
            <a:ext cx="310896" cy="310896"/>
          </a:xfrm>
          <a:prstGeom prst="rect">
            <a:avLst/>
          </a:prstGeom>
          <a:solidFill>
            <a:srgbClr val="0D1929"/>
          </a:solidFill>
          <a:ln w="3810">
            <a:solidFill>
              <a:srgbClr val="263A5A"/>
            </a:solidFill>
            <a:prstDash val="solid"/>
          </a:ln>
        </p:spPr>
      </p:sp>
      <p:sp>
        <p:nvSpPr>
          <p:cNvPr id="72" name="Shape 70"/>
          <p:cNvSpPr/>
          <p:nvPr/>
        </p:nvSpPr>
        <p:spPr>
          <a:xfrm>
            <a:off x="6931152" y="2441448"/>
            <a:ext cx="310896" cy="310896"/>
          </a:xfrm>
          <a:prstGeom prst="rect">
            <a:avLst/>
          </a:prstGeom>
          <a:solidFill>
            <a:srgbClr val="1E293B"/>
          </a:solidFill>
          <a:ln w="3810">
            <a:solidFill>
              <a:srgbClr val="263A5A"/>
            </a:solidFill>
            <a:prstDash val="solid"/>
          </a:ln>
        </p:spPr>
      </p:sp>
      <p:sp>
        <p:nvSpPr>
          <p:cNvPr id="73" name="Shape 71"/>
          <p:cNvSpPr/>
          <p:nvPr/>
        </p:nvSpPr>
        <p:spPr>
          <a:xfrm>
            <a:off x="7269480" y="2441448"/>
            <a:ext cx="310896" cy="310896"/>
          </a:xfrm>
          <a:prstGeom prst="rect">
            <a:avLst/>
          </a:prstGeom>
          <a:solidFill>
            <a:srgbClr val="1A2844"/>
          </a:solidFill>
          <a:ln w="3810">
            <a:solidFill>
              <a:srgbClr val="263A5A"/>
            </a:solidFill>
            <a:prstDash val="solid"/>
          </a:ln>
        </p:spPr>
      </p:sp>
      <p:sp>
        <p:nvSpPr>
          <p:cNvPr id="74" name="Shape 72"/>
          <p:cNvSpPr/>
          <p:nvPr/>
        </p:nvSpPr>
        <p:spPr>
          <a:xfrm>
            <a:off x="7607808" y="2441448"/>
            <a:ext cx="310896" cy="310896"/>
          </a:xfrm>
          <a:prstGeom prst="rect">
            <a:avLst/>
          </a:prstGeom>
          <a:solidFill>
            <a:srgbClr val="1E293B"/>
          </a:solidFill>
          <a:ln w="3810">
            <a:solidFill>
              <a:srgbClr val="263A5A"/>
            </a:solidFill>
            <a:prstDash val="solid"/>
          </a:ln>
        </p:spPr>
      </p:sp>
      <p:sp>
        <p:nvSpPr>
          <p:cNvPr id="75" name="Shape 73"/>
          <p:cNvSpPr/>
          <p:nvPr/>
        </p:nvSpPr>
        <p:spPr>
          <a:xfrm>
            <a:off x="7946136" y="2441448"/>
            <a:ext cx="310896" cy="310896"/>
          </a:xfrm>
          <a:prstGeom prst="rect">
            <a:avLst/>
          </a:prstGeom>
          <a:solidFill>
            <a:srgbClr val="0D1929"/>
          </a:solidFill>
          <a:ln w="3810">
            <a:solidFill>
              <a:srgbClr val="263A5A"/>
            </a:solidFill>
            <a:prstDash val="solid"/>
          </a:ln>
        </p:spPr>
      </p:sp>
      <p:sp>
        <p:nvSpPr>
          <p:cNvPr id="76" name="Shape 74"/>
          <p:cNvSpPr/>
          <p:nvPr/>
        </p:nvSpPr>
        <p:spPr>
          <a:xfrm>
            <a:off x="8284464" y="2441448"/>
            <a:ext cx="310896" cy="310896"/>
          </a:xfrm>
          <a:prstGeom prst="rect">
            <a:avLst/>
          </a:prstGeom>
          <a:solidFill>
            <a:srgbClr val="1E293B"/>
          </a:solidFill>
          <a:ln w="3810">
            <a:solidFill>
              <a:srgbClr val="263A5A"/>
            </a:solidFill>
            <a:prstDash val="solid"/>
          </a:ln>
        </p:spPr>
      </p:sp>
      <p:sp>
        <p:nvSpPr>
          <p:cNvPr id="77" name="Shape 75"/>
          <p:cNvSpPr/>
          <p:nvPr/>
        </p:nvSpPr>
        <p:spPr>
          <a:xfrm>
            <a:off x="5577840" y="2779776"/>
            <a:ext cx="310896" cy="310896"/>
          </a:xfrm>
          <a:prstGeom prst="rect">
            <a:avLst/>
          </a:prstGeom>
          <a:solidFill>
            <a:srgbClr val="1E293B"/>
          </a:solidFill>
          <a:ln w="3810">
            <a:solidFill>
              <a:srgbClr val="263A5A"/>
            </a:solidFill>
            <a:prstDash val="solid"/>
          </a:ln>
        </p:spPr>
      </p:sp>
      <p:sp>
        <p:nvSpPr>
          <p:cNvPr id="78" name="Shape 76"/>
          <p:cNvSpPr/>
          <p:nvPr/>
        </p:nvSpPr>
        <p:spPr>
          <a:xfrm>
            <a:off x="5916168" y="2779776"/>
            <a:ext cx="310896" cy="310896"/>
          </a:xfrm>
          <a:prstGeom prst="rect">
            <a:avLst/>
          </a:prstGeom>
          <a:solidFill>
            <a:srgbClr val="0D1929"/>
          </a:solidFill>
          <a:ln w="3810">
            <a:solidFill>
              <a:srgbClr val="263A5A"/>
            </a:solidFill>
            <a:prstDash val="solid"/>
          </a:ln>
        </p:spPr>
      </p:sp>
      <p:sp>
        <p:nvSpPr>
          <p:cNvPr id="79" name="Shape 77"/>
          <p:cNvSpPr/>
          <p:nvPr/>
        </p:nvSpPr>
        <p:spPr>
          <a:xfrm>
            <a:off x="6254496" y="2779776"/>
            <a:ext cx="310896" cy="310896"/>
          </a:xfrm>
          <a:prstGeom prst="rect">
            <a:avLst/>
          </a:prstGeom>
          <a:solidFill>
            <a:srgbClr val="0D1929"/>
          </a:solidFill>
          <a:ln w="3810">
            <a:solidFill>
              <a:srgbClr val="263A5A"/>
            </a:solidFill>
            <a:prstDash val="solid"/>
          </a:ln>
        </p:spPr>
      </p:sp>
      <p:sp>
        <p:nvSpPr>
          <p:cNvPr id="80" name="Shape 78"/>
          <p:cNvSpPr/>
          <p:nvPr/>
        </p:nvSpPr>
        <p:spPr>
          <a:xfrm>
            <a:off x="6592824" y="2779776"/>
            <a:ext cx="310896" cy="310896"/>
          </a:xfrm>
          <a:prstGeom prst="rect">
            <a:avLst/>
          </a:prstGeom>
          <a:solidFill>
            <a:srgbClr val="1E293B"/>
          </a:solidFill>
          <a:ln w="3810">
            <a:solidFill>
              <a:srgbClr val="263A5A"/>
            </a:solidFill>
            <a:prstDash val="solid"/>
          </a:ln>
        </p:spPr>
      </p:sp>
      <p:sp>
        <p:nvSpPr>
          <p:cNvPr id="81" name="Text 79"/>
          <p:cNvSpPr/>
          <p:nvPr/>
        </p:nvSpPr>
        <p:spPr>
          <a:xfrm>
            <a:off x="6592824" y="2779776"/>
            <a:ext cx="310896" cy="310896"/>
          </a:xfrm>
          <a:prstGeom prst="rect">
            <a:avLst/>
          </a:prstGeom>
          <a:noFill/>
          <a:ln/>
        </p:spPr>
        <p:txBody>
          <a:bodyPr wrap="square" rtlCol="0" anchor="ctr"/>
          <a:lstStyle/>
          <a:p>
            <a:pPr algn="ctr" indent="0" marL="0">
              <a:buNone/>
            </a:pPr>
            <a:r>
              <a:rPr lang="en-US" sz="1100" b="1" dirty="0">
                <a:solidFill>
                  <a:srgbClr val="6366F1"/>
                </a:solidFill>
                <a:latin typeface="Calibri" pitchFamily="34" charset="0"/>
                <a:ea typeface="Calibri" pitchFamily="34" charset="-122"/>
                <a:cs typeface="Calibri" pitchFamily="34" charset="-120"/>
              </a:rPr>
              <a:t>3</a:t>
            </a:r>
            <a:endParaRPr lang="en-US" sz="1100" dirty="0"/>
          </a:p>
        </p:txBody>
      </p:sp>
      <p:sp>
        <p:nvSpPr>
          <p:cNvPr id="82" name="Shape 80"/>
          <p:cNvSpPr/>
          <p:nvPr/>
        </p:nvSpPr>
        <p:spPr>
          <a:xfrm>
            <a:off x="6931152" y="2779776"/>
            <a:ext cx="310896" cy="310896"/>
          </a:xfrm>
          <a:prstGeom prst="rect">
            <a:avLst/>
          </a:prstGeom>
          <a:solidFill>
            <a:srgbClr val="1A2844"/>
          </a:solidFill>
          <a:ln w="3810">
            <a:solidFill>
              <a:srgbClr val="263A5A"/>
            </a:solidFill>
            <a:prstDash val="solid"/>
          </a:ln>
        </p:spPr>
      </p:sp>
      <p:sp>
        <p:nvSpPr>
          <p:cNvPr id="83" name="Shape 81"/>
          <p:cNvSpPr/>
          <p:nvPr/>
        </p:nvSpPr>
        <p:spPr>
          <a:xfrm>
            <a:off x="7269480" y="2779776"/>
            <a:ext cx="310896" cy="310896"/>
          </a:xfrm>
          <a:prstGeom prst="rect">
            <a:avLst/>
          </a:prstGeom>
          <a:solidFill>
            <a:srgbClr val="1E293B"/>
          </a:solidFill>
          <a:ln w="3810">
            <a:solidFill>
              <a:srgbClr val="263A5A"/>
            </a:solidFill>
            <a:prstDash val="solid"/>
          </a:ln>
        </p:spPr>
      </p:sp>
      <p:sp>
        <p:nvSpPr>
          <p:cNvPr id="84" name="Text 82"/>
          <p:cNvSpPr/>
          <p:nvPr/>
        </p:nvSpPr>
        <p:spPr>
          <a:xfrm>
            <a:off x="7269480" y="2779776"/>
            <a:ext cx="310896" cy="310896"/>
          </a:xfrm>
          <a:prstGeom prst="rect">
            <a:avLst/>
          </a:prstGeom>
          <a:noFill/>
          <a:ln/>
        </p:spPr>
        <p:txBody>
          <a:bodyPr wrap="square" rtlCol="0" anchor="ctr"/>
          <a:lstStyle/>
          <a:p>
            <a:pPr algn="ctr" indent="0" marL="0">
              <a:buNone/>
            </a:pPr>
            <a:r>
              <a:rPr lang="en-US" sz="1100" b="1" dirty="0">
                <a:solidFill>
                  <a:srgbClr val="6366F1"/>
                </a:solidFill>
                <a:latin typeface="Calibri" pitchFamily="34" charset="0"/>
                <a:ea typeface="Calibri" pitchFamily="34" charset="-122"/>
                <a:cs typeface="Calibri" pitchFamily="34" charset="-120"/>
              </a:rPr>
              <a:t>8</a:t>
            </a:r>
            <a:endParaRPr lang="en-US" sz="1100" dirty="0"/>
          </a:p>
        </p:txBody>
      </p:sp>
      <p:sp>
        <p:nvSpPr>
          <p:cNvPr id="85" name="Shape 83"/>
          <p:cNvSpPr/>
          <p:nvPr/>
        </p:nvSpPr>
        <p:spPr>
          <a:xfrm>
            <a:off x="7607808" y="2779776"/>
            <a:ext cx="310896" cy="310896"/>
          </a:xfrm>
          <a:prstGeom prst="rect">
            <a:avLst/>
          </a:prstGeom>
          <a:solidFill>
            <a:srgbClr val="0D1929"/>
          </a:solidFill>
          <a:ln w="3810">
            <a:solidFill>
              <a:srgbClr val="263A5A"/>
            </a:solidFill>
            <a:prstDash val="solid"/>
          </a:ln>
        </p:spPr>
      </p:sp>
      <p:sp>
        <p:nvSpPr>
          <p:cNvPr id="86" name="Shape 84"/>
          <p:cNvSpPr/>
          <p:nvPr/>
        </p:nvSpPr>
        <p:spPr>
          <a:xfrm>
            <a:off x="7946136" y="2779776"/>
            <a:ext cx="310896" cy="310896"/>
          </a:xfrm>
          <a:prstGeom prst="rect">
            <a:avLst/>
          </a:prstGeom>
          <a:solidFill>
            <a:srgbClr val="1E293B"/>
          </a:solidFill>
          <a:ln w="3810">
            <a:solidFill>
              <a:srgbClr val="263A5A"/>
            </a:solidFill>
            <a:prstDash val="solid"/>
          </a:ln>
        </p:spPr>
      </p:sp>
      <p:sp>
        <p:nvSpPr>
          <p:cNvPr id="87" name="Shape 85"/>
          <p:cNvSpPr/>
          <p:nvPr/>
        </p:nvSpPr>
        <p:spPr>
          <a:xfrm>
            <a:off x="8284464" y="2779776"/>
            <a:ext cx="310896" cy="310896"/>
          </a:xfrm>
          <a:prstGeom prst="rect">
            <a:avLst/>
          </a:prstGeom>
          <a:solidFill>
            <a:srgbClr val="152238"/>
          </a:solidFill>
          <a:ln w="3810">
            <a:solidFill>
              <a:srgbClr val="263A5A"/>
            </a:solidFill>
            <a:prstDash val="solid"/>
          </a:ln>
        </p:spPr>
      </p:sp>
      <p:sp>
        <p:nvSpPr>
          <p:cNvPr id="88" name="Shape 86"/>
          <p:cNvSpPr/>
          <p:nvPr/>
        </p:nvSpPr>
        <p:spPr>
          <a:xfrm>
            <a:off x="5577840" y="3118104"/>
            <a:ext cx="310896" cy="310896"/>
          </a:xfrm>
          <a:prstGeom prst="rect">
            <a:avLst/>
          </a:prstGeom>
          <a:solidFill>
            <a:srgbClr val="0D1929"/>
          </a:solidFill>
          <a:ln w="3810">
            <a:solidFill>
              <a:srgbClr val="263A5A"/>
            </a:solidFill>
            <a:prstDash val="solid"/>
          </a:ln>
        </p:spPr>
      </p:sp>
      <p:sp>
        <p:nvSpPr>
          <p:cNvPr id="89" name="Shape 87"/>
          <p:cNvSpPr/>
          <p:nvPr/>
        </p:nvSpPr>
        <p:spPr>
          <a:xfrm>
            <a:off x="5916168" y="3118104"/>
            <a:ext cx="310896" cy="310896"/>
          </a:xfrm>
          <a:prstGeom prst="rect">
            <a:avLst/>
          </a:prstGeom>
          <a:solidFill>
            <a:srgbClr val="0D1929"/>
          </a:solidFill>
          <a:ln w="3810">
            <a:solidFill>
              <a:srgbClr val="263A5A"/>
            </a:solidFill>
            <a:prstDash val="solid"/>
          </a:ln>
        </p:spPr>
      </p:sp>
      <p:sp>
        <p:nvSpPr>
          <p:cNvPr id="90" name="Shape 88"/>
          <p:cNvSpPr/>
          <p:nvPr/>
        </p:nvSpPr>
        <p:spPr>
          <a:xfrm>
            <a:off x="6254496" y="3118104"/>
            <a:ext cx="310896" cy="310896"/>
          </a:xfrm>
          <a:prstGeom prst="rect">
            <a:avLst/>
          </a:prstGeom>
          <a:solidFill>
            <a:srgbClr val="1E293B"/>
          </a:solidFill>
          <a:ln w="3810">
            <a:solidFill>
              <a:srgbClr val="263A5A"/>
            </a:solidFill>
            <a:prstDash val="solid"/>
          </a:ln>
        </p:spPr>
      </p:sp>
      <p:sp>
        <p:nvSpPr>
          <p:cNvPr id="91" name="Shape 89"/>
          <p:cNvSpPr/>
          <p:nvPr/>
        </p:nvSpPr>
        <p:spPr>
          <a:xfrm>
            <a:off x="6592824" y="3118104"/>
            <a:ext cx="310896" cy="310896"/>
          </a:xfrm>
          <a:prstGeom prst="rect">
            <a:avLst/>
          </a:prstGeom>
          <a:solidFill>
            <a:srgbClr val="1A2844"/>
          </a:solidFill>
          <a:ln w="3810">
            <a:solidFill>
              <a:srgbClr val="263A5A"/>
            </a:solidFill>
            <a:prstDash val="solid"/>
          </a:ln>
        </p:spPr>
      </p:sp>
      <p:sp>
        <p:nvSpPr>
          <p:cNvPr id="92" name="Shape 90"/>
          <p:cNvSpPr/>
          <p:nvPr/>
        </p:nvSpPr>
        <p:spPr>
          <a:xfrm>
            <a:off x="6931152" y="3118104"/>
            <a:ext cx="310896" cy="310896"/>
          </a:xfrm>
          <a:prstGeom prst="rect">
            <a:avLst/>
          </a:prstGeom>
          <a:solidFill>
            <a:srgbClr val="1E293B"/>
          </a:solidFill>
          <a:ln w="3810">
            <a:solidFill>
              <a:srgbClr val="263A5A"/>
            </a:solidFill>
            <a:prstDash val="solid"/>
          </a:ln>
        </p:spPr>
      </p:sp>
      <p:sp>
        <p:nvSpPr>
          <p:cNvPr id="93" name="Shape 91"/>
          <p:cNvSpPr/>
          <p:nvPr/>
        </p:nvSpPr>
        <p:spPr>
          <a:xfrm>
            <a:off x="7269480" y="3118104"/>
            <a:ext cx="310896" cy="310896"/>
          </a:xfrm>
          <a:prstGeom prst="rect">
            <a:avLst/>
          </a:prstGeom>
          <a:solidFill>
            <a:srgbClr val="0D1929"/>
          </a:solidFill>
          <a:ln w="3810">
            <a:solidFill>
              <a:srgbClr val="263A5A"/>
            </a:solidFill>
            <a:prstDash val="solid"/>
          </a:ln>
        </p:spPr>
      </p:sp>
      <p:sp>
        <p:nvSpPr>
          <p:cNvPr id="94" name="Text 92"/>
          <p:cNvSpPr/>
          <p:nvPr/>
        </p:nvSpPr>
        <p:spPr>
          <a:xfrm>
            <a:off x="7269480" y="3118104"/>
            <a:ext cx="310896" cy="310896"/>
          </a:xfrm>
          <a:prstGeom prst="rect">
            <a:avLst/>
          </a:prstGeom>
          <a:noFill/>
          <a:ln/>
        </p:spPr>
        <p:txBody>
          <a:bodyPr wrap="square" rtlCol="0" anchor="ctr"/>
          <a:lstStyle/>
          <a:p>
            <a:pPr algn="ctr" indent="0" marL="0">
              <a:buNone/>
            </a:pPr>
            <a:r>
              <a:rPr lang="en-US" sz="1100" b="1" dirty="0">
                <a:solidFill>
                  <a:srgbClr val="6366F1"/>
                </a:solidFill>
                <a:latin typeface="Calibri" pitchFamily="34" charset="0"/>
                <a:ea typeface="Calibri" pitchFamily="34" charset="-122"/>
                <a:cs typeface="Calibri" pitchFamily="34" charset="-120"/>
              </a:rPr>
              <a:t>2</a:t>
            </a:r>
            <a:endParaRPr lang="en-US" sz="1100" dirty="0"/>
          </a:p>
        </p:txBody>
      </p:sp>
      <p:sp>
        <p:nvSpPr>
          <p:cNvPr id="95" name="Shape 93"/>
          <p:cNvSpPr/>
          <p:nvPr/>
        </p:nvSpPr>
        <p:spPr>
          <a:xfrm>
            <a:off x="7607808" y="3118104"/>
            <a:ext cx="310896" cy="310896"/>
          </a:xfrm>
          <a:prstGeom prst="rect">
            <a:avLst/>
          </a:prstGeom>
          <a:solidFill>
            <a:srgbClr val="1E293B"/>
          </a:solidFill>
          <a:ln w="3810">
            <a:solidFill>
              <a:srgbClr val="263A5A"/>
            </a:solidFill>
            <a:prstDash val="solid"/>
          </a:ln>
        </p:spPr>
      </p:sp>
      <p:sp>
        <p:nvSpPr>
          <p:cNvPr id="96" name="Shape 94"/>
          <p:cNvSpPr/>
          <p:nvPr/>
        </p:nvSpPr>
        <p:spPr>
          <a:xfrm>
            <a:off x="7946136" y="3118104"/>
            <a:ext cx="310896" cy="310896"/>
          </a:xfrm>
          <a:prstGeom prst="rect">
            <a:avLst/>
          </a:prstGeom>
          <a:solidFill>
            <a:srgbClr val="152238"/>
          </a:solidFill>
          <a:ln w="3810">
            <a:solidFill>
              <a:srgbClr val="263A5A"/>
            </a:solidFill>
            <a:prstDash val="solid"/>
          </a:ln>
        </p:spPr>
      </p:sp>
      <p:sp>
        <p:nvSpPr>
          <p:cNvPr id="97" name="Shape 95"/>
          <p:cNvSpPr/>
          <p:nvPr/>
        </p:nvSpPr>
        <p:spPr>
          <a:xfrm>
            <a:off x="8284464" y="3118104"/>
            <a:ext cx="310896" cy="310896"/>
          </a:xfrm>
          <a:prstGeom prst="rect">
            <a:avLst/>
          </a:prstGeom>
          <a:solidFill>
            <a:srgbClr val="1E293B"/>
          </a:solidFill>
          <a:ln w="3810">
            <a:solidFill>
              <a:srgbClr val="263A5A"/>
            </a:solidFill>
            <a:prstDash val="solid"/>
          </a:ln>
        </p:spPr>
      </p:sp>
      <p:sp>
        <p:nvSpPr>
          <p:cNvPr id="98" name="Text 96"/>
          <p:cNvSpPr/>
          <p:nvPr/>
        </p:nvSpPr>
        <p:spPr>
          <a:xfrm>
            <a:off x="201168" y="932688"/>
            <a:ext cx="5166360" cy="457200"/>
          </a:xfrm>
          <a:prstGeom prst="rect">
            <a:avLst/>
          </a:prstGeom>
          <a:noFill/>
          <a:ln/>
        </p:spPr>
        <p:txBody>
          <a:bodyPr wrap="square" rtlCol="0" anchor="ctr"/>
          <a:lstStyle/>
          <a:p>
            <a:pPr indent="0" marL="0">
              <a:buNone/>
            </a:pPr>
            <a:r>
              <a:rPr lang="en-US" sz="2100" b="1" spc="300" kern="0" dirty="0">
                <a:solidFill>
                  <a:srgbClr val="94A3B8"/>
                </a:solidFill>
                <a:latin typeface="Calibri" pitchFamily="34" charset="0"/>
                <a:ea typeface="Calibri" pitchFamily="34" charset="-122"/>
                <a:cs typeface="Calibri" pitchFamily="34" charset="-120"/>
              </a:rPr>
              <a:t>REALTIME MULTIPLAYER</a:t>
            </a:r>
            <a:endParaRPr lang="en-US" sz="2100" dirty="0"/>
          </a:p>
        </p:txBody>
      </p:sp>
      <p:sp>
        <p:nvSpPr>
          <p:cNvPr id="99" name="Text 97"/>
          <p:cNvSpPr/>
          <p:nvPr/>
        </p:nvSpPr>
        <p:spPr>
          <a:xfrm>
            <a:off x="201168" y="1325880"/>
            <a:ext cx="5166360" cy="1005840"/>
          </a:xfrm>
          <a:prstGeom prst="rect">
            <a:avLst/>
          </a:prstGeom>
          <a:noFill/>
          <a:ln/>
        </p:spPr>
        <p:txBody>
          <a:bodyPr wrap="square" rtlCol="0" anchor="ctr"/>
          <a:lstStyle/>
          <a:p>
            <a:pPr indent="0" marL="0">
              <a:buNone/>
            </a:pPr>
            <a:r>
              <a:rPr lang="en-US" sz="6600" b="1" dirty="0">
                <a:solidFill>
                  <a:srgbClr val="F1F5F9"/>
                </a:solidFill>
                <a:latin typeface="Calibri" pitchFamily="34" charset="0"/>
                <a:ea typeface="Calibri" pitchFamily="34" charset="-122"/>
                <a:cs typeface="Calibri" pitchFamily="34" charset="-120"/>
              </a:rPr>
              <a:t>SUDOKU</a:t>
            </a:r>
            <a:endParaRPr lang="en-US" sz="6600" dirty="0"/>
          </a:p>
        </p:txBody>
      </p:sp>
      <p:sp>
        <p:nvSpPr>
          <p:cNvPr id="100" name="Text 98"/>
          <p:cNvSpPr/>
          <p:nvPr/>
        </p:nvSpPr>
        <p:spPr>
          <a:xfrm>
            <a:off x="201168" y="2267712"/>
            <a:ext cx="5166360" cy="804672"/>
          </a:xfrm>
          <a:prstGeom prst="rect">
            <a:avLst/>
          </a:prstGeom>
          <a:noFill/>
          <a:ln/>
        </p:spPr>
        <p:txBody>
          <a:bodyPr wrap="square" rtlCol="0" anchor="ctr"/>
          <a:lstStyle/>
          <a:p>
            <a:pPr indent="0" marL="0">
              <a:buNone/>
            </a:pPr>
            <a:r>
              <a:rPr lang="en-US" sz="5000" b="1" dirty="0">
                <a:solidFill>
                  <a:srgbClr val="6366F1"/>
                </a:solidFill>
                <a:latin typeface="Calibri" pitchFamily="34" charset="0"/>
                <a:ea typeface="Calibri" pitchFamily="34" charset="-122"/>
                <a:cs typeface="Calibri" pitchFamily="34" charset="-120"/>
              </a:rPr>
              <a:t>PLATFORM</a:t>
            </a:r>
            <a:endParaRPr lang="en-US" sz="5000" dirty="0"/>
          </a:p>
        </p:txBody>
      </p:sp>
      <p:sp>
        <p:nvSpPr>
          <p:cNvPr id="101" name="Text 99"/>
          <p:cNvSpPr/>
          <p:nvPr/>
        </p:nvSpPr>
        <p:spPr>
          <a:xfrm>
            <a:off x="201168" y="3154680"/>
            <a:ext cx="5166360" cy="347472"/>
          </a:xfrm>
          <a:prstGeom prst="rect">
            <a:avLst/>
          </a:prstGeom>
          <a:noFill/>
          <a:ln/>
        </p:spPr>
        <p:txBody>
          <a:bodyPr wrap="square" rtlCol="0" anchor="ctr"/>
          <a:lstStyle/>
          <a:p>
            <a:pPr indent="0" marL="0">
              <a:buNone/>
            </a:pPr>
            <a:r>
              <a:rPr lang="en-US" sz="1400" dirty="0">
                <a:solidFill>
                  <a:srgbClr val="22D3EE"/>
                </a:solidFill>
                <a:latin typeface="Calibri" pitchFamily="34" charset="0"/>
                <a:ea typeface="Calibri" pitchFamily="34" charset="-122"/>
                <a:cs typeface="Calibri" pitchFamily="34" charset="-120"/>
              </a:rPr>
              <a:t>Production Engineering Roadmap</a:t>
            </a:r>
            <a:endParaRPr lang="en-US" sz="1400" dirty="0"/>
          </a:p>
        </p:txBody>
      </p:sp>
      <p:sp>
        <p:nvSpPr>
          <p:cNvPr id="102" name="Text 100"/>
          <p:cNvSpPr/>
          <p:nvPr/>
        </p:nvSpPr>
        <p:spPr>
          <a:xfrm>
            <a:off x="201168" y="3520440"/>
            <a:ext cx="5166360" cy="274320"/>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End-to-End Architecture Overhaul  ·  14 Engineering Phases</a:t>
            </a:r>
            <a:endParaRPr lang="en-US" sz="1100" dirty="0"/>
          </a:p>
        </p:txBody>
      </p:sp>
      <p:sp>
        <p:nvSpPr>
          <p:cNvPr id="103" name="Shape 101"/>
          <p:cNvSpPr/>
          <p:nvPr/>
        </p:nvSpPr>
        <p:spPr>
          <a:xfrm>
            <a:off x="201168" y="3931920"/>
            <a:ext cx="1261872" cy="246888"/>
          </a:xfrm>
          <a:prstGeom prst="rect">
            <a:avLst/>
          </a:prstGeom>
          <a:solidFill>
            <a:srgbClr val="1E293B"/>
          </a:solidFill>
          <a:ln w="6350">
            <a:solidFill>
              <a:srgbClr val="334155"/>
            </a:solidFill>
            <a:prstDash val="solid"/>
          </a:ln>
        </p:spPr>
      </p:sp>
      <p:sp>
        <p:nvSpPr>
          <p:cNvPr id="104" name="Text 102"/>
          <p:cNvSpPr/>
          <p:nvPr/>
        </p:nvSpPr>
        <p:spPr>
          <a:xfrm>
            <a:off x="201168" y="3931920"/>
            <a:ext cx="1261872" cy="246888"/>
          </a:xfrm>
          <a:prstGeom prst="rect">
            <a:avLst/>
          </a:prstGeom>
          <a:noFill/>
          <a:ln/>
        </p:spPr>
        <p:txBody>
          <a:bodyPr wrap="square"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Node.js</a:t>
            </a:r>
            <a:endParaRPr lang="en-US" sz="1000" dirty="0"/>
          </a:p>
        </p:txBody>
      </p:sp>
      <p:sp>
        <p:nvSpPr>
          <p:cNvPr id="105" name="Shape 103"/>
          <p:cNvSpPr/>
          <p:nvPr/>
        </p:nvSpPr>
        <p:spPr>
          <a:xfrm>
            <a:off x="201168" y="4233672"/>
            <a:ext cx="1261872" cy="246888"/>
          </a:xfrm>
          <a:prstGeom prst="rect">
            <a:avLst/>
          </a:prstGeom>
          <a:solidFill>
            <a:srgbClr val="1E293B"/>
          </a:solidFill>
          <a:ln w="6350">
            <a:solidFill>
              <a:srgbClr val="334155"/>
            </a:solidFill>
            <a:prstDash val="solid"/>
          </a:ln>
        </p:spPr>
      </p:sp>
      <p:sp>
        <p:nvSpPr>
          <p:cNvPr id="106" name="Text 104"/>
          <p:cNvSpPr/>
          <p:nvPr/>
        </p:nvSpPr>
        <p:spPr>
          <a:xfrm>
            <a:off x="201168" y="4233672"/>
            <a:ext cx="1261872" cy="246888"/>
          </a:xfrm>
          <a:prstGeom prst="rect">
            <a:avLst/>
          </a:prstGeom>
          <a:noFill/>
          <a:ln/>
        </p:spPr>
        <p:txBody>
          <a:bodyPr wrap="square"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TypeScript</a:t>
            </a:r>
            <a:endParaRPr lang="en-US" sz="1000" dirty="0"/>
          </a:p>
        </p:txBody>
      </p:sp>
      <p:sp>
        <p:nvSpPr>
          <p:cNvPr id="107" name="Shape 105"/>
          <p:cNvSpPr/>
          <p:nvPr/>
        </p:nvSpPr>
        <p:spPr>
          <a:xfrm>
            <a:off x="201168" y="4535424"/>
            <a:ext cx="1261872" cy="246888"/>
          </a:xfrm>
          <a:prstGeom prst="rect">
            <a:avLst/>
          </a:prstGeom>
          <a:solidFill>
            <a:srgbClr val="1E293B"/>
          </a:solidFill>
          <a:ln w="6350">
            <a:solidFill>
              <a:srgbClr val="334155"/>
            </a:solidFill>
            <a:prstDash val="solid"/>
          </a:ln>
        </p:spPr>
      </p:sp>
      <p:sp>
        <p:nvSpPr>
          <p:cNvPr id="108" name="Text 106"/>
          <p:cNvSpPr/>
          <p:nvPr/>
        </p:nvSpPr>
        <p:spPr>
          <a:xfrm>
            <a:off x="201168" y="4535424"/>
            <a:ext cx="1261872" cy="246888"/>
          </a:xfrm>
          <a:prstGeom prst="rect">
            <a:avLst/>
          </a:prstGeom>
          <a:noFill/>
          <a:ln/>
        </p:spPr>
        <p:txBody>
          <a:bodyPr wrap="square"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Redis</a:t>
            </a:r>
            <a:endParaRPr lang="en-US" sz="1000" dirty="0"/>
          </a:p>
        </p:txBody>
      </p:sp>
      <p:sp>
        <p:nvSpPr>
          <p:cNvPr id="109" name="Shape 107"/>
          <p:cNvSpPr/>
          <p:nvPr/>
        </p:nvSpPr>
        <p:spPr>
          <a:xfrm>
            <a:off x="1591056" y="3931920"/>
            <a:ext cx="1261872" cy="246888"/>
          </a:xfrm>
          <a:prstGeom prst="rect">
            <a:avLst/>
          </a:prstGeom>
          <a:solidFill>
            <a:srgbClr val="1E293B"/>
          </a:solidFill>
          <a:ln w="6350">
            <a:solidFill>
              <a:srgbClr val="334155"/>
            </a:solidFill>
            <a:prstDash val="solid"/>
          </a:ln>
        </p:spPr>
      </p:sp>
      <p:sp>
        <p:nvSpPr>
          <p:cNvPr id="110" name="Text 108"/>
          <p:cNvSpPr/>
          <p:nvPr/>
        </p:nvSpPr>
        <p:spPr>
          <a:xfrm>
            <a:off x="1591056" y="3931920"/>
            <a:ext cx="1261872" cy="246888"/>
          </a:xfrm>
          <a:prstGeom prst="rect">
            <a:avLst/>
          </a:prstGeom>
          <a:noFill/>
          <a:ln/>
        </p:spPr>
        <p:txBody>
          <a:bodyPr wrap="square"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PostgreSQL</a:t>
            </a:r>
            <a:endParaRPr lang="en-US" sz="1000" dirty="0"/>
          </a:p>
        </p:txBody>
      </p:sp>
      <p:sp>
        <p:nvSpPr>
          <p:cNvPr id="111" name="Shape 109"/>
          <p:cNvSpPr/>
          <p:nvPr/>
        </p:nvSpPr>
        <p:spPr>
          <a:xfrm>
            <a:off x="1591056" y="4233672"/>
            <a:ext cx="1261872" cy="246888"/>
          </a:xfrm>
          <a:prstGeom prst="rect">
            <a:avLst/>
          </a:prstGeom>
          <a:solidFill>
            <a:srgbClr val="1E293B"/>
          </a:solidFill>
          <a:ln w="6350">
            <a:solidFill>
              <a:srgbClr val="334155"/>
            </a:solidFill>
            <a:prstDash val="solid"/>
          </a:ln>
        </p:spPr>
      </p:sp>
      <p:sp>
        <p:nvSpPr>
          <p:cNvPr id="112" name="Text 110"/>
          <p:cNvSpPr/>
          <p:nvPr/>
        </p:nvSpPr>
        <p:spPr>
          <a:xfrm>
            <a:off x="1591056" y="4233672"/>
            <a:ext cx="1261872" cy="246888"/>
          </a:xfrm>
          <a:prstGeom prst="rect">
            <a:avLst/>
          </a:prstGeom>
          <a:noFill/>
          <a:ln/>
        </p:spPr>
        <p:txBody>
          <a:bodyPr wrap="square"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Socket.IO</a:t>
            </a:r>
            <a:endParaRPr lang="en-US" sz="1000" dirty="0"/>
          </a:p>
        </p:txBody>
      </p:sp>
      <p:sp>
        <p:nvSpPr>
          <p:cNvPr id="113" name="Shape 111"/>
          <p:cNvSpPr/>
          <p:nvPr/>
        </p:nvSpPr>
        <p:spPr>
          <a:xfrm>
            <a:off x="1591056" y="4535424"/>
            <a:ext cx="1261872" cy="246888"/>
          </a:xfrm>
          <a:prstGeom prst="rect">
            <a:avLst/>
          </a:prstGeom>
          <a:solidFill>
            <a:srgbClr val="1E293B"/>
          </a:solidFill>
          <a:ln w="6350">
            <a:solidFill>
              <a:srgbClr val="334155"/>
            </a:solidFill>
            <a:prstDash val="solid"/>
          </a:ln>
        </p:spPr>
      </p:sp>
      <p:sp>
        <p:nvSpPr>
          <p:cNvPr id="114" name="Text 112"/>
          <p:cNvSpPr/>
          <p:nvPr/>
        </p:nvSpPr>
        <p:spPr>
          <a:xfrm>
            <a:off x="1591056" y="4535424"/>
            <a:ext cx="1261872" cy="246888"/>
          </a:xfrm>
          <a:prstGeom prst="rect">
            <a:avLst/>
          </a:prstGeom>
          <a:noFill/>
          <a:ln/>
        </p:spPr>
        <p:txBody>
          <a:bodyPr wrap="square"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Docker</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4ADE80"/>
          </a:solidFill>
          <a:ln/>
        </p:spPr>
      </p:sp>
      <p:sp>
        <p:nvSpPr>
          <p:cNvPr id="3" name="Text 1"/>
          <p:cNvSpPr/>
          <p:nvPr/>
        </p:nvSpPr>
        <p:spPr>
          <a:xfrm>
            <a:off x="274320" y="164592"/>
            <a:ext cx="8595360" cy="475488"/>
          </a:xfrm>
          <a:prstGeom prst="rect">
            <a:avLst/>
          </a:prstGeom>
          <a:noFill/>
          <a:ln/>
        </p:spPr>
        <p:txBody>
          <a:bodyPr wrap="square" rtlCol="0" anchor="ctr"/>
          <a:lstStyle/>
          <a:p>
            <a:pPr indent="0" marL="0">
              <a:buNone/>
            </a:pPr>
            <a:r>
              <a:rPr lang="en-US" sz="2500" b="1" dirty="0">
                <a:solidFill>
                  <a:srgbClr val="F1F5F9"/>
                </a:solidFill>
                <a:latin typeface="Calibri" pitchFamily="34" charset="0"/>
                <a:ea typeface="Calibri" pitchFamily="34" charset="-122"/>
                <a:cs typeface="Calibri" pitchFamily="34" charset="-120"/>
              </a:rPr>
              <a:t>What Exists Today</a:t>
            </a:r>
            <a:endParaRPr lang="en-US" sz="2500" dirty="0"/>
          </a:p>
        </p:txBody>
      </p:sp>
      <p:sp>
        <p:nvSpPr>
          <p:cNvPr id="4" name="Text 2"/>
          <p:cNvSpPr/>
          <p:nvPr/>
        </p:nvSpPr>
        <p:spPr>
          <a:xfrm>
            <a:off x="274320" y="658368"/>
            <a:ext cx="8595360" cy="256032"/>
          </a:xfrm>
          <a:prstGeom prst="rect">
            <a:avLst/>
          </a:prstGeom>
          <a:noFill/>
          <a:ln/>
        </p:spPr>
        <p:txBody>
          <a:bodyPr wrap="square" rtlCol="0" anchor="ctr"/>
          <a:lstStyle/>
          <a:p>
            <a:pPr indent="0" marL="0">
              <a:buNone/>
            </a:pPr>
            <a:r>
              <a:rPr lang="en-US" sz="1150" i="1" dirty="0">
                <a:solidFill>
                  <a:srgbClr val="94A3B8"/>
                </a:solidFill>
                <a:latin typeface="Calibri" pitchFamily="34" charset="0"/>
                <a:ea typeface="Calibri" pitchFamily="34" charset="-122"/>
                <a:cs typeface="Calibri" pitchFamily="34" charset="-120"/>
              </a:rPr>
              <a:t>A functional foundation — but with critical engineering gaps that prevent production deployment</a:t>
            </a:r>
            <a:endParaRPr lang="en-US" sz="1150" dirty="0"/>
          </a:p>
        </p:txBody>
      </p:sp>
      <p:sp>
        <p:nvSpPr>
          <p:cNvPr id="5" name="Shape 3"/>
          <p:cNvSpPr/>
          <p:nvPr/>
        </p:nvSpPr>
        <p:spPr>
          <a:xfrm>
            <a:off x="274320" y="987552"/>
            <a:ext cx="2816352" cy="3977640"/>
          </a:xfrm>
          <a:prstGeom prst="rect">
            <a:avLst/>
          </a:prstGeom>
          <a:solidFill>
            <a:srgbClr val="1E293B"/>
          </a:solidFill>
          <a:ln w="9525">
            <a:solidFill>
              <a:srgbClr val="22D3EE"/>
            </a:solidFill>
            <a:prstDash val="solid"/>
          </a:ln>
          <a:effectLst>
            <a:outerShdw sx="100000" sy="100000" kx="0" ky="0" algn="bl" rotWithShape="0" blurRad="76200" dist="25400" dir="8100000">
              <a:srgbClr val="000000">
                <a:alpha val="22000"/>
              </a:srgbClr>
            </a:outerShdw>
          </a:effectLst>
        </p:spPr>
      </p:sp>
      <p:sp>
        <p:nvSpPr>
          <p:cNvPr id="6" name="Shape 4"/>
          <p:cNvSpPr/>
          <p:nvPr/>
        </p:nvSpPr>
        <p:spPr>
          <a:xfrm>
            <a:off x="274320" y="987552"/>
            <a:ext cx="2816352" cy="54864"/>
          </a:xfrm>
          <a:prstGeom prst="rect">
            <a:avLst/>
          </a:prstGeom>
          <a:solidFill>
            <a:srgbClr val="22D3EE"/>
          </a:solidFill>
          <a:ln/>
        </p:spPr>
      </p:sp>
      <p:sp>
        <p:nvSpPr>
          <p:cNvPr id="7" name="Text 5"/>
          <p:cNvSpPr/>
          <p:nvPr/>
        </p:nvSpPr>
        <p:spPr>
          <a:xfrm>
            <a:off x="411480" y="1060704"/>
            <a:ext cx="2606040" cy="347472"/>
          </a:xfrm>
          <a:prstGeom prst="rect">
            <a:avLst/>
          </a:prstGeom>
          <a:noFill/>
          <a:ln/>
        </p:spPr>
        <p:txBody>
          <a:bodyPr wrap="square" rtlCol="0" anchor="ctr"/>
          <a:lstStyle/>
          <a:p>
            <a:pPr indent="0" marL="0">
              <a:buNone/>
            </a:pPr>
            <a:r>
              <a:rPr lang="en-US" sz="1500" b="1" dirty="0">
                <a:solidFill>
                  <a:srgbClr val="22D3EE"/>
                </a:solidFill>
                <a:latin typeface="Calibri" pitchFamily="34" charset="0"/>
                <a:ea typeface="Calibri" pitchFamily="34" charset="-122"/>
                <a:cs typeface="Calibri" pitchFamily="34" charset="-120"/>
              </a:rPr>
              <a:t>Frontend</a:t>
            </a:r>
            <a:endParaRPr lang="en-US" sz="1500" dirty="0"/>
          </a:p>
        </p:txBody>
      </p:sp>
      <p:sp>
        <p:nvSpPr>
          <p:cNvPr id="8" name="Text 6"/>
          <p:cNvSpPr/>
          <p:nvPr/>
        </p:nvSpPr>
        <p:spPr>
          <a:xfrm>
            <a:off x="411480" y="1499616"/>
            <a:ext cx="2606040" cy="3337560"/>
          </a:xfrm>
          <a:prstGeom prst="rect">
            <a:avLst/>
          </a:prstGeom>
          <a:noFill/>
          <a:ln/>
        </p:spPr>
        <p:txBody>
          <a:bodyPr wrap="square" rtlCol="0" anchor="ctr"/>
          <a:lstStyle/>
          <a:p>
            <a:pPr marL="342900" indent="-342900">
              <a:spcAft>
                <a:spcPts val="400"/>
              </a:spcAft>
              <a:buSzPct val="100000"/>
              <a:buChar char="•"/>
            </a:pPr>
            <a:r>
              <a:rPr lang="en-US" sz="1100" dirty="0">
                <a:solidFill>
                  <a:srgbClr val="F1F5F9"/>
                </a:solidFill>
                <a:latin typeface="Calibri" pitchFamily="34" charset="0"/>
                <a:ea typeface="Calibri" pitchFamily="34" charset="-122"/>
                <a:cs typeface="Calibri" pitchFamily="34" charset="-120"/>
              </a:rPr>
              <a:t>React.js application</a:t>
            </a:r>
            <a:endParaRPr lang="en-US" sz="1100" dirty="0"/>
          </a:p>
          <a:p>
            <a:pPr marL="342900" indent="-342900">
              <a:spcAft>
                <a:spcPts val="400"/>
              </a:spcAft>
              <a:buSzPct val="100000"/>
              <a:buChar char="•"/>
            </a:pPr>
            <a:r>
              <a:rPr lang="en-US" sz="1100" dirty="0">
                <a:solidFill>
                  <a:srgbClr val="F1F5F9"/>
                </a:solidFill>
                <a:latin typeface="Calibri" pitchFamily="34" charset="0"/>
                <a:ea typeface="Calibri" pitchFamily="34" charset="-122"/>
                <a:cs typeface="Calibri" pitchFamily="34" charset="-120"/>
              </a:rPr>
              <a:t>Socket.IO client</a:t>
            </a:r>
            <a:endParaRPr lang="en-US" sz="1100" dirty="0"/>
          </a:p>
          <a:p>
            <a:pPr marL="342900" indent="-342900">
              <a:spcAft>
                <a:spcPts val="400"/>
              </a:spcAft>
              <a:buSzPct val="100000"/>
              <a:buChar char="•"/>
            </a:pPr>
            <a:r>
              <a:rPr lang="en-US" sz="1100" dirty="0">
                <a:solidFill>
                  <a:srgbClr val="F1F5F9"/>
                </a:solidFill>
                <a:latin typeface="Calibri" pitchFamily="34" charset="0"/>
                <a:ea typeface="Calibri" pitchFamily="34" charset="-122"/>
                <a:cs typeface="Calibri" pitchFamily="34" charset="-120"/>
              </a:rPr>
              <a:t>JWT Auth context</a:t>
            </a:r>
            <a:endParaRPr lang="en-US" sz="1100" dirty="0"/>
          </a:p>
          <a:p>
            <a:pPr marL="342900" indent="-342900">
              <a:spcAft>
                <a:spcPts val="400"/>
              </a:spcAft>
              <a:buSzPct val="100000"/>
              <a:buChar char="•"/>
            </a:pPr>
            <a:r>
              <a:rPr lang="en-US" sz="1100" dirty="0">
                <a:solidFill>
                  <a:srgbClr val="F1F5F9"/>
                </a:solidFill>
                <a:latin typeface="Calibri" pitchFamily="34" charset="0"/>
                <a:ea typeface="Calibri" pitchFamily="34" charset="-122"/>
                <a:cs typeface="Calibri" pitchFamily="34" charset="-120"/>
              </a:rPr>
              <a:t>Public matchmaking page</a:t>
            </a:r>
            <a:endParaRPr lang="en-US" sz="1100" dirty="0"/>
          </a:p>
          <a:p>
            <a:pPr marL="342900" indent="-342900">
              <a:spcAft>
                <a:spcPts val="400"/>
              </a:spcAft>
              <a:buSzPct val="100000"/>
              <a:buChar char="•"/>
            </a:pPr>
            <a:r>
              <a:rPr lang="en-US" sz="1100" dirty="0">
                <a:solidFill>
                  <a:srgbClr val="94A3B8"/>
                </a:solidFill>
                <a:latin typeface="Calibri" pitchFamily="34" charset="0"/>
                <a:ea typeface="Calibri" pitchFamily="34" charset="-122"/>
                <a:cs typeface="Calibri" pitchFamily="34" charset="-120"/>
              </a:rPr>
              <a:t>Private room flow</a:t>
            </a:r>
            <a:endParaRPr lang="en-US" sz="1100" dirty="0"/>
          </a:p>
          <a:p>
            <a:pPr marL="342900" indent="-342900">
              <a:spcAft>
                <a:spcPts val="400"/>
              </a:spcAft>
              <a:buSzPct val="100000"/>
              <a:buChar char="•"/>
            </a:pPr>
            <a:r>
              <a:rPr lang="en-US" sz="1100" dirty="0">
                <a:solidFill>
                  <a:srgbClr val="94A3B8"/>
                </a:solidFill>
                <a:latin typeface="Calibri" pitchFamily="34" charset="0"/>
                <a:ea typeface="Calibri" pitchFamily="34" charset="-122"/>
                <a:cs typeface="Calibri" pitchFamily="34" charset="-120"/>
              </a:rPr>
              <a:t>Leaderboard UI</a:t>
            </a:r>
            <a:endParaRPr lang="en-US" sz="1100" dirty="0"/>
          </a:p>
          <a:p>
            <a:pPr marL="342900" indent="-342900">
              <a:spcAft>
                <a:spcPts val="400"/>
              </a:spcAft>
              <a:buSzPct val="100000"/>
              <a:buChar char="•"/>
            </a:pPr>
            <a:r>
              <a:rPr lang="en-US" sz="1100" dirty="0">
                <a:solidFill>
                  <a:srgbClr val="94A3B8"/>
                </a:solidFill>
                <a:latin typeface="Calibri" pitchFamily="34" charset="0"/>
                <a:ea typeface="Calibri" pitchFamily="34" charset="-122"/>
                <a:cs typeface="Calibri" pitchFamily="34" charset="-120"/>
              </a:rPr>
              <a:t>Single-player mode</a:t>
            </a:r>
            <a:endParaRPr lang="en-US" sz="1100" dirty="0"/>
          </a:p>
        </p:txBody>
      </p:sp>
      <p:sp>
        <p:nvSpPr>
          <p:cNvPr id="9" name="Shape 7"/>
          <p:cNvSpPr/>
          <p:nvPr/>
        </p:nvSpPr>
        <p:spPr>
          <a:xfrm>
            <a:off x="3200400" y="987552"/>
            <a:ext cx="2816352" cy="3977640"/>
          </a:xfrm>
          <a:prstGeom prst="rect">
            <a:avLst/>
          </a:prstGeom>
          <a:solidFill>
            <a:srgbClr val="1E293B"/>
          </a:solidFill>
          <a:ln w="9525">
            <a:solidFill>
              <a:srgbClr val="6366F1"/>
            </a:solidFill>
            <a:prstDash val="solid"/>
          </a:ln>
          <a:effectLst>
            <a:outerShdw sx="100000" sy="100000" kx="0" ky="0" algn="bl" rotWithShape="0" blurRad="76200" dist="25400" dir="8100000">
              <a:srgbClr val="000000">
                <a:alpha val="22000"/>
              </a:srgbClr>
            </a:outerShdw>
          </a:effectLst>
        </p:spPr>
      </p:sp>
      <p:sp>
        <p:nvSpPr>
          <p:cNvPr id="10" name="Shape 8"/>
          <p:cNvSpPr/>
          <p:nvPr/>
        </p:nvSpPr>
        <p:spPr>
          <a:xfrm>
            <a:off x="3200400" y="987552"/>
            <a:ext cx="2816352" cy="54864"/>
          </a:xfrm>
          <a:prstGeom prst="rect">
            <a:avLst/>
          </a:prstGeom>
          <a:solidFill>
            <a:srgbClr val="6366F1"/>
          </a:solidFill>
          <a:ln/>
        </p:spPr>
      </p:sp>
      <p:sp>
        <p:nvSpPr>
          <p:cNvPr id="11" name="Text 9"/>
          <p:cNvSpPr/>
          <p:nvPr/>
        </p:nvSpPr>
        <p:spPr>
          <a:xfrm>
            <a:off x="3337560" y="1060704"/>
            <a:ext cx="2606040" cy="347472"/>
          </a:xfrm>
          <a:prstGeom prst="rect">
            <a:avLst/>
          </a:prstGeom>
          <a:noFill/>
          <a:ln/>
        </p:spPr>
        <p:txBody>
          <a:bodyPr wrap="square" rtlCol="0" anchor="ctr"/>
          <a:lstStyle/>
          <a:p>
            <a:pPr indent="0" marL="0">
              <a:buNone/>
            </a:pPr>
            <a:r>
              <a:rPr lang="en-US" sz="1500" b="1" dirty="0">
                <a:solidFill>
                  <a:srgbClr val="6366F1"/>
                </a:solidFill>
                <a:latin typeface="Calibri" pitchFamily="34" charset="0"/>
                <a:ea typeface="Calibri" pitchFamily="34" charset="-122"/>
                <a:cs typeface="Calibri" pitchFamily="34" charset="-120"/>
              </a:rPr>
              <a:t>Backend</a:t>
            </a:r>
            <a:endParaRPr lang="en-US" sz="1500" dirty="0"/>
          </a:p>
        </p:txBody>
      </p:sp>
      <p:sp>
        <p:nvSpPr>
          <p:cNvPr id="12" name="Text 10"/>
          <p:cNvSpPr/>
          <p:nvPr/>
        </p:nvSpPr>
        <p:spPr>
          <a:xfrm>
            <a:off x="3337560" y="1499616"/>
            <a:ext cx="2606040" cy="3337560"/>
          </a:xfrm>
          <a:prstGeom prst="rect">
            <a:avLst/>
          </a:prstGeom>
          <a:noFill/>
          <a:ln/>
        </p:spPr>
        <p:txBody>
          <a:bodyPr wrap="square" rtlCol="0" anchor="ctr"/>
          <a:lstStyle/>
          <a:p>
            <a:pPr marL="342900" indent="-342900">
              <a:spcAft>
                <a:spcPts val="400"/>
              </a:spcAft>
              <a:buSzPct val="100000"/>
              <a:buChar char="•"/>
            </a:pPr>
            <a:r>
              <a:rPr lang="en-US" sz="1100" dirty="0">
                <a:solidFill>
                  <a:srgbClr val="F1F5F9"/>
                </a:solidFill>
                <a:latin typeface="Calibri" pitchFamily="34" charset="0"/>
                <a:ea typeface="Calibri" pitchFamily="34" charset="-122"/>
                <a:cs typeface="Calibri" pitchFamily="34" charset="-120"/>
              </a:rPr>
              <a:t>Node.js + Express</a:t>
            </a:r>
            <a:endParaRPr lang="en-US" sz="1100" dirty="0"/>
          </a:p>
          <a:p>
            <a:pPr marL="342900" indent="-342900">
              <a:spcAft>
                <a:spcPts val="400"/>
              </a:spcAft>
              <a:buSzPct val="100000"/>
              <a:buChar char="•"/>
            </a:pPr>
            <a:r>
              <a:rPr lang="en-US" sz="1100" dirty="0">
                <a:solidFill>
                  <a:srgbClr val="F1F5F9"/>
                </a:solidFill>
                <a:latin typeface="Calibri" pitchFamily="34" charset="0"/>
                <a:ea typeface="Calibri" pitchFamily="34" charset="-122"/>
                <a:cs typeface="Calibri" pitchFamily="34" charset="-120"/>
              </a:rPr>
              <a:t>Socket.IO server</a:t>
            </a:r>
            <a:endParaRPr lang="en-US" sz="1100" dirty="0"/>
          </a:p>
          <a:p>
            <a:pPr marL="342900" indent="-342900">
              <a:spcAft>
                <a:spcPts val="400"/>
              </a:spcAft>
              <a:buSzPct val="100000"/>
              <a:buChar char="•"/>
            </a:pPr>
            <a:r>
              <a:rPr lang="en-US" sz="1100" dirty="0">
                <a:solidFill>
                  <a:srgbClr val="F1F5F9"/>
                </a:solidFill>
                <a:latin typeface="Calibri" pitchFamily="34" charset="0"/>
                <a:ea typeface="Calibri" pitchFamily="34" charset="-122"/>
                <a:cs typeface="Calibri" pitchFamily="34" charset="-120"/>
              </a:rPr>
              <a:t>bcrypt password hashing</a:t>
            </a:r>
            <a:endParaRPr lang="en-US" sz="1100" dirty="0"/>
          </a:p>
          <a:p>
            <a:pPr marL="342900" indent="-342900">
              <a:spcAft>
                <a:spcPts val="400"/>
              </a:spcAft>
              <a:buSzPct val="100000"/>
              <a:buChar char="•"/>
            </a:pPr>
            <a:r>
              <a:rPr lang="en-US" sz="1100" dirty="0">
                <a:solidFill>
                  <a:srgbClr val="F1F5F9"/>
                </a:solidFill>
                <a:latin typeface="Calibri" pitchFamily="34" charset="0"/>
                <a:ea typeface="Calibri" pitchFamily="34" charset="-122"/>
                <a:cs typeface="Calibri" pitchFamily="34" charset="-120"/>
              </a:rPr>
              <a:t>JWT login / register</a:t>
            </a:r>
            <a:endParaRPr lang="en-US" sz="1100" dirty="0"/>
          </a:p>
          <a:p>
            <a:pPr marL="342900" indent="-342900">
              <a:spcAft>
                <a:spcPts val="400"/>
              </a:spcAft>
              <a:buSzPct val="100000"/>
              <a:buChar char="•"/>
            </a:pPr>
            <a:r>
              <a:rPr lang="en-US" sz="1100" dirty="0">
                <a:solidFill>
                  <a:srgbClr val="94A3B8"/>
                </a:solidFill>
                <a:latin typeface="Calibri" pitchFamily="34" charset="0"/>
                <a:ea typeface="Calibri" pitchFamily="34" charset="-122"/>
                <a:cs typeface="Calibri" pitchFamily="34" charset="-120"/>
              </a:rPr>
              <a:t>Sudoku generator API</a:t>
            </a:r>
            <a:endParaRPr lang="en-US" sz="1100" dirty="0"/>
          </a:p>
          <a:p>
            <a:pPr marL="342900" indent="-342900">
              <a:spcAft>
                <a:spcPts val="400"/>
              </a:spcAft>
              <a:buSzPct val="100000"/>
              <a:buChar char="•"/>
            </a:pPr>
            <a:r>
              <a:rPr lang="en-US" sz="1100" dirty="0">
                <a:solidFill>
                  <a:srgbClr val="94A3B8"/>
                </a:solidFill>
                <a:latin typeface="Calibri" pitchFamily="34" charset="0"/>
                <a:ea typeface="Calibri" pitchFamily="34" charset="-122"/>
                <a:cs typeface="Calibri" pitchFamily="34" charset="-120"/>
              </a:rPr>
              <a:t>Leaderboard controller</a:t>
            </a:r>
            <a:endParaRPr lang="en-US" sz="1100" dirty="0"/>
          </a:p>
          <a:p>
            <a:pPr marL="342900" indent="-342900">
              <a:spcAft>
                <a:spcPts val="400"/>
              </a:spcAft>
              <a:buSzPct val="100000"/>
              <a:buChar char="•"/>
            </a:pPr>
            <a:r>
              <a:rPr lang="en-US" sz="1100" dirty="0">
                <a:solidFill>
                  <a:srgbClr val="94A3B8"/>
                </a:solidFill>
                <a:latin typeface="Calibri" pitchFamily="34" charset="0"/>
                <a:ea typeface="Calibri" pitchFamily="34" charset="-122"/>
                <a:cs typeface="Calibri" pitchFamily="34" charset="-120"/>
              </a:rPr>
              <a:t>Room controller</a:t>
            </a:r>
            <a:endParaRPr lang="en-US" sz="1100" dirty="0"/>
          </a:p>
        </p:txBody>
      </p:sp>
      <p:sp>
        <p:nvSpPr>
          <p:cNvPr id="13" name="Shape 11"/>
          <p:cNvSpPr/>
          <p:nvPr/>
        </p:nvSpPr>
        <p:spPr>
          <a:xfrm>
            <a:off x="6126480" y="987552"/>
            <a:ext cx="2816352" cy="3977640"/>
          </a:xfrm>
          <a:prstGeom prst="rect">
            <a:avLst/>
          </a:prstGeom>
          <a:solidFill>
            <a:srgbClr val="1E293B"/>
          </a:solidFill>
          <a:ln w="9525">
            <a:solidFill>
              <a:srgbClr val="FB923C"/>
            </a:solidFill>
            <a:prstDash val="solid"/>
          </a:ln>
          <a:effectLst>
            <a:outerShdw sx="100000" sy="100000" kx="0" ky="0" algn="bl" rotWithShape="0" blurRad="76200" dist="25400" dir="8100000">
              <a:srgbClr val="000000">
                <a:alpha val="22000"/>
              </a:srgbClr>
            </a:outerShdw>
          </a:effectLst>
        </p:spPr>
      </p:sp>
      <p:sp>
        <p:nvSpPr>
          <p:cNvPr id="14" name="Shape 12"/>
          <p:cNvSpPr/>
          <p:nvPr/>
        </p:nvSpPr>
        <p:spPr>
          <a:xfrm>
            <a:off x="6126480" y="987552"/>
            <a:ext cx="2816352" cy="54864"/>
          </a:xfrm>
          <a:prstGeom prst="rect">
            <a:avLst/>
          </a:prstGeom>
          <a:solidFill>
            <a:srgbClr val="FB923C"/>
          </a:solidFill>
          <a:ln/>
        </p:spPr>
      </p:sp>
      <p:sp>
        <p:nvSpPr>
          <p:cNvPr id="15" name="Text 13"/>
          <p:cNvSpPr/>
          <p:nvPr/>
        </p:nvSpPr>
        <p:spPr>
          <a:xfrm>
            <a:off x="6263640" y="1060704"/>
            <a:ext cx="2606040" cy="347472"/>
          </a:xfrm>
          <a:prstGeom prst="rect">
            <a:avLst/>
          </a:prstGeom>
          <a:noFill/>
          <a:ln/>
        </p:spPr>
        <p:txBody>
          <a:bodyPr wrap="square" rtlCol="0" anchor="ctr"/>
          <a:lstStyle/>
          <a:p>
            <a:pPr indent="0" marL="0">
              <a:buNone/>
            </a:pPr>
            <a:r>
              <a:rPr lang="en-US" sz="1500" b="1" dirty="0">
                <a:solidFill>
                  <a:srgbClr val="FB923C"/>
                </a:solidFill>
                <a:latin typeface="Calibri" pitchFamily="34" charset="0"/>
                <a:ea typeface="Calibri" pitchFamily="34" charset="-122"/>
                <a:cs typeface="Calibri" pitchFamily="34" charset="-120"/>
              </a:rPr>
              <a:t>Database</a:t>
            </a:r>
            <a:endParaRPr lang="en-US" sz="1500" dirty="0"/>
          </a:p>
        </p:txBody>
      </p:sp>
      <p:sp>
        <p:nvSpPr>
          <p:cNvPr id="16" name="Text 14"/>
          <p:cNvSpPr/>
          <p:nvPr/>
        </p:nvSpPr>
        <p:spPr>
          <a:xfrm>
            <a:off x="6263640" y="1499616"/>
            <a:ext cx="2606040" cy="3337560"/>
          </a:xfrm>
          <a:prstGeom prst="rect">
            <a:avLst/>
          </a:prstGeom>
          <a:noFill/>
          <a:ln/>
        </p:spPr>
        <p:txBody>
          <a:bodyPr wrap="square" rtlCol="0" anchor="ctr"/>
          <a:lstStyle/>
          <a:p>
            <a:pPr marL="342900" indent="-342900">
              <a:spcAft>
                <a:spcPts val="400"/>
              </a:spcAft>
              <a:buSzPct val="100000"/>
              <a:buChar char="•"/>
            </a:pPr>
            <a:r>
              <a:rPr lang="en-US" sz="1100" dirty="0">
                <a:solidFill>
                  <a:srgbClr val="F1F5F9"/>
                </a:solidFill>
                <a:latin typeface="Calibri" pitchFamily="34" charset="0"/>
                <a:ea typeface="Calibri" pitchFamily="34" charset="-122"/>
                <a:cs typeface="Calibri" pitchFamily="34" charset="-120"/>
              </a:rPr>
              <a:t>MongoDB + Mongoose</a:t>
            </a:r>
            <a:endParaRPr lang="en-US" sz="1100" dirty="0"/>
          </a:p>
          <a:p>
            <a:pPr marL="342900" indent="-342900">
              <a:spcAft>
                <a:spcPts val="400"/>
              </a:spcAft>
              <a:buSzPct val="100000"/>
              <a:buChar char="•"/>
            </a:pPr>
            <a:r>
              <a:rPr lang="en-US" sz="1100" dirty="0">
                <a:solidFill>
                  <a:srgbClr val="F1F5F9"/>
                </a:solidFill>
                <a:latin typeface="Calibri" pitchFamily="34" charset="0"/>
                <a:ea typeface="Calibri" pitchFamily="34" charset="-122"/>
                <a:cs typeface="Calibri" pitchFamily="34" charset="-120"/>
              </a:rPr>
              <a:t>User model</a:t>
            </a:r>
            <a:endParaRPr lang="en-US" sz="1100" dirty="0"/>
          </a:p>
          <a:p>
            <a:pPr marL="342900" indent="-342900">
              <a:spcAft>
                <a:spcPts val="400"/>
              </a:spcAft>
              <a:buSzPct val="100000"/>
              <a:buChar char="•"/>
            </a:pPr>
            <a:r>
              <a:rPr lang="en-US" sz="1100" dirty="0">
                <a:solidFill>
                  <a:srgbClr val="F1F5F9"/>
                </a:solidFill>
                <a:latin typeface="Calibri" pitchFamily="34" charset="0"/>
                <a:ea typeface="Calibri" pitchFamily="34" charset="-122"/>
                <a:cs typeface="Calibri" pitchFamily="34" charset="-120"/>
              </a:rPr>
              <a:t>Room model (TTL)</a:t>
            </a:r>
            <a:endParaRPr lang="en-US" sz="1100" dirty="0"/>
          </a:p>
          <a:p>
            <a:pPr marL="342900" indent="-342900">
              <a:spcAft>
                <a:spcPts val="400"/>
              </a:spcAft>
              <a:buSzPct val="100000"/>
              <a:buChar char="•"/>
            </a:pPr>
            <a:r>
              <a:rPr lang="en-US" sz="1100" dirty="0">
                <a:solidFill>
                  <a:srgbClr val="F1F5F9"/>
                </a:solidFill>
                <a:latin typeface="Calibri" pitchFamily="34" charset="0"/>
                <a:ea typeface="Calibri" pitchFamily="34" charset="-122"/>
                <a:cs typeface="Calibri" pitchFamily="34" charset="-120"/>
              </a:rPr>
              <a:t>Leaderboard collection</a:t>
            </a:r>
            <a:endParaRPr lang="en-US" sz="1100" dirty="0"/>
          </a:p>
          <a:p>
            <a:pPr marL="342900" indent="-342900">
              <a:spcAft>
                <a:spcPts val="400"/>
              </a:spcAft>
              <a:buSzPct val="100000"/>
              <a:buChar char="•"/>
            </a:pPr>
            <a:r>
              <a:rPr lang="en-US" sz="1100" dirty="0">
                <a:solidFill>
                  <a:srgbClr val="94A3B8"/>
                </a:solidFill>
                <a:latin typeface="Calibri" pitchFamily="34" charset="0"/>
                <a:ea typeface="Calibri" pitchFamily="34" charset="-122"/>
                <a:cs typeface="Calibri" pitchFamily="34" charset="-120"/>
              </a:rPr>
              <a:t>Match history</a:t>
            </a:r>
            <a:endParaRPr lang="en-US" sz="1100" dirty="0"/>
          </a:p>
          <a:p>
            <a:pPr marL="342900" indent="-342900">
              <a:spcAft>
                <a:spcPts val="400"/>
              </a:spcAft>
              <a:buSzPct val="100000"/>
              <a:buChar char="•"/>
            </a:pPr>
            <a:r>
              <a:rPr lang="en-US" sz="1100" dirty="0">
                <a:solidFill>
                  <a:srgbClr val="94A3B8"/>
                </a:solidFill>
                <a:latin typeface="Calibri" pitchFamily="34" charset="0"/>
                <a:ea typeface="Calibri" pitchFamily="34" charset="-122"/>
                <a:cs typeface="Calibri" pitchFamily="34" charset="-120"/>
              </a:rPr>
              <a:t>Player stats</a:t>
            </a:r>
            <a:endParaRPr lang="en-US" sz="1100" dirty="0"/>
          </a:p>
          <a:p>
            <a:pPr marL="342900" indent="-342900">
              <a:spcAft>
                <a:spcPts val="400"/>
              </a:spcAft>
              <a:buSzPct val="100000"/>
              <a:buChar char="•"/>
            </a:pPr>
            <a:r>
              <a:rPr lang="en-US" sz="1100" dirty="0">
                <a:solidFill>
                  <a:srgbClr val="94A3B8"/>
                </a:solidFill>
                <a:latin typeface="Calibri" pitchFamily="34" charset="0"/>
                <a:ea typeface="Calibri" pitchFamily="34" charset="-122"/>
                <a:cs typeface="Calibri" pitchFamily="34" charset="-120"/>
              </a:rPr>
              <a:t>Room persistence</a:t>
            </a:r>
            <a:endParaRPr lang="en-US" sz="1100" dirty="0"/>
          </a:p>
        </p:txBody>
      </p:sp>
      <p:sp>
        <p:nvSpPr>
          <p:cNvPr id="17" name="Shape 15"/>
          <p:cNvSpPr/>
          <p:nvPr/>
        </p:nvSpPr>
        <p:spPr>
          <a:xfrm>
            <a:off x="274320" y="4754880"/>
            <a:ext cx="8595360" cy="292608"/>
          </a:xfrm>
          <a:prstGeom prst="rect">
            <a:avLst/>
          </a:prstGeom>
          <a:solidFill>
            <a:srgbClr val="0A2A0A"/>
          </a:solidFill>
          <a:ln w="6350">
            <a:solidFill>
              <a:srgbClr val="4ADE80"/>
            </a:solidFill>
            <a:prstDash val="solid"/>
          </a:ln>
        </p:spPr>
      </p:sp>
      <p:sp>
        <p:nvSpPr>
          <p:cNvPr id="18" name="Text 16"/>
          <p:cNvSpPr/>
          <p:nvPr/>
        </p:nvSpPr>
        <p:spPr>
          <a:xfrm>
            <a:off x="274320" y="4754880"/>
            <a:ext cx="8595360" cy="292608"/>
          </a:xfrm>
          <a:prstGeom prst="rect">
            <a:avLst/>
          </a:prstGeom>
          <a:noFill/>
          <a:ln/>
        </p:spPr>
        <p:txBody>
          <a:bodyPr wrap="square" rtlCol="0" anchor="ctr"/>
          <a:lstStyle/>
          <a:p>
            <a:pPr algn="ctr" indent="0" marL="0">
              <a:buNone/>
            </a:pPr>
            <a:r>
              <a:rPr lang="en-US" sz="1100" dirty="0">
                <a:solidFill>
                  <a:srgbClr val="4ADE80"/>
                </a:solidFill>
                <a:latin typeface="Calibri" pitchFamily="34" charset="0"/>
                <a:ea typeface="Calibri" pitchFamily="34" charset="-122"/>
                <a:cs typeface="Calibri" pitchFamily="34" charset="-120"/>
              </a:rPr>
              <a:t>✓  Already stronger than a standard CRUD project — real auth, realtime multiplayer, leaderboard, persistent rooms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F87171"/>
          </a:solidFill>
          <a:ln/>
        </p:spPr>
      </p:sp>
      <p:sp>
        <p:nvSpPr>
          <p:cNvPr id="3" name="Text 1"/>
          <p:cNvSpPr/>
          <p:nvPr/>
        </p:nvSpPr>
        <p:spPr>
          <a:xfrm>
            <a:off x="274320" y="164592"/>
            <a:ext cx="8595360" cy="475488"/>
          </a:xfrm>
          <a:prstGeom prst="rect">
            <a:avLst/>
          </a:prstGeom>
          <a:noFill/>
          <a:ln/>
        </p:spPr>
        <p:txBody>
          <a:bodyPr wrap="square" rtlCol="0" anchor="ctr"/>
          <a:lstStyle/>
          <a:p>
            <a:pPr indent="0" marL="0">
              <a:buNone/>
            </a:pPr>
            <a:r>
              <a:rPr lang="en-US" sz="2500" b="1" dirty="0">
                <a:solidFill>
                  <a:srgbClr val="F1F5F9"/>
                </a:solidFill>
                <a:latin typeface="Calibri" pitchFamily="34" charset="0"/>
                <a:ea typeface="Calibri" pitchFamily="34" charset="-122"/>
                <a:cs typeface="Calibri" pitchFamily="34" charset="-120"/>
              </a:rPr>
              <a:t>The 6 Critical Flaws</a:t>
            </a:r>
            <a:endParaRPr lang="en-US" sz="2500" dirty="0"/>
          </a:p>
        </p:txBody>
      </p:sp>
      <p:sp>
        <p:nvSpPr>
          <p:cNvPr id="4" name="Text 2"/>
          <p:cNvSpPr/>
          <p:nvPr/>
        </p:nvSpPr>
        <p:spPr>
          <a:xfrm>
            <a:off x="274320" y="658368"/>
            <a:ext cx="8595360" cy="256032"/>
          </a:xfrm>
          <a:prstGeom prst="rect">
            <a:avLst/>
          </a:prstGeom>
          <a:noFill/>
          <a:ln/>
        </p:spPr>
        <p:txBody>
          <a:bodyPr wrap="square" rtlCol="0" anchor="ctr"/>
          <a:lstStyle/>
          <a:p>
            <a:pPr indent="0" marL="0">
              <a:buNone/>
            </a:pPr>
            <a:r>
              <a:rPr lang="en-US" sz="1150" i="1" dirty="0">
                <a:solidFill>
                  <a:srgbClr val="94A3B8"/>
                </a:solidFill>
                <a:latin typeface="Calibri" pitchFamily="34" charset="0"/>
                <a:ea typeface="Calibri" pitchFamily="34" charset="-122"/>
                <a:cs typeface="Calibri" pitchFamily="34" charset="-120"/>
              </a:rPr>
              <a:t>Why the current implementation cannot go to production as-is</a:t>
            </a:r>
            <a:endParaRPr lang="en-US" sz="1150" dirty="0"/>
          </a:p>
        </p:txBody>
      </p:sp>
      <p:sp>
        <p:nvSpPr>
          <p:cNvPr id="5" name="Shape 3"/>
          <p:cNvSpPr/>
          <p:nvPr/>
        </p:nvSpPr>
        <p:spPr>
          <a:xfrm>
            <a:off x="274320" y="1005840"/>
            <a:ext cx="2788920" cy="1892808"/>
          </a:xfrm>
          <a:prstGeom prst="rect">
            <a:avLst/>
          </a:prstGeom>
          <a:solidFill>
            <a:srgbClr val="1E293B"/>
          </a:solidFill>
          <a:ln w="12700">
            <a:solidFill>
              <a:srgbClr val="F87171"/>
            </a:solidFill>
            <a:prstDash val="solid"/>
          </a:ln>
          <a:effectLst>
            <a:outerShdw sx="100000" sy="100000" kx="0" ky="0" algn="bl" rotWithShape="0" blurRad="76200" dist="25400" dir="8100000">
              <a:srgbClr val="000000">
                <a:alpha val="22000"/>
              </a:srgbClr>
            </a:outerShdw>
          </a:effectLst>
        </p:spPr>
      </p:sp>
      <p:sp>
        <p:nvSpPr>
          <p:cNvPr id="6" name="Shape 4"/>
          <p:cNvSpPr/>
          <p:nvPr/>
        </p:nvSpPr>
        <p:spPr>
          <a:xfrm>
            <a:off x="274320" y="1005840"/>
            <a:ext cx="2788920" cy="54864"/>
          </a:xfrm>
          <a:prstGeom prst="rect">
            <a:avLst/>
          </a:prstGeom>
          <a:solidFill>
            <a:srgbClr val="F87171"/>
          </a:solidFill>
          <a:ln/>
        </p:spPr>
      </p:sp>
      <p:sp>
        <p:nvSpPr>
          <p:cNvPr id="7" name="Text 5"/>
          <p:cNvSpPr/>
          <p:nvPr/>
        </p:nvSpPr>
        <p:spPr>
          <a:xfrm>
            <a:off x="411480" y="1097280"/>
            <a:ext cx="548640" cy="475488"/>
          </a:xfrm>
          <a:prstGeom prst="rect">
            <a:avLst/>
          </a:prstGeom>
          <a:noFill/>
          <a:ln/>
        </p:spPr>
        <p:txBody>
          <a:bodyPr wrap="square" rtlCol="0" anchor="ctr"/>
          <a:lstStyle/>
          <a:p>
            <a:pPr indent="0" marL="0">
              <a:buNone/>
            </a:pPr>
            <a:r>
              <a:rPr lang="en-US" sz="2400" b="1" dirty="0">
                <a:solidFill>
                  <a:srgbClr val="F87171"/>
                </a:solidFill>
                <a:latin typeface="Calibri" pitchFamily="34" charset="0"/>
                <a:ea typeface="Calibri" pitchFamily="34" charset="-122"/>
                <a:cs typeface="Calibri" pitchFamily="34" charset="-120"/>
              </a:rPr>
              <a:t>01</a:t>
            </a:r>
            <a:endParaRPr lang="en-US" sz="2400" dirty="0"/>
          </a:p>
        </p:txBody>
      </p:sp>
      <p:sp>
        <p:nvSpPr>
          <p:cNvPr id="8" name="Text 6"/>
          <p:cNvSpPr/>
          <p:nvPr/>
        </p:nvSpPr>
        <p:spPr>
          <a:xfrm>
            <a:off x="411480" y="1618488"/>
            <a:ext cx="2578608" cy="347472"/>
          </a:xfrm>
          <a:prstGeom prst="rect">
            <a:avLst/>
          </a:prstGeom>
          <a:noFill/>
          <a:ln/>
        </p:spPr>
        <p:txBody>
          <a:bodyPr wrap="square" rtlCol="0" anchor="ctr"/>
          <a:lstStyle/>
          <a:p>
            <a:pPr indent="0" marL="0">
              <a:buNone/>
            </a:pPr>
            <a:r>
              <a:rPr lang="en-US" sz="1300" b="1" dirty="0">
                <a:solidFill>
                  <a:srgbClr val="F1F5F9"/>
                </a:solidFill>
                <a:latin typeface="Calibri" pitchFamily="34" charset="0"/>
                <a:ea typeface="Calibri" pitchFamily="34" charset="-122"/>
                <a:cs typeface="Calibri" pitchFamily="34" charset="-120"/>
              </a:rPr>
              <a:t>Client-Trusted Identity</a:t>
            </a:r>
            <a:endParaRPr lang="en-US" sz="1300" dirty="0"/>
          </a:p>
        </p:txBody>
      </p:sp>
      <p:sp>
        <p:nvSpPr>
          <p:cNvPr id="9" name="Text 7"/>
          <p:cNvSpPr/>
          <p:nvPr/>
        </p:nvSpPr>
        <p:spPr>
          <a:xfrm>
            <a:off x="411480" y="2011680"/>
            <a:ext cx="2578608" cy="777240"/>
          </a:xfrm>
          <a:prstGeom prst="rect">
            <a:avLst/>
          </a:prstGeom>
          <a:noFill/>
          <a:ln/>
        </p:spPr>
        <p:txBody>
          <a:bodyPr wrap="square" rtlCol="0" anchor="ctr"/>
          <a:lstStyle/>
          <a:p>
            <a:pPr indent="0" marL="0">
              <a:buNone/>
            </a:pPr>
            <a:r>
              <a:rPr lang="en-US" sz="1050" dirty="0">
                <a:solidFill>
                  <a:srgbClr val="94A3B8"/>
                </a:solidFill>
                <a:latin typeface="Calibri" pitchFamily="34" charset="0"/>
                <a:ea typeface="Calibri" pitchFamily="34" charset="-122"/>
                <a:cs typeface="Calibri" pitchFamily="34" charset="-120"/>
              </a:rPr>
              <a:t>Server accepts userId from socket payload — easily spoofed by any user</a:t>
            </a:r>
            <a:endParaRPr lang="en-US" sz="1050" dirty="0"/>
          </a:p>
        </p:txBody>
      </p:sp>
      <p:sp>
        <p:nvSpPr>
          <p:cNvPr id="10" name="Shape 8"/>
          <p:cNvSpPr/>
          <p:nvPr/>
        </p:nvSpPr>
        <p:spPr>
          <a:xfrm>
            <a:off x="3200400" y="1005840"/>
            <a:ext cx="2788920" cy="1892808"/>
          </a:xfrm>
          <a:prstGeom prst="rect">
            <a:avLst/>
          </a:prstGeom>
          <a:solidFill>
            <a:srgbClr val="1E293B"/>
          </a:solidFill>
          <a:ln w="12700">
            <a:solidFill>
              <a:srgbClr val="FB923C"/>
            </a:solidFill>
            <a:prstDash val="solid"/>
          </a:ln>
          <a:effectLst>
            <a:outerShdw sx="100000" sy="100000" kx="0" ky="0" algn="bl" rotWithShape="0" blurRad="76200" dist="25400" dir="8100000">
              <a:srgbClr val="000000">
                <a:alpha val="22000"/>
              </a:srgbClr>
            </a:outerShdw>
          </a:effectLst>
        </p:spPr>
      </p:sp>
      <p:sp>
        <p:nvSpPr>
          <p:cNvPr id="11" name="Shape 9"/>
          <p:cNvSpPr/>
          <p:nvPr/>
        </p:nvSpPr>
        <p:spPr>
          <a:xfrm>
            <a:off x="3200400" y="1005840"/>
            <a:ext cx="2788920" cy="54864"/>
          </a:xfrm>
          <a:prstGeom prst="rect">
            <a:avLst/>
          </a:prstGeom>
          <a:solidFill>
            <a:srgbClr val="FB923C"/>
          </a:solidFill>
          <a:ln/>
        </p:spPr>
      </p:sp>
      <p:sp>
        <p:nvSpPr>
          <p:cNvPr id="12" name="Text 10"/>
          <p:cNvSpPr/>
          <p:nvPr/>
        </p:nvSpPr>
        <p:spPr>
          <a:xfrm>
            <a:off x="3337560" y="1097280"/>
            <a:ext cx="548640" cy="475488"/>
          </a:xfrm>
          <a:prstGeom prst="rect">
            <a:avLst/>
          </a:prstGeom>
          <a:noFill/>
          <a:ln/>
        </p:spPr>
        <p:txBody>
          <a:bodyPr wrap="square" rtlCol="0" anchor="ctr"/>
          <a:lstStyle/>
          <a:p>
            <a:pPr indent="0" marL="0">
              <a:buNone/>
            </a:pPr>
            <a:r>
              <a:rPr lang="en-US" sz="2400" b="1" dirty="0">
                <a:solidFill>
                  <a:srgbClr val="FB923C"/>
                </a:solidFill>
                <a:latin typeface="Calibri" pitchFamily="34" charset="0"/>
                <a:ea typeface="Calibri" pitchFamily="34" charset="-122"/>
                <a:cs typeface="Calibri" pitchFamily="34" charset="-120"/>
              </a:rPr>
              <a:t>02</a:t>
            </a:r>
            <a:endParaRPr lang="en-US" sz="2400" dirty="0"/>
          </a:p>
        </p:txBody>
      </p:sp>
      <p:sp>
        <p:nvSpPr>
          <p:cNvPr id="13" name="Text 11"/>
          <p:cNvSpPr/>
          <p:nvPr/>
        </p:nvSpPr>
        <p:spPr>
          <a:xfrm>
            <a:off x="3337560" y="1618488"/>
            <a:ext cx="2578608" cy="347472"/>
          </a:xfrm>
          <a:prstGeom prst="rect">
            <a:avLst/>
          </a:prstGeom>
          <a:noFill/>
          <a:ln/>
        </p:spPr>
        <p:txBody>
          <a:bodyPr wrap="square" rtlCol="0" anchor="ctr"/>
          <a:lstStyle/>
          <a:p>
            <a:pPr indent="0" marL="0">
              <a:buNone/>
            </a:pPr>
            <a:r>
              <a:rPr lang="en-US" sz="1300" b="1" dirty="0">
                <a:solidFill>
                  <a:srgbClr val="F1F5F9"/>
                </a:solidFill>
                <a:latin typeface="Calibri" pitchFamily="34" charset="0"/>
                <a:ea typeface="Calibri" pitchFamily="34" charset="-122"/>
                <a:cs typeface="Calibri" pitchFamily="34" charset="-120"/>
              </a:rPr>
              <a:t>JWT in localStorage</a:t>
            </a:r>
            <a:endParaRPr lang="en-US" sz="1300" dirty="0"/>
          </a:p>
        </p:txBody>
      </p:sp>
      <p:sp>
        <p:nvSpPr>
          <p:cNvPr id="14" name="Text 12"/>
          <p:cNvSpPr/>
          <p:nvPr/>
        </p:nvSpPr>
        <p:spPr>
          <a:xfrm>
            <a:off x="3337560" y="2011680"/>
            <a:ext cx="2578608" cy="777240"/>
          </a:xfrm>
          <a:prstGeom prst="rect">
            <a:avLst/>
          </a:prstGeom>
          <a:noFill/>
          <a:ln/>
        </p:spPr>
        <p:txBody>
          <a:bodyPr wrap="square" rtlCol="0" anchor="ctr"/>
          <a:lstStyle/>
          <a:p>
            <a:pPr indent="0" marL="0">
              <a:buNone/>
            </a:pPr>
            <a:r>
              <a:rPr lang="en-US" sz="1050" dirty="0">
                <a:solidFill>
                  <a:srgbClr val="94A3B8"/>
                </a:solidFill>
                <a:latin typeface="Calibri" pitchFamily="34" charset="0"/>
                <a:ea typeface="Calibri" pitchFamily="34" charset="-122"/>
                <a:cs typeface="Calibri" pitchFamily="34" charset="-120"/>
              </a:rPr>
              <a:t>Tokens XSS-exposed in localStorage; client decodes its own auth state</a:t>
            </a:r>
            <a:endParaRPr lang="en-US" sz="1050" dirty="0"/>
          </a:p>
        </p:txBody>
      </p:sp>
      <p:sp>
        <p:nvSpPr>
          <p:cNvPr id="15" name="Shape 13"/>
          <p:cNvSpPr/>
          <p:nvPr/>
        </p:nvSpPr>
        <p:spPr>
          <a:xfrm>
            <a:off x="6126480" y="1005840"/>
            <a:ext cx="2788920" cy="1892808"/>
          </a:xfrm>
          <a:prstGeom prst="rect">
            <a:avLst/>
          </a:prstGeom>
          <a:solidFill>
            <a:srgbClr val="1E293B"/>
          </a:solidFill>
          <a:ln w="12700">
            <a:solidFill>
              <a:srgbClr val="FCD34D"/>
            </a:solidFill>
            <a:prstDash val="solid"/>
          </a:ln>
          <a:effectLst>
            <a:outerShdw sx="100000" sy="100000" kx="0" ky="0" algn="bl" rotWithShape="0" blurRad="76200" dist="25400" dir="8100000">
              <a:srgbClr val="000000">
                <a:alpha val="22000"/>
              </a:srgbClr>
            </a:outerShdw>
          </a:effectLst>
        </p:spPr>
      </p:sp>
      <p:sp>
        <p:nvSpPr>
          <p:cNvPr id="16" name="Shape 14"/>
          <p:cNvSpPr/>
          <p:nvPr/>
        </p:nvSpPr>
        <p:spPr>
          <a:xfrm>
            <a:off x="6126480" y="1005840"/>
            <a:ext cx="2788920" cy="54864"/>
          </a:xfrm>
          <a:prstGeom prst="rect">
            <a:avLst/>
          </a:prstGeom>
          <a:solidFill>
            <a:srgbClr val="FCD34D"/>
          </a:solidFill>
          <a:ln/>
        </p:spPr>
      </p:sp>
      <p:sp>
        <p:nvSpPr>
          <p:cNvPr id="17" name="Text 15"/>
          <p:cNvSpPr/>
          <p:nvPr/>
        </p:nvSpPr>
        <p:spPr>
          <a:xfrm>
            <a:off x="6263640" y="1097280"/>
            <a:ext cx="548640" cy="475488"/>
          </a:xfrm>
          <a:prstGeom prst="rect">
            <a:avLst/>
          </a:prstGeom>
          <a:noFill/>
          <a:ln/>
        </p:spPr>
        <p:txBody>
          <a:bodyPr wrap="square" rtlCol="0" anchor="ctr"/>
          <a:lstStyle/>
          <a:p>
            <a:pPr indent="0" marL="0">
              <a:buNone/>
            </a:pPr>
            <a:r>
              <a:rPr lang="en-US" sz="2400" b="1" dirty="0">
                <a:solidFill>
                  <a:srgbClr val="FCD34D"/>
                </a:solidFill>
                <a:latin typeface="Calibri" pitchFamily="34" charset="0"/>
                <a:ea typeface="Calibri" pitchFamily="34" charset="-122"/>
                <a:cs typeface="Calibri" pitchFamily="34" charset="-120"/>
              </a:rPr>
              <a:t>03</a:t>
            </a:r>
            <a:endParaRPr lang="en-US" sz="2400" dirty="0"/>
          </a:p>
        </p:txBody>
      </p:sp>
      <p:sp>
        <p:nvSpPr>
          <p:cNvPr id="18" name="Text 16"/>
          <p:cNvSpPr/>
          <p:nvPr/>
        </p:nvSpPr>
        <p:spPr>
          <a:xfrm>
            <a:off x="6263640" y="1618488"/>
            <a:ext cx="2578608" cy="347472"/>
          </a:xfrm>
          <a:prstGeom prst="rect">
            <a:avLst/>
          </a:prstGeom>
          <a:noFill/>
          <a:ln/>
        </p:spPr>
        <p:txBody>
          <a:bodyPr wrap="square" rtlCol="0" anchor="ctr"/>
          <a:lstStyle/>
          <a:p>
            <a:pPr indent="0" marL="0">
              <a:buNone/>
            </a:pPr>
            <a:r>
              <a:rPr lang="en-US" sz="1300" b="1" dirty="0">
                <a:solidFill>
                  <a:srgbClr val="F1F5F9"/>
                </a:solidFill>
                <a:latin typeface="Calibri" pitchFamily="34" charset="0"/>
                <a:ea typeface="Calibri" pitchFamily="34" charset="-122"/>
                <a:cs typeface="Calibri" pitchFamily="34" charset="-120"/>
              </a:rPr>
              <a:t>Tight Coupling</a:t>
            </a:r>
            <a:endParaRPr lang="en-US" sz="1300" dirty="0"/>
          </a:p>
        </p:txBody>
      </p:sp>
      <p:sp>
        <p:nvSpPr>
          <p:cNvPr id="19" name="Text 17"/>
          <p:cNvSpPr/>
          <p:nvPr/>
        </p:nvSpPr>
        <p:spPr>
          <a:xfrm>
            <a:off x="6263640" y="2011680"/>
            <a:ext cx="2578608" cy="777240"/>
          </a:xfrm>
          <a:prstGeom prst="rect">
            <a:avLst/>
          </a:prstGeom>
          <a:noFill/>
          <a:ln/>
        </p:spPr>
        <p:txBody>
          <a:bodyPr wrap="square" rtlCol="0" anchor="ctr"/>
          <a:lstStyle/>
          <a:p>
            <a:pPr indent="0" marL="0">
              <a:buNone/>
            </a:pPr>
            <a:r>
              <a:rPr lang="en-US" sz="1050" dirty="0">
                <a:solidFill>
                  <a:srgbClr val="94A3B8"/>
                </a:solidFill>
                <a:latin typeface="Calibri" pitchFamily="34" charset="0"/>
                <a:ea typeface="Calibri" pitchFamily="34" charset="-122"/>
                <a:cs typeface="Calibri" pitchFamily="34" charset="-120"/>
              </a:rPr>
              <a:t>gameSocket.js owns matchmaking + game + DB + leaderboard in one God Object</a:t>
            </a:r>
            <a:endParaRPr lang="en-US" sz="1050" dirty="0"/>
          </a:p>
        </p:txBody>
      </p:sp>
      <p:sp>
        <p:nvSpPr>
          <p:cNvPr id="20" name="Shape 18"/>
          <p:cNvSpPr/>
          <p:nvPr/>
        </p:nvSpPr>
        <p:spPr>
          <a:xfrm>
            <a:off x="274320" y="3035808"/>
            <a:ext cx="2788920" cy="1892808"/>
          </a:xfrm>
          <a:prstGeom prst="rect">
            <a:avLst/>
          </a:prstGeom>
          <a:solidFill>
            <a:srgbClr val="1E293B"/>
          </a:solidFill>
          <a:ln w="12700">
            <a:solidFill>
              <a:srgbClr val="F472B6"/>
            </a:solidFill>
            <a:prstDash val="solid"/>
          </a:ln>
          <a:effectLst>
            <a:outerShdw sx="100000" sy="100000" kx="0" ky="0" algn="bl" rotWithShape="0" blurRad="76200" dist="25400" dir="8100000">
              <a:srgbClr val="000000">
                <a:alpha val="22000"/>
              </a:srgbClr>
            </a:outerShdw>
          </a:effectLst>
        </p:spPr>
      </p:sp>
      <p:sp>
        <p:nvSpPr>
          <p:cNvPr id="21" name="Shape 19"/>
          <p:cNvSpPr/>
          <p:nvPr/>
        </p:nvSpPr>
        <p:spPr>
          <a:xfrm>
            <a:off x="274320" y="3035808"/>
            <a:ext cx="2788920" cy="54864"/>
          </a:xfrm>
          <a:prstGeom prst="rect">
            <a:avLst/>
          </a:prstGeom>
          <a:solidFill>
            <a:srgbClr val="F472B6"/>
          </a:solidFill>
          <a:ln/>
        </p:spPr>
      </p:sp>
      <p:sp>
        <p:nvSpPr>
          <p:cNvPr id="22" name="Text 20"/>
          <p:cNvSpPr/>
          <p:nvPr/>
        </p:nvSpPr>
        <p:spPr>
          <a:xfrm>
            <a:off x="411480" y="3127248"/>
            <a:ext cx="548640" cy="475488"/>
          </a:xfrm>
          <a:prstGeom prst="rect">
            <a:avLst/>
          </a:prstGeom>
          <a:noFill/>
          <a:ln/>
        </p:spPr>
        <p:txBody>
          <a:bodyPr wrap="square" rtlCol="0" anchor="ctr"/>
          <a:lstStyle/>
          <a:p>
            <a:pPr indent="0" marL="0">
              <a:buNone/>
            </a:pPr>
            <a:r>
              <a:rPr lang="en-US" sz="2400" b="1" dirty="0">
                <a:solidFill>
                  <a:srgbClr val="F472B6"/>
                </a:solidFill>
                <a:latin typeface="Calibri" pitchFamily="34" charset="0"/>
                <a:ea typeface="Calibri" pitchFamily="34" charset="-122"/>
                <a:cs typeface="Calibri" pitchFamily="34" charset="-120"/>
              </a:rPr>
              <a:t>04</a:t>
            </a:r>
            <a:endParaRPr lang="en-US" sz="2400" dirty="0"/>
          </a:p>
        </p:txBody>
      </p:sp>
      <p:sp>
        <p:nvSpPr>
          <p:cNvPr id="23" name="Text 21"/>
          <p:cNvSpPr/>
          <p:nvPr/>
        </p:nvSpPr>
        <p:spPr>
          <a:xfrm>
            <a:off x="411480" y="3648456"/>
            <a:ext cx="2578608" cy="347472"/>
          </a:xfrm>
          <a:prstGeom prst="rect">
            <a:avLst/>
          </a:prstGeom>
          <a:noFill/>
          <a:ln/>
        </p:spPr>
        <p:txBody>
          <a:bodyPr wrap="square" rtlCol="0" anchor="ctr"/>
          <a:lstStyle/>
          <a:p>
            <a:pPr indent="0" marL="0">
              <a:buNone/>
            </a:pPr>
            <a:r>
              <a:rPr lang="en-US" sz="1300" b="1" dirty="0">
                <a:solidFill>
                  <a:srgbClr val="F1F5F9"/>
                </a:solidFill>
                <a:latin typeface="Calibri" pitchFamily="34" charset="0"/>
                <a:ea typeface="Calibri" pitchFamily="34" charset="-122"/>
                <a:cs typeface="Calibri" pitchFamily="34" charset="-120"/>
              </a:rPr>
              <a:t>In-Memory State</a:t>
            </a:r>
            <a:endParaRPr lang="en-US" sz="1300" dirty="0"/>
          </a:p>
        </p:txBody>
      </p:sp>
      <p:sp>
        <p:nvSpPr>
          <p:cNvPr id="24" name="Text 22"/>
          <p:cNvSpPr/>
          <p:nvPr/>
        </p:nvSpPr>
        <p:spPr>
          <a:xfrm>
            <a:off x="411480" y="4041648"/>
            <a:ext cx="2578608" cy="777240"/>
          </a:xfrm>
          <a:prstGeom prst="rect">
            <a:avLst/>
          </a:prstGeom>
          <a:noFill/>
          <a:ln/>
        </p:spPr>
        <p:txBody>
          <a:bodyPr wrap="square" rtlCol="0" anchor="ctr"/>
          <a:lstStyle/>
          <a:p>
            <a:pPr indent="0" marL="0">
              <a:buNone/>
            </a:pPr>
            <a:r>
              <a:rPr lang="en-US" sz="1050" dirty="0">
                <a:solidFill>
                  <a:srgbClr val="94A3B8"/>
                </a:solidFill>
                <a:latin typeface="Calibri" pitchFamily="34" charset="0"/>
                <a:ea typeface="Calibri" pitchFamily="34" charset="-122"/>
                <a:cs typeface="Calibri" pitchFamily="34" charset="-120"/>
              </a:rPr>
              <a:t>waitingPlayer &amp; socketRoomMap are process-local — breaks the instant you scale</a:t>
            </a:r>
            <a:endParaRPr lang="en-US" sz="1050" dirty="0"/>
          </a:p>
        </p:txBody>
      </p:sp>
      <p:sp>
        <p:nvSpPr>
          <p:cNvPr id="25" name="Shape 23"/>
          <p:cNvSpPr/>
          <p:nvPr/>
        </p:nvSpPr>
        <p:spPr>
          <a:xfrm>
            <a:off x="3200400" y="3035808"/>
            <a:ext cx="2788920" cy="1892808"/>
          </a:xfrm>
          <a:prstGeom prst="rect">
            <a:avLst/>
          </a:prstGeom>
          <a:solidFill>
            <a:srgbClr val="1E293B"/>
          </a:solidFill>
          <a:ln w="12700">
            <a:solidFill>
              <a:srgbClr val="A78BFA"/>
            </a:solidFill>
            <a:prstDash val="solid"/>
          </a:ln>
          <a:effectLst>
            <a:outerShdw sx="100000" sy="100000" kx="0" ky="0" algn="bl" rotWithShape="0" blurRad="76200" dist="25400" dir="8100000">
              <a:srgbClr val="000000">
                <a:alpha val="22000"/>
              </a:srgbClr>
            </a:outerShdw>
          </a:effectLst>
        </p:spPr>
      </p:sp>
      <p:sp>
        <p:nvSpPr>
          <p:cNvPr id="26" name="Shape 24"/>
          <p:cNvSpPr/>
          <p:nvPr/>
        </p:nvSpPr>
        <p:spPr>
          <a:xfrm>
            <a:off x="3200400" y="3035808"/>
            <a:ext cx="2788920" cy="54864"/>
          </a:xfrm>
          <a:prstGeom prst="rect">
            <a:avLst/>
          </a:prstGeom>
          <a:solidFill>
            <a:srgbClr val="A78BFA"/>
          </a:solidFill>
          <a:ln/>
        </p:spPr>
      </p:sp>
      <p:sp>
        <p:nvSpPr>
          <p:cNvPr id="27" name="Text 25"/>
          <p:cNvSpPr/>
          <p:nvPr/>
        </p:nvSpPr>
        <p:spPr>
          <a:xfrm>
            <a:off x="3337560" y="3127248"/>
            <a:ext cx="548640" cy="475488"/>
          </a:xfrm>
          <a:prstGeom prst="rect">
            <a:avLst/>
          </a:prstGeom>
          <a:noFill/>
          <a:ln/>
        </p:spPr>
        <p:txBody>
          <a:bodyPr wrap="square" rtlCol="0" anchor="ctr"/>
          <a:lstStyle/>
          <a:p>
            <a:pPr indent="0" marL="0">
              <a:buNone/>
            </a:pPr>
            <a:r>
              <a:rPr lang="en-US" sz="2400" b="1" dirty="0">
                <a:solidFill>
                  <a:srgbClr val="A78BFA"/>
                </a:solidFill>
                <a:latin typeface="Calibri" pitchFamily="34" charset="0"/>
                <a:ea typeface="Calibri" pitchFamily="34" charset="-122"/>
                <a:cs typeface="Calibri" pitchFamily="34" charset="-120"/>
              </a:rPr>
              <a:t>05</a:t>
            </a:r>
            <a:endParaRPr lang="en-US" sz="2400" dirty="0"/>
          </a:p>
        </p:txBody>
      </p:sp>
      <p:sp>
        <p:nvSpPr>
          <p:cNvPr id="28" name="Text 26"/>
          <p:cNvSpPr/>
          <p:nvPr/>
        </p:nvSpPr>
        <p:spPr>
          <a:xfrm>
            <a:off x="3337560" y="3648456"/>
            <a:ext cx="2578608" cy="347472"/>
          </a:xfrm>
          <a:prstGeom prst="rect">
            <a:avLst/>
          </a:prstGeom>
          <a:noFill/>
          <a:ln/>
        </p:spPr>
        <p:txBody>
          <a:bodyPr wrap="square" rtlCol="0" anchor="ctr"/>
          <a:lstStyle/>
          <a:p>
            <a:pPr indent="0" marL="0">
              <a:buNone/>
            </a:pPr>
            <a:r>
              <a:rPr lang="en-US" sz="1300" b="1" dirty="0">
                <a:solidFill>
                  <a:srgbClr val="F1F5F9"/>
                </a:solidFill>
                <a:latin typeface="Calibri" pitchFamily="34" charset="0"/>
                <a:ea typeface="Calibri" pitchFamily="34" charset="-122"/>
                <a:cs typeface="Calibri" pitchFamily="34" charset="-120"/>
              </a:rPr>
              <a:t>5 Sources of Truth</a:t>
            </a:r>
            <a:endParaRPr lang="en-US" sz="1300" dirty="0"/>
          </a:p>
        </p:txBody>
      </p:sp>
      <p:sp>
        <p:nvSpPr>
          <p:cNvPr id="29" name="Text 27"/>
          <p:cNvSpPr/>
          <p:nvPr/>
        </p:nvSpPr>
        <p:spPr>
          <a:xfrm>
            <a:off x="3337560" y="4041648"/>
            <a:ext cx="2578608" cy="777240"/>
          </a:xfrm>
          <a:prstGeom prst="rect">
            <a:avLst/>
          </a:prstGeom>
          <a:noFill/>
          <a:ln/>
        </p:spPr>
        <p:txBody>
          <a:bodyPr wrap="square" rtlCol="0" anchor="ctr"/>
          <a:lstStyle/>
          <a:p>
            <a:pPr indent="0" marL="0">
              <a:buNone/>
            </a:pPr>
            <a:r>
              <a:rPr lang="en-US" sz="1050" dirty="0">
                <a:solidFill>
                  <a:srgbClr val="94A3B8"/>
                </a:solidFill>
                <a:latin typeface="Calibri" pitchFamily="34" charset="0"/>
                <a:ea typeface="Calibri" pitchFamily="34" charset="-122"/>
                <a:cs typeface="Calibri" pitchFamily="34" charset="-120"/>
              </a:rPr>
              <a:t>State split across socket memory, Mongo, frontend, localStorage, auth context</a:t>
            </a:r>
            <a:endParaRPr lang="en-US" sz="1050" dirty="0"/>
          </a:p>
        </p:txBody>
      </p:sp>
      <p:sp>
        <p:nvSpPr>
          <p:cNvPr id="30" name="Shape 28"/>
          <p:cNvSpPr/>
          <p:nvPr/>
        </p:nvSpPr>
        <p:spPr>
          <a:xfrm>
            <a:off x="6126480" y="3035808"/>
            <a:ext cx="2788920" cy="1892808"/>
          </a:xfrm>
          <a:prstGeom prst="rect">
            <a:avLst/>
          </a:prstGeom>
          <a:solidFill>
            <a:srgbClr val="1E293B"/>
          </a:solidFill>
          <a:ln w="12700">
            <a:solidFill>
              <a:srgbClr val="22D3EE"/>
            </a:solidFill>
            <a:prstDash val="solid"/>
          </a:ln>
          <a:effectLst>
            <a:outerShdw sx="100000" sy="100000" kx="0" ky="0" algn="bl" rotWithShape="0" blurRad="76200" dist="25400" dir="8100000">
              <a:srgbClr val="000000">
                <a:alpha val="22000"/>
              </a:srgbClr>
            </a:outerShdw>
          </a:effectLst>
        </p:spPr>
      </p:sp>
      <p:sp>
        <p:nvSpPr>
          <p:cNvPr id="31" name="Shape 29"/>
          <p:cNvSpPr/>
          <p:nvPr/>
        </p:nvSpPr>
        <p:spPr>
          <a:xfrm>
            <a:off x="6126480" y="3035808"/>
            <a:ext cx="2788920" cy="54864"/>
          </a:xfrm>
          <a:prstGeom prst="rect">
            <a:avLst/>
          </a:prstGeom>
          <a:solidFill>
            <a:srgbClr val="22D3EE"/>
          </a:solidFill>
          <a:ln/>
        </p:spPr>
      </p:sp>
      <p:sp>
        <p:nvSpPr>
          <p:cNvPr id="32" name="Text 30"/>
          <p:cNvSpPr/>
          <p:nvPr/>
        </p:nvSpPr>
        <p:spPr>
          <a:xfrm>
            <a:off x="6263640" y="3127248"/>
            <a:ext cx="548640" cy="475488"/>
          </a:xfrm>
          <a:prstGeom prst="rect">
            <a:avLst/>
          </a:prstGeom>
          <a:noFill/>
          <a:ln/>
        </p:spPr>
        <p:txBody>
          <a:bodyPr wrap="square" rtlCol="0" anchor="ctr"/>
          <a:lstStyle/>
          <a:p>
            <a:pPr indent="0" marL="0">
              <a:buNone/>
            </a:pPr>
            <a:r>
              <a:rPr lang="en-US" sz="2400" b="1" dirty="0">
                <a:solidFill>
                  <a:srgbClr val="22D3EE"/>
                </a:solidFill>
                <a:latin typeface="Calibri" pitchFamily="34" charset="0"/>
                <a:ea typeface="Calibri" pitchFamily="34" charset="-122"/>
                <a:cs typeface="Calibri" pitchFamily="34" charset="-120"/>
              </a:rPr>
              <a:t>06</a:t>
            </a:r>
            <a:endParaRPr lang="en-US" sz="2400" dirty="0"/>
          </a:p>
        </p:txBody>
      </p:sp>
      <p:sp>
        <p:nvSpPr>
          <p:cNvPr id="33" name="Text 31"/>
          <p:cNvSpPr/>
          <p:nvPr/>
        </p:nvSpPr>
        <p:spPr>
          <a:xfrm>
            <a:off x="6263640" y="3648456"/>
            <a:ext cx="2578608" cy="347472"/>
          </a:xfrm>
          <a:prstGeom prst="rect">
            <a:avLst/>
          </a:prstGeom>
          <a:noFill/>
          <a:ln/>
        </p:spPr>
        <p:txBody>
          <a:bodyPr wrap="square" rtlCol="0" anchor="ctr"/>
          <a:lstStyle/>
          <a:p>
            <a:pPr indent="0" marL="0">
              <a:buNone/>
            </a:pPr>
            <a:r>
              <a:rPr lang="en-US" sz="1300" b="1" dirty="0">
                <a:solidFill>
                  <a:srgbClr val="F1F5F9"/>
                </a:solidFill>
                <a:latin typeface="Calibri" pitchFamily="34" charset="0"/>
                <a:ea typeface="Calibri" pitchFamily="34" charset="-122"/>
                <a:cs typeface="Calibri" pitchFamily="34" charset="-120"/>
              </a:rPr>
              <a:t>Stats Coupled to Socket</a:t>
            </a:r>
            <a:endParaRPr lang="en-US" sz="1300" dirty="0"/>
          </a:p>
        </p:txBody>
      </p:sp>
      <p:sp>
        <p:nvSpPr>
          <p:cNvPr id="34" name="Text 32"/>
          <p:cNvSpPr/>
          <p:nvPr/>
        </p:nvSpPr>
        <p:spPr>
          <a:xfrm>
            <a:off x="6263640" y="4041648"/>
            <a:ext cx="2578608" cy="777240"/>
          </a:xfrm>
          <a:prstGeom prst="rect">
            <a:avLst/>
          </a:prstGeom>
          <a:noFill/>
          <a:ln/>
        </p:spPr>
        <p:txBody>
          <a:bodyPr wrap="square" rtlCol="0" anchor="ctr"/>
          <a:lstStyle/>
          <a:p>
            <a:pPr indent="0" marL="0">
              <a:buNone/>
            </a:pPr>
            <a:r>
              <a:rPr lang="en-US" sz="1050" dirty="0">
                <a:solidFill>
                  <a:srgbClr val="94A3B8"/>
                </a:solidFill>
                <a:latin typeface="Calibri" pitchFamily="34" charset="0"/>
                <a:ea typeface="Calibri" pitchFamily="34" charset="-122"/>
                <a:cs typeface="Calibri" pitchFamily="34" charset="-120"/>
              </a:rPr>
              <a:t>updateUserStats() called directly inside socket disconnect handler</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F87171"/>
          </a:solidFill>
          <a:ln/>
        </p:spPr>
      </p:sp>
      <p:sp>
        <p:nvSpPr>
          <p:cNvPr id="3" name="Text 1"/>
          <p:cNvSpPr/>
          <p:nvPr/>
        </p:nvSpPr>
        <p:spPr>
          <a:xfrm>
            <a:off x="274320" y="164592"/>
            <a:ext cx="8595360" cy="475488"/>
          </a:xfrm>
          <a:prstGeom prst="rect">
            <a:avLst/>
          </a:prstGeom>
          <a:noFill/>
          <a:ln/>
        </p:spPr>
        <p:txBody>
          <a:bodyPr wrap="square" rtlCol="0" anchor="ctr"/>
          <a:lstStyle/>
          <a:p>
            <a:pPr indent="0" marL="0">
              <a:buNone/>
            </a:pPr>
            <a:r>
              <a:rPr lang="en-US" sz="2500" b="1" dirty="0">
                <a:solidFill>
                  <a:srgbClr val="F1F5F9"/>
                </a:solidFill>
                <a:latin typeface="Calibri" pitchFamily="34" charset="0"/>
                <a:ea typeface="Calibri" pitchFamily="34" charset="-122"/>
                <a:cs typeface="Calibri" pitchFamily="34" charset="-120"/>
              </a:rPr>
              <a:t>Flaws 01 &amp; 02 — Security Failures</a:t>
            </a:r>
            <a:endParaRPr lang="en-US" sz="2500" dirty="0"/>
          </a:p>
        </p:txBody>
      </p:sp>
      <p:sp>
        <p:nvSpPr>
          <p:cNvPr id="4" name="Text 2"/>
          <p:cNvSpPr/>
          <p:nvPr/>
        </p:nvSpPr>
        <p:spPr>
          <a:xfrm>
            <a:off x="274320" y="658368"/>
            <a:ext cx="8595360" cy="256032"/>
          </a:xfrm>
          <a:prstGeom prst="rect">
            <a:avLst/>
          </a:prstGeom>
          <a:noFill/>
          <a:ln/>
        </p:spPr>
        <p:txBody>
          <a:bodyPr wrap="square" rtlCol="0" anchor="ctr"/>
          <a:lstStyle/>
          <a:p>
            <a:pPr indent="0" marL="0">
              <a:buNone/>
            </a:pPr>
            <a:r>
              <a:rPr lang="en-US" sz="1150" i="1" dirty="0">
                <a:solidFill>
                  <a:srgbClr val="94A3B8"/>
                </a:solidFill>
                <a:latin typeface="Calibri" pitchFamily="34" charset="0"/>
                <a:ea typeface="Calibri" pitchFamily="34" charset="-122"/>
                <a:cs typeface="Calibri" pitchFamily="34" charset="-120"/>
              </a:rPr>
              <a:t>Identity is the most critical trust boundary in any competitive multiplayer system</a:t>
            </a:r>
            <a:endParaRPr lang="en-US" sz="1150" dirty="0"/>
          </a:p>
        </p:txBody>
      </p:sp>
      <p:sp>
        <p:nvSpPr>
          <p:cNvPr id="5" name="Shape 3"/>
          <p:cNvSpPr/>
          <p:nvPr/>
        </p:nvSpPr>
        <p:spPr>
          <a:xfrm>
            <a:off x="274320" y="914400"/>
            <a:ext cx="4160520" cy="4069080"/>
          </a:xfrm>
          <a:prstGeom prst="rect">
            <a:avLst/>
          </a:prstGeom>
          <a:solidFill>
            <a:srgbClr val="1E293B"/>
          </a:solidFill>
          <a:ln w="12700">
            <a:solidFill>
              <a:srgbClr val="F87171"/>
            </a:solidFill>
            <a:prstDash val="solid"/>
          </a:ln>
          <a:effectLst>
            <a:outerShdw sx="100000" sy="100000" kx="0" ky="0" algn="bl" rotWithShape="0" blurRad="76200" dist="25400" dir="8100000">
              <a:srgbClr val="000000">
                <a:alpha val="22000"/>
              </a:srgbClr>
            </a:outerShdw>
          </a:effectLst>
        </p:spPr>
      </p:sp>
      <p:sp>
        <p:nvSpPr>
          <p:cNvPr id="6" name="Shape 4"/>
          <p:cNvSpPr/>
          <p:nvPr/>
        </p:nvSpPr>
        <p:spPr>
          <a:xfrm>
            <a:off x="274320" y="914400"/>
            <a:ext cx="4160520" cy="54864"/>
          </a:xfrm>
          <a:prstGeom prst="rect">
            <a:avLst/>
          </a:prstGeom>
          <a:solidFill>
            <a:srgbClr val="F87171"/>
          </a:solidFill>
          <a:ln/>
        </p:spPr>
      </p:sp>
      <p:sp>
        <p:nvSpPr>
          <p:cNvPr id="7" name="Text 5"/>
          <p:cNvSpPr/>
          <p:nvPr/>
        </p:nvSpPr>
        <p:spPr>
          <a:xfrm>
            <a:off x="411480" y="987552"/>
            <a:ext cx="3886200" cy="329184"/>
          </a:xfrm>
          <a:prstGeom prst="rect">
            <a:avLst/>
          </a:prstGeom>
          <a:noFill/>
          <a:ln/>
        </p:spPr>
        <p:txBody>
          <a:bodyPr wrap="square" rtlCol="0" anchor="ctr"/>
          <a:lstStyle/>
          <a:p>
            <a:pPr indent="0" marL="0">
              <a:buNone/>
            </a:pPr>
            <a:r>
              <a:rPr lang="en-US" sz="1200" b="1" dirty="0">
                <a:solidFill>
                  <a:srgbClr val="F87171"/>
                </a:solidFill>
                <a:latin typeface="Calibri" pitchFamily="34" charset="0"/>
                <a:ea typeface="Calibri" pitchFamily="34" charset="-122"/>
                <a:cs typeface="Calibri" pitchFamily="34" charset="-120"/>
              </a:rPr>
              <a:t>FLAW 01  ·  Client-Trusted Identity</a:t>
            </a:r>
            <a:endParaRPr lang="en-US" sz="1200" dirty="0"/>
          </a:p>
        </p:txBody>
      </p:sp>
      <p:sp>
        <p:nvSpPr>
          <p:cNvPr id="8" name="Shape 6"/>
          <p:cNvSpPr/>
          <p:nvPr/>
        </p:nvSpPr>
        <p:spPr>
          <a:xfrm>
            <a:off x="411480" y="1389888"/>
            <a:ext cx="3886200" cy="1005840"/>
          </a:xfrm>
          <a:prstGeom prst="rect">
            <a:avLst/>
          </a:prstGeom>
          <a:solidFill>
            <a:srgbClr val="0D1929"/>
          </a:solidFill>
          <a:ln w="6350">
            <a:solidFill>
              <a:srgbClr val="334155"/>
            </a:solidFill>
            <a:prstDash val="solid"/>
          </a:ln>
        </p:spPr>
      </p:sp>
      <p:sp>
        <p:nvSpPr>
          <p:cNvPr id="9" name="Text 7"/>
          <p:cNvSpPr/>
          <p:nvPr/>
        </p:nvSpPr>
        <p:spPr>
          <a:xfrm>
            <a:off x="502920" y="1435608"/>
            <a:ext cx="3657600" cy="192024"/>
          </a:xfrm>
          <a:prstGeom prst="rect">
            <a:avLst/>
          </a:prstGeom>
          <a:noFill/>
          <a:ln/>
        </p:spPr>
        <p:txBody>
          <a:bodyPr wrap="square" rtlCol="0" anchor="ctr"/>
          <a:lstStyle/>
          <a:p>
            <a:pPr indent="0" marL="0">
              <a:buNone/>
            </a:pPr>
            <a:r>
              <a:rPr lang="en-US" sz="900" dirty="0">
                <a:solidFill>
                  <a:srgbClr val="334155"/>
                </a:solidFill>
                <a:latin typeface="Consolas" pitchFamily="34" charset="0"/>
                <a:ea typeface="Consolas" pitchFamily="34" charset="-122"/>
                <a:cs typeface="Consolas" pitchFamily="34" charset="-120"/>
              </a:rPr>
              <a:t>// PublicMatch.jsx</a:t>
            </a:r>
            <a:endParaRPr lang="en-US" sz="900" dirty="0"/>
          </a:p>
        </p:txBody>
      </p:sp>
      <p:sp>
        <p:nvSpPr>
          <p:cNvPr id="10" name="Text 8"/>
          <p:cNvSpPr/>
          <p:nvPr/>
        </p:nvSpPr>
        <p:spPr>
          <a:xfrm>
            <a:off x="502920" y="1627632"/>
            <a:ext cx="3657600" cy="192024"/>
          </a:xfrm>
          <a:prstGeom prst="rect">
            <a:avLst/>
          </a:prstGeom>
          <a:noFill/>
          <a:ln/>
        </p:spPr>
        <p:txBody>
          <a:bodyPr wrap="square" rtlCol="0" anchor="ctr"/>
          <a:lstStyle/>
          <a:p>
            <a:pPr indent="0" marL="0">
              <a:buNone/>
            </a:pPr>
            <a:r>
              <a:rPr lang="en-US" sz="900" dirty="0">
                <a:solidFill>
                  <a:srgbClr val="22D3EE"/>
                </a:solidFill>
                <a:latin typeface="Consolas" pitchFamily="34" charset="0"/>
                <a:ea typeface="Consolas" pitchFamily="34" charset="-122"/>
                <a:cs typeface="Consolas" pitchFamily="34" charset="-120"/>
              </a:rPr>
              <a:t>socket.emit('find_match', { userId: user?.id })</a:t>
            </a:r>
            <a:endParaRPr lang="en-US" sz="900" dirty="0"/>
          </a:p>
        </p:txBody>
      </p:sp>
      <p:sp>
        <p:nvSpPr>
          <p:cNvPr id="11" name="Text 9"/>
          <p:cNvSpPr/>
          <p:nvPr/>
        </p:nvSpPr>
        <p:spPr>
          <a:xfrm>
            <a:off x="502920" y="1819656"/>
            <a:ext cx="3657600" cy="192024"/>
          </a:xfrm>
          <a:prstGeom prst="rect">
            <a:avLst/>
          </a:prstGeom>
          <a:noFill/>
          <a:ln/>
        </p:spPr>
        <p:txBody>
          <a:bodyPr wrap="square" rtlCol="0" anchor="ctr"/>
          <a:lstStyle/>
          <a:p>
            <a:pPr indent="0" marL="0">
              <a:buNone/>
            </a:pPr>
            <a:r>
              <a:rPr lang="en-US" sz="900" dirty="0">
                <a:solidFill>
                  <a:srgbClr val="334155"/>
                </a:solidFill>
                <a:latin typeface="Consolas" pitchFamily="34" charset="0"/>
                <a:ea typeface="Consolas" pitchFamily="34" charset="-122"/>
                <a:cs typeface="Consolas" pitchFamily="34" charset="-120"/>
              </a:rPr>
              <a:t>// CreatePrivateRoom.jsx  — DIFFERENT FIELD!</a:t>
            </a:r>
            <a:endParaRPr lang="en-US" sz="900" dirty="0"/>
          </a:p>
        </p:txBody>
      </p:sp>
      <p:sp>
        <p:nvSpPr>
          <p:cNvPr id="12" name="Text 10"/>
          <p:cNvSpPr/>
          <p:nvPr/>
        </p:nvSpPr>
        <p:spPr>
          <a:xfrm>
            <a:off x="502920" y="2011680"/>
            <a:ext cx="3657600" cy="192024"/>
          </a:xfrm>
          <a:prstGeom prst="rect">
            <a:avLst/>
          </a:prstGeom>
          <a:noFill/>
          <a:ln/>
        </p:spPr>
        <p:txBody>
          <a:bodyPr wrap="square" rtlCol="0" anchor="ctr"/>
          <a:lstStyle/>
          <a:p>
            <a:pPr indent="0" marL="0">
              <a:buNone/>
            </a:pPr>
            <a:r>
              <a:rPr lang="en-US" sz="900" dirty="0">
                <a:solidFill>
                  <a:srgbClr val="F87171"/>
                </a:solidFill>
                <a:latin typeface="Consolas" pitchFamily="34" charset="0"/>
                <a:ea typeface="Consolas" pitchFamily="34" charset="-122"/>
                <a:cs typeface="Consolas" pitchFamily="34" charset="-120"/>
              </a:rPr>
              <a:t>socket.emit('create_room',{ userId: user?._id })</a:t>
            </a:r>
            <a:endParaRPr lang="en-US" sz="900" dirty="0"/>
          </a:p>
        </p:txBody>
      </p:sp>
      <p:sp>
        <p:nvSpPr>
          <p:cNvPr id="13" name="Text 11"/>
          <p:cNvSpPr/>
          <p:nvPr/>
        </p:nvSpPr>
        <p:spPr>
          <a:xfrm>
            <a:off x="411480" y="2304288"/>
            <a:ext cx="3886200" cy="2578608"/>
          </a:xfrm>
          <a:prstGeom prst="rect">
            <a:avLst/>
          </a:prstGeom>
          <a:noFill/>
          <a:ln/>
        </p:spPr>
        <p:txBody>
          <a:bodyPr wrap="square" rtlCol="0" anchor="ctr"/>
          <a:lstStyle/>
          <a:p>
            <a:pPr marL="342900" indent="-342900">
              <a:buSzPct val="100000"/>
              <a:buChar char="•"/>
            </a:pPr>
            <a:r>
              <a:rPr lang="en-US" sz="1100" dirty="0">
                <a:solidFill>
                  <a:srgbClr val="F1F5F9"/>
                </a:solidFill>
                <a:latin typeface="Calibri" pitchFamily="34" charset="0"/>
                <a:ea typeface="Calibri" pitchFamily="34" charset="-122"/>
                <a:cs typeface="Calibri" pitchFamily="34" charset="-120"/>
              </a:rPr>
              <a:t>Server trusts identity entirely from client payload</a:t>
            </a:r>
            <a:endParaRPr lang="en-US" sz="1100" dirty="0"/>
          </a:p>
          <a:p>
            <a:pPr marL="342900" indent="-342900">
              <a:buSzPct val="100000"/>
              <a:buChar char="•"/>
            </a:pPr>
            <a:r>
              <a:rPr lang="en-US" sz="1100" dirty="0">
                <a:solidFill>
                  <a:srgbClr val="FB923C"/>
                </a:solidFill>
                <a:latin typeface="Calibri" pitchFamily="34" charset="0"/>
                <a:ea typeface="Calibri" pitchFamily="34" charset="-122"/>
                <a:cs typeface="Calibri" pitchFamily="34" charset="-120"/>
              </a:rPr>
              <a:t>user?.id  vs  user?._id — already inconsistent across files</a:t>
            </a:r>
            <a:endParaRPr lang="en-US" sz="1100" dirty="0"/>
          </a:p>
          <a:p>
            <a:pPr marL="342900" indent="-342900">
              <a:buSzPct val="100000"/>
              <a:buChar char="•"/>
            </a:pPr>
            <a:r>
              <a:rPr lang="en-US" sz="1100" dirty="0">
                <a:solidFill>
                  <a:srgbClr val="F87171"/>
                </a:solidFill>
                <a:latin typeface="Calibri" pitchFamily="34" charset="0"/>
                <a:ea typeface="Calibri" pitchFamily="34" charset="-122"/>
                <a:cs typeface="Calibri" pitchFamily="34" charset="-120"/>
              </a:rPr>
              <a:t>Any user can send another user's ID and steal wins</a:t>
            </a:r>
            <a:endParaRPr lang="en-US" sz="1100" dirty="0"/>
          </a:p>
          <a:p>
            <a:pPr marL="342900" indent="-342900">
              <a:buSzPct val="100000"/>
              <a:buChar char="•"/>
            </a:pPr>
            <a:r>
              <a:rPr lang="en-US" sz="1100" dirty="0">
                <a:solidFill>
                  <a:srgbClr val="94A3B8"/>
                </a:solidFill>
                <a:latin typeface="Calibri" pitchFamily="34" charset="0"/>
                <a:ea typeface="Calibri" pitchFamily="34" charset="-122"/>
                <a:cs typeface="Calibri" pitchFamily="34" charset="-120"/>
              </a:rPr>
              <a:t>Leaderboard updates attributed to wrong user silently</a:t>
            </a:r>
            <a:endParaRPr lang="en-US" sz="1100" dirty="0"/>
          </a:p>
          <a:p>
            <a:pPr marL="342900" indent="-342900">
              <a:buSzPct val="100000"/>
              <a:buChar char="•"/>
            </a:pPr>
            <a:r>
              <a:rPr lang="en-US" sz="1100" dirty="0">
                <a:solidFill>
                  <a:srgbClr val="4ADE80"/>
                </a:solidFill>
                <a:latin typeface="Calibri" pitchFamily="34" charset="0"/>
                <a:ea typeface="Calibri" pitchFamily="34" charset="-122"/>
                <a:cs typeface="Calibri" pitchFamily="34" charset="-120"/>
              </a:rPr>
              <a:t>FIX: derive user from socket.data after server-side JWT verify</a:t>
            </a:r>
            <a:endParaRPr lang="en-US" sz="1100" dirty="0"/>
          </a:p>
        </p:txBody>
      </p:sp>
      <p:sp>
        <p:nvSpPr>
          <p:cNvPr id="14" name="Shape 12"/>
          <p:cNvSpPr/>
          <p:nvPr/>
        </p:nvSpPr>
        <p:spPr>
          <a:xfrm>
            <a:off x="4663440" y="914400"/>
            <a:ext cx="4206240" cy="4069080"/>
          </a:xfrm>
          <a:prstGeom prst="rect">
            <a:avLst/>
          </a:prstGeom>
          <a:solidFill>
            <a:srgbClr val="1E293B"/>
          </a:solidFill>
          <a:ln w="12700">
            <a:solidFill>
              <a:srgbClr val="FB923C"/>
            </a:solidFill>
            <a:prstDash val="solid"/>
          </a:ln>
          <a:effectLst>
            <a:outerShdw sx="100000" sy="100000" kx="0" ky="0" algn="bl" rotWithShape="0" blurRad="76200" dist="25400" dir="8100000">
              <a:srgbClr val="000000">
                <a:alpha val="22000"/>
              </a:srgbClr>
            </a:outerShdw>
          </a:effectLst>
        </p:spPr>
      </p:sp>
      <p:sp>
        <p:nvSpPr>
          <p:cNvPr id="15" name="Shape 13"/>
          <p:cNvSpPr/>
          <p:nvPr/>
        </p:nvSpPr>
        <p:spPr>
          <a:xfrm>
            <a:off x="4663440" y="914400"/>
            <a:ext cx="4206240" cy="54864"/>
          </a:xfrm>
          <a:prstGeom prst="rect">
            <a:avLst/>
          </a:prstGeom>
          <a:solidFill>
            <a:srgbClr val="FB923C"/>
          </a:solidFill>
          <a:ln/>
        </p:spPr>
      </p:sp>
      <p:sp>
        <p:nvSpPr>
          <p:cNvPr id="16" name="Text 14"/>
          <p:cNvSpPr/>
          <p:nvPr/>
        </p:nvSpPr>
        <p:spPr>
          <a:xfrm>
            <a:off x="4800600" y="987552"/>
            <a:ext cx="3931920" cy="329184"/>
          </a:xfrm>
          <a:prstGeom prst="rect">
            <a:avLst/>
          </a:prstGeom>
          <a:noFill/>
          <a:ln/>
        </p:spPr>
        <p:txBody>
          <a:bodyPr wrap="square" rtlCol="0" anchor="ctr"/>
          <a:lstStyle/>
          <a:p>
            <a:pPr indent="0" marL="0">
              <a:buNone/>
            </a:pPr>
            <a:r>
              <a:rPr lang="en-US" sz="1200" b="1" dirty="0">
                <a:solidFill>
                  <a:srgbClr val="FB923C"/>
                </a:solidFill>
                <a:latin typeface="Calibri" pitchFamily="34" charset="0"/>
                <a:ea typeface="Calibri" pitchFamily="34" charset="-122"/>
                <a:cs typeface="Calibri" pitchFamily="34" charset="-120"/>
              </a:rPr>
              <a:t>FLAW 02  ·  JWT in localStorage</a:t>
            </a:r>
            <a:endParaRPr lang="en-US" sz="1200" dirty="0"/>
          </a:p>
        </p:txBody>
      </p:sp>
      <p:sp>
        <p:nvSpPr>
          <p:cNvPr id="17" name="Shape 15"/>
          <p:cNvSpPr/>
          <p:nvPr/>
        </p:nvSpPr>
        <p:spPr>
          <a:xfrm>
            <a:off x="4800600" y="1399032"/>
            <a:ext cx="3931920" cy="411480"/>
          </a:xfrm>
          <a:prstGeom prst="rect">
            <a:avLst/>
          </a:prstGeom>
          <a:solidFill>
            <a:srgbClr val="0D1929"/>
          </a:solidFill>
          <a:ln w="6350">
            <a:solidFill>
              <a:srgbClr val="22D3EE"/>
            </a:solidFill>
            <a:prstDash val="solid"/>
          </a:ln>
        </p:spPr>
      </p:sp>
      <p:sp>
        <p:nvSpPr>
          <p:cNvPr id="18" name="Text 16"/>
          <p:cNvSpPr/>
          <p:nvPr/>
        </p:nvSpPr>
        <p:spPr>
          <a:xfrm>
            <a:off x="4800600" y="1399032"/>
            <a:ext cx="3931920" cy="411480"/>
          </a:xfrm>
          <a:prstGeom prst="rect">
            <a:avLst/>
          </a:prstGeom>
          <a:noFill/>
          <a:ln/>
        </p:spPr>
        <p:txBody>
          <a:bodyPr wrap="square" rtlCol="0" anchor="ctr"/>
          <a:lstStyle/>
          <a:p>
            <a:pPr algn="ctr" indent="0" marL="0">
              <a:buNone/>
            </a:pPr>
            <a:r>
              <a:rPr lang="en-US" sz="1000" dirty="0">
                <a:solidFill>
                  <a:srgbClr val="22D3EE"/>
                </a:solidFill>
                <a:latin typeface="Consolas" pitchFamily="34" charset="0"/>
                <a:ea typeface="Consolas" pitchFamily="34" charset="-122"/>
                <a:cs typeface="Consolas" pitchFamily="34" charset="-120"/>
              </a:rPr>
              <a:t>POST /login  →  server returns JWT token</a:t>
            </a:r>
            <a:endParaRPr lang="en-US" sz="1000" dirty="0"/>
          </a:p>
        </p:txBody>
      </p:sp>
      <p:sp>
        <p:nvSpPr>
          <p:cNvPr id="19" name="Text 17"/>
          <p:cNvSpPr/>
          <p:nvPr/>
        </p:nvSpPr>
        <p:spPr>
          <a:xfrm>
            <a:off x="6537960" y="1819656"/>
            <a:ext cx="457200" cy="201168"/>
          </a:xfrm>
          <a:prstGeom prst="rect">
            <a:avLst/>
          </a:prstGeom>
          <a:noFill/>
          <a:ln/>
        </p:spPr>
        <p:txBody>
          <a:bodyPr wrap="square" rtlCol="0" anchor="ctr"/>
          <a:lstStyle/>
          <a:p>
            <a:pPr algn="ctr" indent="0" marL="0">
              <a:buNone/>
            </a:pPr>
            <a:r>
              <a:rPr lang="en-US" sz="1200" dirty="0">
                <a:solidFill>
                  <a:srgbClr val="334155"/>
                </a:solidFill>
                <a:latin typeface="Calibri" pitchFamily="34" charset="0"/>
                <a:ea typeface="Calibri" pitchFamily="34" charset="-122"/>
                <a:cs typeface="Calibri" pitchFamily="34" charset="-120"/>
              </a:rPr>
              <a:t>↓</a:t>
            </a:r>
            <a:endParaRPr lang="en-US" sz="1200" dirty="0"/>
          </a:p>
        </p:txBody>
      </p:sp>
      <p:sp>
        <p:nvSpPr>
          <p:cNvPr id="20" name="Shape 18"/>
          <p:cNvSpPr/>
          <p:nvPr/>
        </p:nvSpPr>
        <p:spPr>
          <a:xfrm>
            <a:off x="4800600" y="1920240"/>
            <a:ext cx="3931920" cy="411480"/>
          </a:xfrm>
          <a:prstGeom prst="rect">
            <a:avLst/>
          </a:prstGeom>
          <a:solidFill>
            <a:srgbClr val="0D1929"/>
          </a:solidFill>
          <a:ln w="6350">
            <a:solidFill>
              <a:srgbClr val="FB923C"/>
            </a:solidFill>
            <a:prstDash val="solid"/>
          </a:ln>
        </p:spPr>
      </p:sp>
      <p:sp>
        <p:nvSpPr>
          <p:cNvPr id="21" name="Text 19"/>
          <p:cNvSpPr/>
          <p:nvPr/>
        </p:nvSpPr>
        <p:spPr>
          <a:xfrm>
            <a:off x="4800600" y="1920240"/>
            <a:ext cx="3931920" cy="411480"/>
          </a:xfrm>
          <a:prstGeom prst="rect">
            <a:avLst/>
          </a:prstGeom>
          <a:noFill/>
          <a:ln/>
        </p:spPr>
        <p:txBody>
          <a:bodyPr wrap="square" rtlCol="0" anchor="ctr"/>
          <a:lstStyle/>
          <a:p>
            <a:pPr algn="ctr" indent="0" marL="0">
              <a:buNone/>
            </a:pPr>
            <a:r>
              <a:rPr lang="en-US" sz="1000" dirty="0">
                <a:solidFill>
                  <a:srgbClr val="FB923C"/>
                </a:solidFill>
                <a:latin typeface="Consolas" pitchFamily="34" charset="0"/>
                <a:ea typeface="Consolas" pitchFamily="34" charset="-122"/>
                <a:cs typeface="Consolas" pitchFamily="34" charset="-120"/>
              </a:rPr>
              <a:t>localStorage.setItem('token', jwt)</a:t>
            </a:r>
            <a:endParaRPr lang="en-US" sz="1000" dirty="0"/>
          </a:p>
        </p:txBody>
      </p:sp>
      <p:sp>
        <p:nvSpPr>
          <p:cNvPr id="22" name="Text 20"/>
          <p:cNvSpPr/>
          <p:nvPr/>
        </p:nvSpPr>
        <p:spPr>
          <a:xfrm>
            <a:off x="6537960" y="2340864"/>
            <a:ext cx="457200" cy="201168"/>
          </a:xfrm>
          <a:prstGeom prst="rect">
            <a:avLst/>
          </a:prstGeom>
          <a:noFill/>
          <a:ln/>
        </p:spPr>
        <p:txBody>
          <a:bodyPr wrap="square" rtlCol="0" anchor="ctr"/>
          <a:lstStyle/>
          <a:p>
            <a:pPr algn="ctr" indent="0" marL="0">
              <a:buNone/>
            </a:pPr>
            <a:r>
              <a:rPr lang="en-US" sz="1200" dirty="0">
                <a:solidFill>
                  <a:srgbClr val="334155"/>
                </a:solidFill>
                <a:latin typeface="Calibri" pitchFamily="34" charset="0"/>
                <a:ea typeface="Calibri" pitchFamily="34" charset="-122"/>
                <a:cs typeface="Calibri" pitchFamily="34" charset="-120"/>
              </a:rPr>
              <a:t>↓</a:t>
            </a:r>
            <a:endParaRPr lang="en-US" sz="1200" dirty="0"/>
          </a:p>
        </p:txBody>
      </p:sp>
      <p:sp>
        <p:nvSpPr>
          <p:cNvPr id="23" name="Shape 21"/>
          <p:cNvSpPr/>
          <p:nvPr/>
        </p:nvSpPr>
        <p:spPr>
          <a:xfrm>
            <a:off x="4800600" y="2441448"/>
            <a:ext cx="3931920" cy="411480"/>
          </a:xfrm>
          <a:prstGeom prst="rect">
            <a:avLst/>
          </a:prstGeom>
          <a:solidFill>
            <a:srgbClr val="0D1929"/>
          </a:solidFill>
          <a:ln w="6350">
            <a:solidFill>
              <a:srgbClr val="F87171"/>
            </a:solidFill>
            <a:prstDash val="solid"/>
          </a:ln>
        </p:spPr>
      </p:sp>
      <p:sp>
        <p:nvSpPr>
          <p:cNvPr id="24" name="Text 22"/>
          <p:cNvSpPr/>
          <p:nvPr/>
        </p:nvSpPr>
        <p:spPr>
          <a:xfrm>
            <a:off x="4800600" y="2441448"/>
            <a:ext cx="3931920" cy="411480"/>
          </a:xfrm>
          <a:prstGeom prst="rect">
            <a:avLst/>
          </a:prstGeom>
          <a:noFill/>
          <a:ln/>
        </p:spPr>
        <p:txBody>
          <a:bodyPr wrap="square" rtlCol="0" anchor="ctr"/>
          <a:lstStyle/>
          <a:p>
            <a:pPr algn="ctr" indent="0" marL="0">
              <a:buNone/>
            </a:pPr>
            <a:r>
              <a:rPr lang="en-US" sz="1000" dirty="0">
                <a:solidFill>
                  <a:srgbClr val="F87171"/>
                </a:solidFill>
                <a:latin typeface="Consolas" pitchFamily="34" charset="0"/>
                <a:ea typeface="Consolas" pitchFamily="34" charset="-122"/>
                <a:cs typeface="Consolas" pitchFamily="34" charset="-120"/>
              </a:rPr>
              <a:t>jwtDecode(token)  →  client sets user state</a:t>
            </a:r>
            <a:endParaRPr lang="en-US" sz="1000" dirty="0"/>
          </a:p>
        </p:txBody>
      </p:sp>
      <p:sp>
        <p:nvSpPr>
          <p:cNvPr id="25" name="Text 23"/>
          <p:cNvSpPr/>
          <p:nvPr/>
        </p:nvSpPr>
        <p:spPr>
          <a:xfrm>
            <a:off x="6537960" y="2862072"/>
            <a:ext cx="457200" cy="201168"/>
          </a:xfrm>
          <a:prstGeom prst="rect">
            <a:avLst/>
          </a:prstGeom>
          <a:noFill/>
          <a:ln/>
        </p:spPr>
        <p:txBody>
          <a:bodyPr wrap="square" rtlCol="0" anchor="ctr"/>
          <a:lstStyle/>
          <a:p>
            <a:pPr algn="ctr" indent="0" marL="0">
              <a:buNone/>
            </a:pPr>
            <a:r>
              <a:rPr lang="en-US" sz="1200" dirty="0">
                <a:solidFill>
                  <a:srgbClr val="334155"/>
                </a:solidFill>
                <a:latin typeface="Calibri" pitchFamily="34" charset="0"/>
                <a:ea typeface="Calibri" pitchFamily="34" charset="-122"/>
                <a:cs typeface="Calibri" pitchFamily="34" charset="-120"/>
              </a:rPr>
              <a:t>↓</a:t>
            </a:r>
            <a:endParaRPr lang="en-US" sz="1200" dirty="0"/>
          </a:p>
        </p:txBody>
      </p:sp>
      <p:sp>
        <p:nvSpPr>
          <p:cNvPr id="26" name="Shape 24"/>
          <p:cNvSpPr/>
          <p:nvPr/>
        </p:nvSpPr>
        <p:spPr>
          <a:xfrm>
            <a:off x="4800600" y="2962656"/>
            <a:ext cx="3931920" cy="411480"/>
          </a:xfrm>
          <a:prstGeom prst="rect">
            <a:avLst/>
          </a:prstGeom>
          <a:solidFill>
            <a:srgbClr val="0D1929"/>
          </a:solidFill>
          <a:ln w="6350">
            <a:solidFill>
              <a:srgbClr val="F87171"/>
            </a:solidFill>
            <a:prstDash val="solid"/>
          </a:ln>
        </p:spPr>
      </p:sp>
      <p:sp>
        <p:nvSpPr>
          <p:cNvPr id="27" name="Text 25"/>
          <p:cNvSpPr/>
          <p:nvPr/>
        </p:nvSpPr>
        <p:spPr>
          <a:xfrm>
            <a:off x="4800600" y="2962656"/>
            <a:ext cx="3931920" cy="411480"/>
          </a:xfrm>
          <a:prstGeom prst="rect">
            <a:avLst/>
          </a:prstGeom>
          <a:noFill/>
          <a:ln/>
        </p:spPr>
        <p:txBody>
          <a:bodyPr wrap="square" rtlCol="0" anchor="ctr"/>
          <a:lstStyle/>
          <a:p>
            <a:pPr algn="ctr" indent="0" marL="0">
              <a:buNone/>
            </a:pPr>
            <a:r>
              <a:rPr lang="en-US" sz="1000" dirty="0">
                <a:solidFill>
                  <a:srgbClr val="F87171"/>
                </a:solidFill>
                <a:latin typeface="Consolas" pitchFamily="34" charset="0"/>
                <a:ea typeface="Consolas" pitchFamily="34" charset="-122"/>
                <a:cs typeface="Consolas" pitchFamily="34" charset="-120"/>
              </a:rPr>
              <a:t>Client controls its own auth state  ⚠</a:t>
            </a:r>
            <a:endParaRPr lang="en-US" sz="1000" dirty="0"/>
          </a:p>
        </p:txBody>
      </p:sp>
      <p:sp>
        <p:nvSpPr>
          <p:cNvPr id="28" name="Text 26"/>
          <p:cNvSpPr/>
          <p:nvPr/>
        </p:nvSpPr>
        <p:spPr>
          <a:xfrm>
            <a:off x="4800600" y="3493008"/>
            <a:ext cx="3931920" cy="1389888"/>
          </a:xfrm>
          <a:prstGeom prst="rect">
            <a:avLst/>
          </a:prstGeom>
          <a:noFill/>
          <a:ln/>
        </p:spPr>
        <p:txBody>
          <a:bodyPr wrap="square" rtlCol="0" anchor="ctr"/>
          <a:lstStyle/>
          <a:p>
            <a:pPr marL="342900" indent="-342900">
              <a:buSzPct val="100000"/>
              <a:buChar char="•"/>
            </a:pPr>
            <a:r>
              <a:rPr lang="en-US" sz="1100" dirty="0">
                <a:solidFill>
                  <a:srgbClr val="F1F5F9"/>
                </a:solidFill>
                <a:latin typeface="Calibri" pitchFamily="34" charset="0"/>
                <a:ea typeface="Calibri" pitchFamily="34" charset="-122"/>
                <a:cs typeface="Calibri" pitchFamily="34" charset="-120"/>
              </a:rPr>
              <a:t>XSS attack can steal tokens directly from localStorage</a:t>
            </a:r>
            <a:endParaRPr lang="en-US" sz="1100" dirty="0"/>
          </a:p>
          <a:p>
            <a:pPr marL="342900" indent="-342900">
              <a:buSzPct val="100000"/>
              <a:buChar char="•"/>
            </a:pPr>
            <a:r>
              <a:rPr lang="en-US" sz="1100" dirty="0">
                <a:solidFill>
                  <a:srgbClr val="94A3B8"/>
                </a:solidFill>
                <a:latin typeface="Calibri" pitchFamily="34" charset="0"/>
                <a:ea typeface="Calibri" pitchFamily="34" charset="-122"/>
                <a:cs typeface="Calibri" pitchFamily="34" charset="-120"/>
              </a:rPr>
              <a:t>No token rotation — long-lived exposure window</a:t>
            </a:r>
            <a:endParaRPr lang="en-US" sz="1100" dirty="0"/>
          </a:p>
          <a:p>
            <a:pPr marL="342900" indent="-342900">
              <a:buSzPct val="100000"/>
              <a:buChar char="•"/>
            </a:pPr>
            <a:r>
              <a:rPr lang="en-US" sz="1100" dirty="0">
                <a:solidFill>
                  <a:srgbClr val="94A3B8"/>
                </a:solidFill>
                <a:latin typeface="Calibri" pitchFamily="34" charset="0"/>
                <a:ea typeface="Calibri" pitchFamily="34" charset="-122"/>
                <a:cs typeface="Calibri" pitchFamily="34" charset="-120"/>
              </a:rPr>
              <a:t>Client decides its own identity — server has no control</a:t>
            </a:r>
            <a:endParaRPr lang="en-US" sz="1100" dirty="0"/>
          </a:p>
          <a:p>
            <a:pPr marL="342900" indent="-342900">
              <a:buSzPct val="100000"/>
              <a:buChar char="•"/>
            </a:pPr>
            <a:r>
              <a:rPr lang="en-US" sz="1100" dirty="0">
                <a:solidFill>
                  <a:srgbClr val="4ADE80"/>
                </a:solidFill>
                <a:latin typeface="Calibri" pitchFamily="34" charset="0"/>
                <a:ea typeface="Calibri" pitchFamily="34" charset="-122"/>
                <a:cs typeface="Calibri" pitchFamily="34" charset="-120"/>
              </a:rPr>
              <a:t>FIX: httpOnly cookies + access + refresh token flow</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FCD34D"/>
          </a:solidFill>
          <a:ln/>
        </p:spPr>
      </p:sp>
      <p:sp>
        <p:nvSpPr>
          <p:cNvPr id="3" name="Text 1"/>
          <p:cNvSpPr/>
          <p:nvPr/>
        </p:nvSpPr>
        <p:spPr>
          <a:xfrm>
            <a:off x="274320" y="164592"/>
            <a:ext cx="8595360" cy="475488"/>
          </a:xfrm>
          <a:prstGeom prst="rect">
            <a:avLst/>
          </a:prstGeom>
          <a:noFill/>
          <a:ln/>
        </p:spPr>
        <p:txBody>
          <a:bodyPr wrap="square" rtlCol="0" anchor="ctr"/>
          <a:lstStyle/>
          <a:p>
            <a:pPr indent="0" marL="0">
              <a:buNone/>
            </a:pPr>
            <a:r>
              <a:rPr lang="en-US" sz="2500" b="1" dirty="0">
                <a:solidFill>
                  <a:srgbClr val="F1F5F9"/>
                </a:solidFill>
                <a:latin typeface="Calibri" pitchFamily="34" charset="0"/>
                <a:ea typeface="Calibri" pitchFamily="34" charset="-122"/>
                <a:cs typeface="Calibri" pitchFamily="34" charset="-120"/>
              </a:rPr>
              <a:t>Flaw 03 — Tight Coupling in gameSocket.js</a:t>
            </a:r>
            <a:endParaRPr lang="en-US" sz="2500" dirty="0"/>
          </a:p>
        </p:txBody>
      </p:sp>
      <p:sp>
        <p:nvSpPr>
          <p:cNvPr id="4" name="Text 2"/>
          <p:cNvSpPr/>
          <p:nvPr/>
        </p:nvSpPr>
        <p:spPr>
          <a:xfrm>
            <a:off x="274320" y="658368"/>
            <a:ext cx="8595360" cy="256032"/>
          </a:xfrm>
          <a:prstGeom prst="rect">
            <a:avLst/>
          </a:prstGeom>
          <a:noFill/>
          <a:ln/>
        </p:spPr>
        <p:txBody>
          <a:bodyPr wrap="square" rtlCol="0" anchor="ctr"/>
          <a:lstStyle/>
          <a:p>
            <a:pPr indent="0" marL="0">
              <a:buNone/>
            </a:pPr>
            <a:r>
              <a:rPr lang="en-US" sz="1150" i="1" dirty="0">
                <a:solidFill>
                  <a:srgbClr val="94A3B8"/>
                </a:solidFill>
                <a:latin typeface="Calibri" pitchFamily="34" charset="0"/>
                <a:ea typeface="Calibri" pitchFamily="34" charset="-122"/>
                <a:cs typeface="Calibri" pitchFamily="34" charset="-120"/>
              </a:rPr>
              <a:t>One file owns every responsibility in the realtime path — the God Object antipattern</a:t>
            </a:r>
            <a:endParaRPr lang="en-US" sz="1150" dirty="0"/>
          </a:p>
        </p:txBody>
      </p:sp>
      <p:sp>
        <p:nvSpPr>
          <p:cNvPr id="5" name="Shape 3"/>
          <p:cNvSpPr/>
          <p:nvPr/>
        </p:nvSpPr>
        <p:spPr>
          <a:xfrm>
            <a:off x="3246120" y="2011680"/>
            <a:ext cx="2651760" cy="804672"/>
          </a:xfrm>
          <a:prstGeom prst="rect">
            <a:avLst/>
          </a:prstGeom>
          <a:solidFill>
            <a:srgbClr val="FCD34D">
              <a:alpha val="18000"/>
            </a:srgbClr>
          </a:solidFill>
          <a:ln w="25400">
            <a:solidFill>
              <a:srgbClr val="FCD34D"/>
            </a:solidFill>
            <a:prstDash val="solid"/>
          </a:ln>
          <a:effectLst>
            <a:outerShdw sx="100000" sy="100000" kx="0" ky="0" algn="bl" rotWithShape="0" blurRad="76200" dist="25400" dir="8100000">
              <a:srgbClr val="000000">
                <a:alpha val="22000"/>
              </a:srgbClr>
            </a:outerShdw>
          </a:effectLst>
        </p:spPr>
      </p:sp>
      <p:sp>
        <p:nvSpPr>
          <p:cNvPr id="6" name="Text 4"/>
          <p:cNvSpPr/>
          <p:nvPr/>
        </p:nvSpPr>
        <p:spPr>
          <a:xfrm>
            <a:off x="3246120" y="2011680"/>
            <a:ext cx="2651760" cy="804672"/>
          </a:xfrm>
          <a:prstGeom prst="rect">
            <a:avLst/>
          </a:prstGeom>
          <a:noFill/>
          <a:ln/>
        </p:spPr>
        <p:txBody>
          <a:bodyPr wrap="square" rtlCol="0" anchor="ctr"/>
          <a:lstStyle/>
          <a:p>
            <a:pPr algn="ctr" indent="0" marL="0">
              <a:buNone/>
            </a:pPr>
            <a:r>
              <a:rPr lang="en-US" sz="1500" b="1" dirty="0">
                <a:solidFill>
                  <a:srgbClr val="FCD34D"/>
                </a:solidFill>
                <a:latin typeface="Consolas" pitchFamily="34" charset="0"/>
                <a:ea typeface="Consolas" pitchFamily="34" charset="-122"/>
                <a:cs typeface="Consolas" pitchFamily="34" charset="-120"/>
              </a:rPr>
              <a:t>gameSocket.js</a:t>
            </a:r>
            <a:endParaRPr lang="en-US" sz="1500" dirty="0"/>
          </a:p>
        </p:txBody>
      </p:sp>
      <p:sp>
        <p:nvSpPr>
          <p:cNvPr id="7" name="Shape 5"/>
          <p:cNvSpPr/>
          <p:nvPr/>
        </p:nvSpPr>
        <p:spPr>
          <a:xfrm>
            <a:off x="256032" y="1051560"/>
            <a:ext cx="2606040" cy="502920"/>
          </a:xfrm>
          <a:prstGeom prst="rect">
            <a:avLst/>
          </a:prstGeom>
          <a:solidFill>
            <a:srgbClr val="1E293B"/>
          </a:solidFill>
          <a:ln w="9525">
            <a:solidFill>
              <a:srgbClr val="F87171"/>
            </a:solidFill>
            <a:prstDash val="solid"/>
          </a:ln>
        </p:spPr>
      </p:sp>
      <p:sp>
        <p:nvSpPr>
          <p:cNvPr id="8" name="Text 6"/>
          <p:cNvSpPr/>
          <p:nvPr/>
        </p:nvSpPr>
        <p:spPr>
          <a:xfrm>
            <a:off x="256032" y="1051560"/>
            <a:ext cx="2606040" cy="502920"/>
          </a:xfrm>
          <a:prstGeom prst="rect">
            <a:avLst/>
          </a:prstGeom>
          <a:noFill/>
          <a:ln/>
        </p:spPr>
        <p:txBody>
          <a:bodyPr wrap="square" rtlCol="0" anchor="ctr"/>
          <a:lstStyle/>
          <a:p>
            <a:pPr algn="ctr" indent="0" marL="0">
              <a:buNone/>
            </a:pPr>
            <a:r>
              <a:rPr lang="en-US" sz="1150" dirty="0">
                <a:solidFill>
                  <a:srgbClr val="F87171"/>
                </a:solidFill>
                <a:latin typeface="Calibri" pitchFamily="34" charset="0"/>
                <a:ea typeface="Calibri" pitchFamily="34" charset="-122"/>
                <a:cs typeface="Calibri" pitchFamily="34" charset="-120"/>
              </a:rPr>
              <a:t>Matchmaking Queue</a:t>
            </a:r>
            <a:endParaRPr lang="en-US" sz="1150" dirty="0"/>
          </a:p>
        </p:txBody>
      </p:sp>
      <p:sp>
        <p:nvSpPr>
          <p:cNvPr id="9" name="Shape 7"/>
          <p:cNvSpPr/>
          <p:nvPr/>
        </p:nvSpPr>
        <p:spPr>
          <a:xfrm>
            <a:off x="2880360" y="1252728"/>
            <a:ext cx="365760" cy="54864"/>
          </a:xfrm>
          <a:prstGeom prst="rect">
            <a:avLst/>
          </a:prstGeom>
          <a:solidFill>
            <a:srgbClr val="334155"/>
          </a:solidFill>
          <a:ln/>
        </p:spPr>
      </p:sp>
      <p:sp>
        <p:nvSpPr>
          <p:cNvPr id="10" name="Shape 8"/>
          <p:cNvSpPr/>
          <p:nvPr/>
        </p:nvSpPr>
        <p:spPr>
          <a:xfrm>
            <a:off x="256032" y="1664208"/>
            <a:ext cx="2606040" cy="502920"/>
          </a:xfrm>
          <a:prstGeom prst="rect">
            <a:avLst/>
          </a:prstGeom>
          <a:solidFill>
            <a:srgbClr val="1E293B"/>
          </a:solidFill>
          <a:ln w="9525">
            <a:solidFill>
              <a:srgbClr val="FB923C"/>
            </a:solidFill>
            <a:prstDash val="solid"/>
          </a:ln>
        </p:spPr>
      </p:sp>
      <p:sp>
        <p:nvSpPr>
          <p:cNvPr id="11" name="Text 9"/>
          <p:cNvSpPr/>
          <p:nvPr/>
        </p:nvSpPr>
        <p:spPr>
          <a:xfrm>
            <a:off x="256032" y="1664208"/>
            <a:ext cx="2606040" cy="502920"/>
          </a:xfrm>
          <a:prstGeom prst="rect">
            <a:avLst/>
          </a:prstGeom>
          <a:noFill/>
          <a:ln/>
        </p:spPr>
        <p:txBody>
          <a:bodyPr wrap="square" rtlCol="0" anchor="ctr"/>
          <a:lstStyle/>
          <a:p>
            <a:pPr algn="ctr" indent="0" marL="0">
              <a:buNone/>
            </a:pPr>
            <a:r>
              <a:rPr lang="en-US" sz="1150" dirty="0">
                <a:solidFill>
                  <a:srgbClr val="FB923C"/>
                </a:solidFill>
                <a:latin typeface="Calibri" pitchFamily="34" charset="0"/>
                <a:ea typeface="Calibri" pitchFamily="34" charset="-122"/>
                <a:cs typeface="Calibri" pitchFamily="34" charset="-120"/>
              </a:rPr>
              <a:t>Room Creation Logic</a:t>
            </a:r>
            <a:endParaRPr lang="en-US" sz="1150" dirty="0"/>
          </a:p>
        </p:txBody>
      </p:sp>
      <p:sp>
        <p:nvSpPr>
          <p:cNvPr id="12" name="Shape 10"/>
          <p:cNvSpPr/>
          <p:nvPr/>
        </p:nvSpPr>
        <p:spPr>
          <a:xfrm>
            <a:off x="2880360" y="1865376"/>
            <a:ext cx="365760" cy="54864"/>
          </a:xfrm>
          <a:prstGeom prst="rect">
            <a:avLst/>
          </a:prstGeom>
          <a:solidFill>
            <a:srgbClr val="334155"/>
          </a:solidFill>
          <a:ln/>
        </p:spPr>
      </p:sp>
      <p:sp>
        <p:nvSpPr>
          <p:cNvPr id="13" name="Shape 11"/>
          <p:cNvSpPr/>
          <p:nvPr/>
        </p:nvSpPr>
        <p:spPr>
          <a:xfrm>
            <a:off x="256032" y="2276856"/>
            <a:ext cx="2606040" cy="502920"/>
          </a:xfrm>
          <a:prstGeom prst="rect">
            <a:avLst/>
          </a:prstGeom>
          <a:solidFill>
            <a:srgbClr val="1E293B"/>
          </a:solidFill>
          <a:ln w="9525">
            <a:solidFill>
              <a:srgbClr val="FB923C"/>
            </a:solidFill>
            <a:prstDash val="solid"/>
          </a:ln>
        </p:spPr>
      </p:sp>
      <p:sp>
        <p:nvSpPr>
          <p:cNvPr id="14" name="Text 12"/>
          <p:cNvSpPr/>
          <p:nvPr/>
        </p:nvSpPr>
        <p:spPr>
          <a:xfrm>
            <a:off x="256032" y="2276856"/>
            <a:ext cx="2606040" cy="502920"/>
          </a:xfrm>
          <a:prstGeom prst="rect">
            <a:avLst/>
          </a:prstGeom>
          <a:noFill/>
          <a:ln/>
        </p:spPr>
        <p:txBody>
          <a:bodyPr wrap="square" rtlCol="0" anchor="ctr"/>
          <a:lstStyle/>
          <a:p>
            <a:pPr algn="ctr" indent="0" marL="0">
              <a:buNone/>
            </a:pPr>
            <a:r>
              <a:rPr lang="en-US" sz="1150" dirty="0">
                <a:solidFill>
                  <a:srgbClr val="FB923C"/>
                </a:solidFill>
                <a:latin typeface="Calibri" pitchFamily="34" charset="0"/>
                <a:ea typeface="Calibri" pitchFamily="34" charset="-122"/>
                <a:cs typeface="Calibri" pitchFamily="34" charset="-120"/>
              </a:rPr>
              <a:t>Private Room Join</a:t>
            </a:r>
            <a:endParaRPr lang="en-US" sz="1150" dirty="0"/>
          </a:p>
        </p:txBody>
      </p:sp>
      <p:sp>
        <p:nvSpPr>
          <p:cNvPr id="15" name="Shape 13"/>
          <p:cNvSpPr/>
          <p:nvPr/>
        </p:nvSpPr>
        <p:spPr>
          <a:xfrm>
            <a:off x="2880360" y="2478024"/>
            <a:ext cx="365760" cy="54864"/>
          </a:xfrm>
          <a:prstGeom prst="rect">
            <a:avLst/>
          </a:prstGeom>
          <a:solidFill>
            <a:srgbClr val="334155"/>
          </a:solidFill>
          <a:ln/>
        </p:spPr>
      </p:sp>
      <p:sp>
        <p:nvSpPr>
          <p:cNvPr id="16" name="Shape 14"/>
          <p:cNvSpPr/>
          <p:nvPr/>
        </p:nvSpPr>
        <p:spPr>
          <a:xfrm>
            <a:off x="256032" y="2889504"/>
            <a:ext cx="2606040" cy="502920"/>
          </a:xfrm>
          <a:prstGeom prst="rect">
            <a:avLst/>
          </a:prstGeom>
          <a:solidFill>
            <a:srgbClr val="1E293B"/>
          </a:solidFill>
          <a:ln w="9525">
            <a:solidFill>
              <a:srgbClr val="F472B6"/>
            </a:solidFill>
            <a:prstDash val="solid"/>
          </a:ln>
        </p:spPr>
      </p:sp>
      <p:sp>
        <p:nvSpPr>
          <p:cNvPr id="17" name="Text 15"/>
          <p:cNvSpPr/>
          <p:nvPr/>
        </p:nvSpPr>
        <p:spPr>
          <a:xfrm>
            <a:off x="256032" y="2889504"/>
            <a:ext cx="2606040" cy="502920"/>
          </a:xfrm>
          <a:prstGeom prst="rect">
            <a:avLst/>
          </a:prstGeom>
          <a:noFill/>
          <a:ln/>
        </p:spPr>
        <p:txBody>
          <a:bodyPr wrap="square" rtlCol="0" anchor="ctr"/>
          <a:lstStyle/>
          <a:p>
            <a:pPr algn="ctr" indent="0" marL="0">
              <a:buNone/>
            </a:pPr>
            <a:r>
              <a:rPr lang="en-US" sz="1150" dirty="0">
                <a:solidFill>
                  <a:srgbClr val="F472B6"/>
                </a:solidFill>
                <a:latin typeface="Calibri" pitchFamily="34" charset="0"/>
                <a:ea typeface="Calibri" pitchFamily="34" charset="-122"/>
                <a:cs typeface="Calibri" pitchFamily="34" charset="-120"/>
              </a:rPr>
              <a:t>Disconnect / Forfeit</a:t>
            </a:r>
            <a:endParaRPr lang="en-US" sz="1150" dirty="0"/>
          </a:p>
        </p:txBody>
      </p:sp>
      <p:sp>
        <p:nvSpPr>
          <p:cNvPr id="18" name="Shape 16"/>
          <p:cNvSpPr/>
          <p:nvPr/>
        </p:nvSpPr>
        <p:spPr>
          <a:xfrm>
            <a:off x="2880360" y="3090672"/>
            <a:ext cx="365760" cy="54864"/>
          </a:xfrm>
          <a:prstGeom prst="rect">
            <a:avLst/>
          </a:prstGeom>
          <a:solidFill>
            <a:srgbClr val="334155"/>
          </a:solidFill>
          <a:ln/>
        </p:spPr>
      </p:sp>
      <p:sp>
        <p:nvSpPr>
          <p:cNvPr id="19" name="Shape 17"/>
          <p:cNvSpPr/>
          <p:nvPr/>
        </p:nvSpPr>
        <p:spPr>
          <a:xfrm>
            <a:off x="6281928" y="1051560"/>
            <a:ext cx="2606040" cy="502920"/>
          </a:xfrm>
          <a:prstGeom prst="rect">
            <a:avLst/>
          </a:prstGeom>
          <a:solidFill>
            <a:srgbClr val="1E293B"/>
          </a:solidFill>
          <a:ln w="9525">
            <a:solidFill>
              <a:srgbClr val="22D3EE"/>
            </a:solidFill>
            <a:prstDash val="solid"/>
          </a:ln>
        </p:spPr>
      </p:sp>
      <p:sp>
        <p:nvSpPr>
          <p:cNvPr id="20" name="Text 18"/>
          <p:cNvSpPr/>
          <p:nvPr/>
        </p:nvSpPr>
        <p:spPr>
          <a:xfrm>
            <a:off x="6281928" y="1051560"/>
            <a:ext cx="2606040" cy="502920"/>
          </a:xfrm>
          <a:prstGeom prst="rect">
            <a:avLst/>
          </a:prstGeom>
          <a:noFill/>
          <a:ln/>
        </p:spPr>
        <p:txBody>
          <a:bodyPr wrap="square" rtlCol="0" anchor="ctr"/>
          <a:lstStyle/>
          <a:p>
            <a:pPr algn="ctr" indent="0" marL="0">
              <a:buNone/>
            </a:pPr>
            <a:r>
              <a:rPr lang="en-US" sz="1150" dirty="0">
                <a:solidFill>
                  <a:srgbClr val="22D3EE"/>
                </a:solidFill>
                <a:latin typeface="Calibri" pitchFamily="34" charset="0"/>
                <a:ea typeface="Calibri" pitchFamily="34" charset="-122"/>
                <a:cs typeface="Calibri" pitchFamily="34" charset="-120"/>
              </a:rPr>
              <a:t>Move Submission</a:t>
            </a:r>
            <a:endParaRPr lang="en-US" sz="1150" dirty="0"/>
          </a:p>
        </p:txBody>
      </p:sp>
      <p:sp>
        <p:nvSpPr>
          <p:cNvPr id="21" name="Shape 19"/>
          <p:cNvSpPr/>
          <p:nvPr/>
        </p:nvSpPr>
        <p:spPr>
          <a:xfrm>
            <a:off x="5897880" y="1252728"/>
            <a:ext cx="365760" cy="54864"/>
          </a:xfrm>
          <a:prstGeom prst="rect">
            <a:avLst/>
          </a:prstGeom>
          <a:solidFill>
            <a:srgbClr val="334155"/>
          </a:solidFill>
          <a:ln/>
        </p:spPr>
      </p:sp>
      <p:sp>
        <p:nvSpPr>
          <p:cNvPr id="22" name="Shape 20"/>
          <p:cNvSpPr/>
          <p:nvPr/>
        </p:nvSpPr>
        <p:spPr>
          <a:xfrm>
            <a:off x="6281928" y="1664208"/>
            <a:ext cx="2606040" cy="502920"/>
          </a:xfrm>
          <a:prstGeom prst="rect">
            <a:avLst/>
          </a:prstGeom>
          <a:solidFill>
            <a:srgbClr val="1E293B"/>
          </a:solidFill>
          <a:ln w="9525">
            <a:solidFill>
              <a:srgbClr val="4ADE80"/>
            </a:solidFill>
            <a:prstDash val="solid"/>
          </a:ln>
        </p:spPr>
      </p:sp>
      <p:sp>
        <p:nvSpPr>
          <p:cNvPr id="23" name="Text 21"/>
          <p:cNvSpPr/>
          <p:nvPr/>
        </p:nvSpPr>
        <p:spPr>
          <a:xfrm>
            <a:off x="6281928" y="1664208"/>
            <a:ext cx="2606040" cy="502920"/>
          </a:xfrm>
          <a:prstGeom prst="rect">
            <a:avLst/>
          </a:prstGeom>
          <a:noFill/>
          <a:ln/>
        </p:spPr>
        <p:txBody>
          <a:bodyPr wrap="square" rtlCol="0" anchor="ctr"/>
          <a:lstStyle/>
          <a:p>
            <a:pPr algn="ctr" indent="0" marL="0">
              <a:buNone/>
            </a:pPr>
            <a:r>
              <a:rPr lang="en-US" sz="1150" dirty="0">
                <a:solidFill>
                  <a:srgbClr val="4ADE80"/>
                </a:solidFill>
                <a:latin typeface="Calibri" pitchFamily="34" charset="0"/>
                <a:ea typeface="Calibri" pitchFamily="34" charset="-122"/>
                <a:cs typeface="Calibri" pitchFamily="34" charset="-120"/>
              </a:rPr>
              <a:t>Winner Detection</a:t>
            </a:r>
            <a:endParaRPr lang="en-US" sz="1150" dirty="0"/>
          </a:p>
        </p:txBody>
      </p:sp>
      <p:sp>
        <p:nvSpPr>
          <p:cNvPr id="24" name="Shape 22"/>
          <p:cNvSpPr/>
          <p:nvPr/>
        </p:nvSpPr>
        <p:spPr>
          <a:xfrm>
            <a:off x="5897880" y="1865376"/>
            <a:ext cx="365760" cy="54864"/>
          </a:xfrm>
          <a:prstGeom prst="rect">
            <a:avLst/>
          </a:prstGeom>
          <a:solidFill>
            <a:srgbClr val="334155"/>
          </a:solidFill>
          <a:ln/>
        </p:spPr>
      </p:sp>
      <p:sp>
        <p:nvSpPr>
          <p:cNvPr id="25" name="Shape 23"/>
          <p:cNvSpPr/>
          <p:nvPr/>
        </p:nvSpPr>
        <p:spPr>
          <a:xfrm>
            <a:off x="6281928" y="2276856"/>
            <a:ext cx="2606040" cy="502920"/>
          </a:xfrm>
          <a:prstGeom prst="rect">
            <a:avLst/>
          </a:prstGeom>
          <a:solidFill>
            <a:srgbClr val="1E293B"/>
          </a:solidFill>
          <a:ln w="9525">
            <a:solidFill>
              <a:srgbClr val="A78BFA"/>
            </a:solidFill>
            <a:prstDash val="solid"/>
          </a:ln>
        </p:spPr>
      </p:sp>
      <p:sp>
        <p:nvSpPr>
          <p:cNvPr id="26" name="Text 24"/>
          <p:cNvSpPr/>
          <p:nvPr/>
        </p:nvSpPr>
        <p:spPr>
          <a:xfrm>
            <a:off x="6281928" y="2276856"/>
            <a:ext cx="2606040" cy="502920"/>
          </a:xfrm>
          <a:prstGeom prst="rect">
            <a:avLst/>
          </a:prstGeom>
          <a:noFill/>
          <a:ln/>
        </p:spPr>
        <p:txBody>
          <a:bodyPr wrap="square" rtlCol="0" anchor="ctr"/>
          <a:lstStyle/>
          <a:p>
            <a:pPr algn="ctr" indent="0" marL="0">
              <a:buNone/>
            </a:pPr>
            <a:r>
              <a:rPr lang="en-US" sz="1150" dirty="0">
                <a:solidFill>
                  <a:srgbClr val="A78BFA"/>
                </a:solidFill>
                <a:latin typeface="Calibri" pitchFamily="34" charset="0"/>
                <a:ea typeface="Calibri" pitchFamily="34" charset="-122"/>
                <a:cs typeface="Calibri" pitchFamily="34" charset="-120"/>
              </a:rPr>
              <a:t>Leaderboard Update</a:t>
            </a:r>
            <a:endParaRPr lang="en-US" sz="1150" dirty="0"/>
          </a:p>
        </p:txBody>
      </p:sp>
      <p:sp>
        <p:nvSpPr>
          <p:cNvPr id="27" name="Shape 25"/>
          <p:cNvSpPr/>
          <p:nvPr/>
        </p:nvSpPr>
        <p:spPr>
          <a:xfrm>
            <a:off x="5897880" y="2478024"/>
            <a:ext cx="365760" cy="54864"/>
          </a:xfrm>
          <a:prstGeom prst="rect">
            <a:avLst/>
          </a:prstGeom>
          <a:solidFill>
            <a:srgbClr val="334155"/>
          </a:solidFill>
          <a:ln/>
        </p:spPr>
      </p:sp>
      <p:sp>
        <p:nvSpPr>
          <p:cNvPr id="28" name="Shape 26"/>
          <p:cNvSpPr/>
          <p:nvPr/>
        </p:nvSpPr>
        <p:spPr>
          <a:xfrm>
            <a:off x="6281928" y="2889504"/>
            <a:ext cx="2606040" cy="502920"/>
          </a:xfrm>
          <a:prstGeom prst="rect">
            <a:avLst/>
          </a:prstGeom>
          <a:solidFill>
            <a:srgbClr val="1E293B"/>
          </a:solidFill>
          <a:ln w="9525">
            <a:solidFill>
              <a:srgbClr val="22D3EE"/>
            </a:solidFill>
            <a:prstDash val="solid"/>
          </a:ln>
        </p:spPr>
      </p:sp>
      <p:sp>
        <p:nvSpPr>
          <p:cNvPr id="29" name="Text 27"/>
          <p:cNvSpPr/>
          <p:nvPr/>
        </p:nvSpPr>
        <p:spPr>
          <a:xfrm>
            <a:off x="6281928" y="2889504"/>
            <a:ext cx="2606040" cy="502920"/>
          </a:xfrm>
          <a:prstGeom prst="rect">
            <a:avLst/>
          </a:prstGeom>
          <a:noFill/>
          <a:ln/>
        </p:spPr>
        <p:txBody>
          <a:bodyPr wrap="square" rtlCol="0" anchor="ctr"/>
          <a:lstStyle/>
          <a:p>
            <a:pPr algn="ctr" indent="0" marL="0">
              <a:buNone/>
            </a:pPr>
            <a:r>
              <a:rPr lang="en-US" sz="1150" dirty="0">
                <a:solidFill>
                  <a:srgbClr val="22D3EE"/>
                </a:solidFill>
                <a:latin typeface="Calibri" pitchFamily="34" charset="0"/>
                <a:ea typeface="Calibri" pitchFamily="34" charset="-122"/>
                <a:cs typeface="Calibri" pitchFamily="34" charset="-120"/>
              </a:rPr>
              <a:t>Socket-User Mapping</a:t>
            </a:r>
            <a:endParaRPr lang="en-US" sz="1150" dirty="0"/>
          </a:p>
        </p:txBody>
      </p:sp>
      <p:sp>
        <p:nvSpPr>
          <p:cNvPr id="30" name="Shape 28"/>
          <p:cNvSpPr/>
          <p:nvPr/>
        </p:nvSpPr>
        <p:spPr>
          <a:xfrm>
            <a:off x="5897880" y="3090672"/>
            <a:ext cx="365760" cy="54864"/>
          </a:xfrm>
          <a:prstGeom prst="rect">
            <a:avLst/>
          </a:prstGeom>
          <a:solidFill>
            <a:srgbClr val="334155"/>
          </a:solidFill>
          <a:ln/>
        </p:spPr>
      </p:sp>
      <p:sp>
        <p:nvSpPr>
          <p:cNvPr id="31" name="Shape 29"/>
          <p:cNvSpPr/>
          <p:nvPr/>
        </p:nvSpPr>
        <p:spPr>
          <a:xfrm>
            <a:off x="3493008" y="932688"/>
            <a:ext cx="2157984" cy="502920"/>
          </a:xfrm>
          <a:prstGeom prst="rect">
            <a:avLst/>
          </a:prstGeom>
          <a:solidFill>
            <a:srgbClr val="1E293B"/>
          </a:solidFill>
          <a:ln w="9525">
            <a:solidFill>
              <a:srgbClr val="F472B6"/>
            </a:solidFill>
            <a:prstDash val="solid"/>
          </a:ln>
        </p:spPr>
      </p:sp>
      <p:sp>
        <p:nvSpPr>
          <p:cNvPr id="32" name="Text 30"/>
          <p:cNvSpPr/>
          <p:nvPr/>
        </p:nvSpPr>
        <p:spPr>
          <a:xfrm>
            <a:off x="3493008" y="932688"/>
            <a:ext cx="2157984" cy="502920"/>
          </a:xfrm>
          <a:prstGeom prst="rect">
            <a:avLst/>
          </a:prstGeom>
          <a:noFill/>
          <a:ln/>
        </p:spPr>
        <p:txBody>
          <a:bodyPr wrap="square" rtlCol="0" anchor="ctr"/>
          <a:lstStyle/>
          <a:p>
            <a:pPr algn="ctr" indent="0" marL="0">
              <a:buNone/>
            </a:pPr>
            <a:r>
              <a:rPr lang="en-US" sz="1150" dirty="0">
                <a:solidFill>
                  <a:srgbClr val="F472B6"/>
                </a:solidFill>
                <a:latin typeface="Calibri" pitchFamily="34" charset="0"/>
                <a:ea typeface="Calibri" pitchFamily="34" charset="-122"/>
                <a:cs typeface="Calibri" pitchFamily="34" charset="-120"/>
              </a:rPr>
              <a:t>Timer Management</a:t>
            </a:r>
            <a:endParaRPr lang="en-US" sz="1150" dirty="0"/>
          </a:p>
        </p:txBody>
      </p:sp>
      <p:sp>
        <p:nvSpPr>
          <p:cNvPr id="33" name="Shape 31"/>
          <p:cNvSpPr/>
          <p:nvPr/>
        </p:nvSpPr>
        <p:spPr>
          <a:xfrm>
            <a:off x="4544568" y="1453896"/>
            <a:ext cx="54864" cy="557784"/>
          </a:xfrm>
          <a:prstGeom prst="rect">
            <a:avLst/>
          </a:prstGeom>
          <a:solidFill>
            <a:srgbClr val="334155"/>
          </a:solidFill>
          <a:ln/>
        </p:spPr>
      </p:sp>
      <p:sp>
        <p:nvSpPr>
          <p:cNvPr id="34" name="Shape 32"/>
          <p:cNvSpPr/>
          <p:nvPr/>
        </p:nvSpPr>
        <p:spPr>
          <a:xfrm>
            <a:off x="3493008" y="3291840"/>
            <a:ext cx="2157984" cy="502920"/>
          </a:xfrm>
          <a:prstGeom prst="rect">
            <a:avLst/>
          </a:prstGeom>
          <a:solidFill>
            <a:srgbClr val="1E293B"/>
          </a:solidFill>
          <a:ln w="9525">
            <a:solidFill>
              <a:srgbClr val="94A3B8"/>
            </a:solidFill>
            <a:prstDash val="solid"/>
          </a:ln>
        </p:spPr>
      </p:sp>
      <p:sp>
        <p:nvSpPr>
          <p:cNvPr id="35" name="Text 33"/>
          <p:cNvSpPr/>
          <p:nvPr/>
        </p:nvSpPr>
        <p:spPr>
          <a:xfrm>
            <a:off x="3493008" y="3291840"/>
            <a:ext cx="2157984" cy="502920"/>
          </a:xfrm>
          <a:prstGeom prst="rect">
            <a:avLst/>
          </a:prstGeom>
          <a:noFill/>
          <a:ln/>
        </p:spPr>
        <p:txBody>
          <a:bodyPr wrap="square" rtlCol="0" anchor="ctr"/>
          <a:lstStyle/>
          <a:p>
            <a:pPr algn="ctr" indent="0" marL="0">
              <a:buNone/>
            </a:pPr>
            <a:r>
              <a:rPr lang="en-US" sz="1150" dirty="0">
                <a:solidFill>
                  <a:srgbClr val="94A3B8"/>
                </a:solidFill>
                <a:latin typeface="Calibri" pitchFamily="34" charset="0"/>
                <a:ea typeface="Calibri" pitchFamily="34" charset="-122"/>
                <a:cs typeface="Calibri" pitchFamily="34" charset="-120"/>
              </a:rPr>
              <a:t>Memory State Maps</a:t>
            </a:r>
            <a:endParaRPr lang="en-US" sz="1150" dirty="0"/>
          </a:p>
        </p:txBody>
      </p:sp>
      <p:sp>
        <p:nvSpPr>
          <p:cNvPr id="36" name="Shape 34"/>
          <p:cNvSpPr/>
          <p:nvPr/>
        </p:nvSpPr>
        <p:spPr>
          <a:xfrm>
            <a:off x="4544568" y="2834640"/>
            <a:ext cx="54864" cy="457200"/>
          </a:xfrm>
          <a:prstGeom prst="rect">
            <a:avLst/>
          </a:prstGeom>
          <a:solidFill>
            <a:srgbClr val="334155"/>
          </a:solidFill>
          <a:ln/>
        </p:spPr>
      </p:sp>
      <p:sp>
        <p:nvSpPr>
          <p:cNvPr id="37" name="Shape 35"/>
          <p:cNvSpPr/>
          <p:nvPr/>
        </p:nvSpPr>
        <p:spPr>
          <a:xfrm>
            <a:off x="256032" y="3913632"/>
            <a:ext cx="8631936" cy="1097280"/>
          </a:xfrm>
          <a:prstGeom prst="rect">
            <a:avLst/>
          </a:prstGeom>
          <a:solidFill>
            <a:srgbClr val="281A00"/>
          </a:solidFill>
          <a:ln w="9525">
            <a:solidFill>
              <a:srgbClr val="FCD34D"/>
            </a:solidFill>
            <a:prstDash val="solid"/>
          </a:ln>
        </p:spPr>
      </p:sp>
      <p:sp>
        <p:nvSpPr>
          <p:cNvPr id="38" name="Text 36"/>
          <p:cNvSpPr/>
          <p:nvPr/>
        </p:nvSpPr>
        <p:spPr>
          <a:xfrm>
            <a:off x="402336" y="3977640"/>
            <a:ext cx="8321040" cy="246888"/>
          </a:xfrm>
          <a:prstGeom prst="rect">
            <a:avLst/>
          </a:prstGeom>
          <a:noFill/>
          <a:ln/>
        </p:spPr>
        <p:txBody>
          <a:bodyPr wrap="square" rtlCol="0" anchor="ctr"/>
          <a:lstStyle/>
          <a:p>
            <a:pPr indent="0" marL="0">
              <a:buNone/>
            </a:pPr>
            <a:r>
              <a:rPr lang="en-US" sz="950" b="1" spc="200" kern="0" dirty="0">
                <a:solidFill>
                  <a:srgbClr val="FCD34D"/>
                </a:solidFill>
                <a:latin typeface="Calibri" pitchFamily="34" charset="0"/>
                <a:ea typeface="Calibri" pitchFamily="34" charset="-122"/>
                <a:cs typeface="Calibri" pitchFamily="34" charset="-120"/>
              </a:rPr>
              <a:t>WHY THIS IS BAD</a:t>
            </a:r>
            <a:endParaRPr lang="en-US" sz="950" dirty="0"/>
          </a:p>
        </p:txBody>
      </p:sp>
      <p:sp>
        <p:nvSpPr>
          <p:cNvPr id="39" name="Text 37"/>
          <p:cNvSpPr/>
          <p:nvPr/>
        </p:nvSpPr>
        <p:spPr>
          <a:xfrm>
            <a:off x="402336" y="4242816"/>
            <a:ext cx="8321040" cy="713232"/>
          </a:xfrm>
          <a:prstGeom prst="rect">
            <a:avLst/>
          </a:prstGeom>
          <a:noFill/>
          <a:ln/>
        </p:spPr>
        <p:txBody>
          <a:bodyPr wrap="square" rtlCol="0" anchor="ctr"/>
          <a:lstStyle/>
          <a:p>
            <a:pPr indent="0" marL="0">
              <a:buNone/>
            </a:pPr>
            <a:r>
              <a:rPr lang="en-US" sz="1050" dirty="0">
                <a:solidFill>
                  <a:srgbClr val="F1F5F9"/>
                </a:solidFill>
                <a:latin typeface="Calibri" pitchFamily="34" charset="0"/>
                <a:ea typeface="Calibri" pitchFamily="34" charset="-122"/>
                <a:cs typeface="Calibri" pitchFamily="34" charset="-120"/>
              </a:rPr>
              <a:t>Cannot unit-test one feature without risking all others  ·  </a:t>
            </a:r>
            <a:pPr indent="0" marL="0">
              <a:buNone/>
            </a:pPr>
            <a:r>
              <a:rPr lang="en-US" sz="1050" dirty="0">
                <a:solidFill>
                  <a:srgbClr val="F1F5F9"/>
                </a:solidFill>
                <a:latin typeface="Calibri" pitchFamily="34" charset="0"/>
                <a:ea typeface="Calibri" pitchFamily="34" charset="-122"/>
                <a:cs typeface="Calibri" pitchFamily="34" charset="-120"/>
              </a:rPr>
              <a:t>One bug cascades through every realtime flow  ·  </a:t>
            </a:r>
            <a:pPr indent="0" marL="0">
              <a:buNone/>
            </a:pPr>
            <a:r>
              <a:rPr lang="en-US" sz="1050" dirty="0">
                <a:solidFill>
                  <a:srgbClr val="94A3B8"/>
                </a:solidFill>
                <a:latin typeface="Calibri" pitchFamily="34" charset="0"/>
                <a:ea typeface="Calibri" pitchFamily="34" charset="-122"/>
                <a:cs typeface="Calibri" pitchFamily="34" charset="-120"/>
              </a:rPr>
              <a:t>Impossible to reason about — 500+ lines of mixed concerns  ·  </a:t>
            </a:r>
            <a:pPr indent="0" marL="0">
              <a:buNone/>
            </a:pPr>
            <a:r>
              <a:rPr lang="en-US" sz="1050" dirty="0">
                <a:solidFill>
                  <a:srgbClr val="94A3B8"/>
                </a:solidFill>
                <a:latin typeface="Calibri" pitchFamily="34" charset="0"/>
                <a:ea typeface="Calibri" pitchFamily="34" charset="-122"/>
                <a:cs typeface="Calibri" pitchFamily="34" charset="-120"/>
              </a:rPr>
              <a:t>Adding any feature means reading the whole file</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F472B6"/>
          </a:solidFill>
          <a:ln/>
        </p:spPr>
      </p:sp>
      <p:sp>
        <p:nvSpPr>
          <p:cNvPr id="3" name="Text 1"/>
          <p:cNvSpPr/>
          <p:nvPr/>
        </p:nvSpPr>
        <p:spPr>
          <a:xfrm>
            <a:off x="274320" y="164592"/>
            <a:ext cx="8595360" cy="475488"/>
          </a:xfrm>
          <a:prstGeom prst="rect">
            <a:avLst/>
          </a:prstGeom>
          <a:noFill/>
          <a:ln/>
        </p:spPr>
        <p:txBody>
          <a:bodyPr wrap="square" rtlCol="0" anchor="ctr"/>
          <a:lstStyle/>
          <a:p>
            <a:pPr indent="0" marL="0">
              <a:buNone/>
            </a:pPr>
            <a:r>
              <a:rPr lang="en-US" sz="2500" b="1" dirty="0">
                <a:solidFill>
                  <a:srgbClr val="F1F5F9"/>
                </a:solidFill>
                <a:latin typeface="Calibri" pitchFamily="34" charset="0"/>
                <a:ea typeface="Calibri" pitchFamily="34" charset="-122"/>
                <a:cs typeface="Calibri" pitchFamily="34" charset="-120"/>
              </a:rPr>
              <a:t>Flaws 04 &amp; 05 — Why It Cannot Scale Horizontally</a:t>
            </a:r>
            <a:endParaRPr lang="en-US" sz="2500" dirty="0"/>
          </a:p>
        </p:txBody>
      </p:sp>
      <p:sp>
        <p:nvSpPr>
          <p:cNvPr id="4" name="Text 2"/>
          <p:cNvSpPr/>
          <p:nvPr/>
        </p:nvSpPr>
        <p:spPr>
          <a:xfrm>
            <a:off x="274320" y="658368"/>
            <a:ext cx="8595360" cy="256032"/>
          </a:xfrm>
          <a:prstGeom prst="rect">
            <a:avLst/>
          </a:prstGeom>
          <a:noFill/>
          <a:ln/>
        </p:spPr>
        <p:txBody>
          <a:bodyPr wrap="square" rtlCol="0" anchor="ctr"/>
          <a:lstStyle/>
          <a:p>
            <a:pPr indent="0" marL="0">
              <a:buNone/>
            </a:pPr>
            <a:r>
              <a:rPr lang="en-US" sz="1150" i="1" dirty="0">
                <a:solidFill>
                  <a:srgbClr val="94A3B8"/>
                </a:solidFill>
                <a:latin typeface="Calibri" pitchFamily="34" charset="0"/>
                <a:ea typeface="Calibri" pitchFamily="34" charset="-122"/>
                <a:cs typeface="Calibri" pitchFamily="34" charset="-120"/>
              </a:rPr>
              <a:t>In-memory state is process-local — every instance is completely blind to every other</a:t>
            </a:r>
            <a:endParaRPr lang="en-US" sz="1150" dirty="0"/>
          </a:p>
        </p:txBody>
      </p:sp>
      <p:sp>
        <p:nvSpPr>
          <p:cNvPr id="5" name="Shape 3"/>
          <p:cNvSpPr/>
          <p:nvPr/>
        </p:nvSpPr>
        <p:spPr>
          <a:xfrm>
            <a:off x="3291840" y="868680"/>
            <a:ext cx="2560320" cy="475488"/>
          </a:xfrm>
          <a:prstGeom prst="rect">
            <a:avLst/>
          </a:prstGeom>
          <a:solidFill>
            <a:srgbClr val="0D1929"/>
          </a:solidFill>
          <a:ln w="9525">
            <a:solidFill>
              <a:srgbClr val="94A3B8"/>
            </a:solidFill>
            <a:prstDash val="solid"/>
          </a:ln>
        </p:spPr>
      </p:sp>
      <p:sp>
        <p:nvSpPr>
          <p:cNvPr id="6" name="Text 4"/>
          <p:cNvSpPr/>
          <p:nvPr/>
        </p:nvSpPr>
        <p:spPr>
          <a:xfrm>
            <a:off x="3291840" y="868680"/>
            <a:ext cx="2560320" cy="475488"/>
          </a:xfrm>
          <a:prstGeom prst="rect">
            <a:avLst/>
          </a:prstGeom>
          <a:noFill/>
          <a:ln/>
        </p:spPr>
        <p:txBody>
          <a:bodyPr wrap="square" rtlCol="0" anchor="ctr"/>
          <a:lstStyle/>
          <a:p>
            <a:pPr algn="ctr" indent="0" marL="0">
              <a:buNone/>
            </a:pPr>
            <a:r>
              <a:rPr lang="en-US" sz="1200" b="1" dirty="0">
                <a:solidFill>
                  <a:srgbClr val="94A3B8"/>
                </a:solidFill>
                <a:latin typeface="Calibri" pitchFamily="34" charset="0"/>
                <a:ea typeface="Calibri" pitchFamily="34" charset="-122"/>
                <a:cs typeface="Calibri" pitchFamily="34" charset="-120"/>
              </a:rPr>
              <a:t>Load Balancer</a:t>
            </a:r>
            <a:endParaRPr lang="en-US" sz="1200" dirty="0"/>
          </a:p>
        </p:txBody>
      </p:sp>
      <p:sp>
        <p:nvSpPr>
          <p:cNvPr id="7" name="Text 5"/>
          <p:cNvSpPr/>
          <p:nvPr/>
        </p:nvSpPr>
        <p:spPr>
          <a:xfrm>
            <a:off x="2194560" y="1353312"/>
            <a:ext cx="548640" cy="320040"/>
          </a:xfrm>
          <a:prstGeom prst="rect">
            <a:avLst/>
          </a:prstGeom>
          <a:noFill/>
          <a:ln/>
        </p:spPr>
        <p:txBody>
          <a:bodyPr wrap="square" rtlCol="0" anchor="ctr"/>
          <a:lstStyle/>
          <a:p>
            <a:pPr algn="ctr" indent="0" marL="0">
              <a:buNone/>
            </a:pPr>
            <a:r>
              <a:rPr lang="en-US" sz="1800" dirty="0">
                <a:solidFill>
                  <a:srgbClr val="334155"/>
                </a:solidFill>
                <a:latin typeface="Calibri" pitchFamily="34" charset="0"/>
                <a:ea typeface="Calibri" pitchFamily="34" charset="-122"/>
                <a:cs typeface="Calibri" pitchFamily="34" charset="-120"/>
              </a:rPr>
              <a:t>↙</a:t>
            </a:r>
            <a:endParaRPr lang="en-US" sz="1800" dirty="0"/>
          </a:p>
        </p:txBody>
      </p:sp>
      <p:sp>
        <p:nvSpPr>
          <p:cNvPr id="8" name="Text 6"/>
          <p:cNvSpPr/>
          <p:nvPr/>
        </p:nvSpPr>
        <p:spPr>
          <a:xfrm>
            <a:off x="6400800" y="1353312"/>
            <a:ext cx="548640" cy="320040"/>
          </a:xfrm>
          <a:prstGeom prst="rect">
            <a:avLst/>
          </a:prstGeom>
          <a:noFill/>
          <a:ln/>
        </p:spPr>
        <p:txBody>
          <a:bodyPr wrap="square" rtlCol="0" anchor="ctr"/>
          <a:lstStyle/>
          <a:p>
            <a:pPr algn="ctr" indent="0" marL="0">
              <a:buNone/>
            </a:pPr>
            <a:r>
              <a:rPr lang="en-US" sz="1800" dirty="0">
                <a:solidFill>
                  <a:srgbClr val="334155"/>
                </a:solidFill>
                <a:latin typeface="Calibri" pitchFamily="34" charset="0"/>
                <a:ea typeface="Calibri" pitchFamily="34" charset="-122"/>
                <a:cs typeface="Calibri" pitchFamily="34" charset="-120"/>
              </a:rPr>
              <a:t>↘</a:t>
            </a:r>
            <a:endParaRPr lang="en-US" sz="1800" dirty="0"/>
          </a:p>
        </p:txBody>
      </p:sp>
      <p:sp>
        <p:nvSpPr>
          <p:cNvPr id="9" name="Shape 7"/>
          <p:cNvSpPr/>
          <p:nvPr/>
        </p:nvSpPr>
        <p:spPr>
          <a:xfrm>
            <a:off x="256032" y="1691640"/>
            <a:ext cx="3950208" cy="2359152"/>
          </a:xfrm>
          <a:prstGeom prst="rect">
            <a:avLst/>
          </a:prstGeom>
          <a:solidFill>
            <a:srgbClr val="1E293B"/>
          </a:solidFill>
          <a:ln w="12700">
            <a:solidFill>
              <a:srgbClr val="6366F1"/>
            </a:solidFill>
            <a:prstDash val="solid"/>
          </a:ln>
          <a:effectLst>
            <a:outerShdw sx="100000" sy="100000" kx="0" ky="0" algn="bl" rotWithShape="0" blurRad="76200" dist="25400" dir="8100000">
              <a:srgbClr val="000000">
                <a:alpha val="22000"/>
              </a:srgbClr>
            </a:outerShdw>
          </a:effectLst>
        </p:spPr>
      </p:sp>
      <p:sp>
        <p:nvSpPr>
          <p:cNvPr id="10" name="Text 8"/>
          <p:cNvSpPr/>
          <p:nvPr/>
        </p:nvSpPr>
        <p:spPr>
          <a:xfrm>
            <a:off x="393192" y="1764792"/>
            <a:ext cx="3657600" cy="310896"/>
          </a:xfrm>
          <a:prstGeom prst="rect">
            <a:avLst/>
          </a:prstGeom>
          <a:noFill/>
          <a:ln/>
        </p:spPr>
        <p:txBody>
          <a:bodyPr wrap="square" rtlCol="0" anchor="ctr"/>
          <a:lstStyle/>
          <a:p>
            <a:pPr indent="0" marL="0">
              <a:buNone/>
            </a:pPr>
            <a:r>
              <a:rPr lang="en-US" sz="1300" b="1" dirty="0">
                <a:solidFill>
                  <a:srgbClr val="6366F1"/>
                </a:solidFill>
                <a:latin typeface="Calibri" pitchFamily="34" charset="0"/>
                <a:ea typeface="Calibri" pitchFamily="34" charset="-122"/>
                <a:cs typeface="Calibri" pitchFamily="34" charset="-120"/>
              </a:rPr>
              <a:t>Server Instance A</a:t>
            </a:r>
            <a:endParaRPr lang="en-US" sz="1300" dirty="0"/>
          </a:p>
        </p:txBody>
      </p:sp>
      <p:sp>
        <p:nvSpPr>
          <p:cNvPr id="11" name="Text 9"/>
          <p:cNvSpPr/>
          <p:nvPr/>
        </p:nvSpPr>
        <p:spPr>
          <a:xfrm>
            <a:off x="457200" y="2148840"/>
            <a:ext cx="3520440" cy="237744"/>
          </a:xfrm>
          <a:prstGeom prst="rect">
            <a:avLst/>
          </a:prstGeom>
          <a:noFill/>
          <a:ln/>
        </p:spPr>
        <p:txBody>
          <a:bodyPr wrap="square" rtlCol="0" anchor="ctr"/>
          <a:lstStyle/>
          <a:p>
            <a:pPr indent="0" marL="0">
              <a:buNone/>
            </a:pPr>
            <a:r>
              <a:rPr lang="en-US" sz="950" dirty="0">
                <a:solidFill>
                  <a:srgbClr val="F472B6"/>
                </a:solidFill>
                <a:latin typeface="Consolas" pitchFamily="34" charset="0"/>
                <a:ea typeface="Consolas" pitchFamily="34" charset="-122"/>
                <a:cs typeface="Consolas" pitchFamily="34" charset="-120"/>
              </a:rPr>
              <a:t>waitingPlayer = UserX  ← in process memory</a:t>
            </a:r>
            <a:endParaRPr lang="en-US" sz="950" dirty="0"/>
          </a:p>
        </p:txBody>
      </p:sp>
      <p:sp>
        <p:nvSpPr>
          <p:cNvPr id="12" name="Text 10"/>
          <p:cNvSpPr/>
          <p:nvPr/>
        </p:nvSpPr>
        <p:spPr>
          <a:xfrm>
            <a:off x="457200" y="2404872"/>
            <a:ext cx="3520440" cy="237744"/>
          </a:xfrm>
          <a:prstGeom prst="rect">
            <a:avLst/>
          </a:prstGeom>
          <a:noFill/>
          <a:ln/>
        </p:spPr>
        <p:txBody>
          <a:bodyPr wrap="square" rtlCol="0" anchor="ctr"/>
          <a:lstStyle/>
          <a:p>
            <a:pPr indent="0" marL="0">
              <a:buNone/>
            </a:pPr>
            <a:r>
              <a:rPr lang="en-US" sz="950" dirty="0">
                <a:solidFill>
                  <a:srgbClr val="FB923C"/>
                </a:solidFill>
                <a:latin typeface="Consolas" pitchFamily="34" charset="0"/>
                <a:ea typeface="Consolas" pitchFamily="34" charset="-122"/>
                <a:cs typeface="Consolas" pitchFamily="34" charset="-120"/>
              </a:rPr>
              <a:t>socketRoomMap = { 'sk_A1': 'room_42' }</a:t>
            </a:r>
            <a:endParaRPr lang="en-US" sz="950" dirty="0"/>
          </a:p>
        </p:txBody>
      </p:sp>
      <p:sp>
        <p:nvSpPr>
          <p:cNvPr id="13" name="Text 11"/>
          <p:cNvSpPr/>
          <p:nvPr/>
        </p:nvSpPr>
        <p:spPr>
          <a:xfrm>
            <a:off x="457200" y="2660904"/>
            <a:ext cx="3520440" cy="237744"/>
          </a:xfrm>
          <a:prstGeom prst="rect">
            <a:avLst/>
          </a:prstGeom>
          <a:noFill/>
          <a:ln/>
        </p:spPr>
        <p:txBody>
          <a:bodyPr wrap="square" rtlCol="0" anchor="ctr"/>
          <a:lstStyle/>
          <a:p>
            <a:pPr indent="0" marL="0">
              <a:buNone/>
            </a:pPr>
            <a:r>
              <a:rPr lang="en-US" sz="950" dirty="0">
                <a:solidFill>
                  <a:srgbClr val="FB923C"/>
                </a:solidFill>
                <a:latin typeface="Consolas" pitchFamily="34" charset="0"/>
                <a:ea typeface="Consolas" pitchFamily="34" charset="-122"/>
                <a:cs typeface="Consolas" pitchFamily="34" charset="-120"/>
              </a:rPr>
              <a:t>rooms = ['room_42']  ← only in this process</a:t>
            </a:r>
            <a:endParaRPr lang="en-US" sz="950" dirty="0"/>
          </a:p>
        </p:txBody>
      </p:sp>
      <p:sp>
        <p:nvSpPr>
          <p:cNvPr id="14" name="Shape 12"/>
          <p:cNvSpPr/>
          <p:nvPr/>
        </p:nvSpPr>
        <p:spPr>
          <a:xfrm>
            <a:off x="393192" y="2990088"/>
            <a:ext cx="3657600" cy="822960"/>
          </a:xfrm>
          <a:prstGeom prst="rect">
            <a:avLst/>
          </a:prstGeom>
          <a:solidFill>
            <a:srgbClr val="160808"/>
          </a:solidFill>
          <a:ln w="6350">
            <a:solidFill>
              <a:srgbClr val="F87171"/>
            </a:solidFill>
            <a:prstDash val="solid"/>
          </a:ln>
        </p:spPr>
      </p:sp>
      <p:sp>
        <p:nvSpPr>
          <p:cNvPr id="15" name="Text 13"/>
          <p:cNvSpPr/>
          <p:nvPr/>
        </p:nvSpPr>
        <p:spPr>
          <a:xfrm>
            <a:off x="393192" y="2990088"/>
            <a:ext cx="3657600" cy="822960"/>
          </a:xfrm>
          <a:prstGeom prst="rect">
            <a:avLst/>
          </a:prstGeom>
          <a:noFill/>
          <a:ln/>
        </p:spPr>
        <p:txBody>
          <a:bodyPr wrap="square" rtlCol="0" anchor="ctr"/>
          <a:lstStyle/>
          <a:p>
            <a:pPr algn="ctr" indent="0" marL="0">
              <a:buNone/>
            </a:pPr>
            <a:r>
              <a:rPr lang="en-US" sz="1000" b="1" dirty="0">
                <a:solidFill>
                  <a:srgbClr val="F87171"/>
                </a:solidFill>
                <a:latin typeface="Calibri" pitchFamily="34" charset="0"/>
                <a:ea typeface="Calibri" pitchFamily="34" charset="-122"/>
                <a:cs typeface="Calibri" pitchFamily="34" charset="-120"/>
              </a:rPr>
              <a:t>ALL STATE IS LOCAL TO THIS PROCESS</a:t>
            </a:r>
            <a:endParaRPr lang="en-US" sz="1000" dirty="0"/>
          </a:p>
          <a:p>
            <a:pPr algn="ctr" indent="0" marL="0">
              <a:buNone/>
            </a:pPr>
            <a:r>
              <a:rPr lang="en-US" sz="1000" b="1" dirty="0">
                <a:solidFill>
                  <a:srgbClr val="F87171"/>
                </a:solidFill>
                <a:latin typeface="Calibri" pitchFamily="34" charset="0"/>
                <a:ea typeface="Calibri" pitchFamily="34" charset="-122"/>
                <a:cs typeface="Calibri" pitchFamily="34" charset="-120"/>
              </a:rPr>
              <a:t>Inaccessible to any other server instance</a:t>
            </a:r>
            <a:endParaRPr lang="en-US" sz="1000" dirty="0"/>
          </a:p>
        </p:txBody>
      </p:sp>
      <p:sp>
        <p:nvSpPr>
          <p:cNvPr id="16" name="Shape 14"/>
          <p:cNvSpPr/>
          <p:nvPr/>
        </p:nvSpPr>
        <p:spPr>
          <a:xfrm>
            <a:off x="4937760" y="1691640"/>
            <a:ext cx="3950208" cy="2359152"/>
          </a:xfrm>
          <a:prstGeom prst="rect">
            <a:avLst/>
          </a:prstGeom>
          <a:solidFill>
            <a:srgbClr val="1E293B"/>
          </a:solidFill>
          <a:ln w="12700">
            <a:solidFill>
              <a:srgbClr val="A78BFA"/>
            </a:solidFill>
            <a:prstDash val="solid"/>
          </a:ln>
          <a:effectLst>
            <a:outerShdw sx="100000" sy="100000" kx="0" ky="0" algn="bl" rotWithShape="0" blurRad="76200" dist="25400" dir="8100000">
              <a:srgbClr val="000000">
                <a:alpha val="22000"/>
              </a:srgbClr>
            </a:outerShdw>
          </a:effectLst>
        </p:spPr>
      </p:sp>
      <p:sp>
        <p:nvSpPr>
          <p:cNvPr id="17" name="Text 15"/>
          <p:cNvSpPr/>
          <p:nvPr/>
        </p:nvSpPr>
        <p:spPr>
          <a:xfrm>
            <a:off x="5074920" y="1764792"/>
            <a:ext cx="3657600" cy="310896"/>
          </a:xfrm>
          <a:prstGeom prst="rect">
            <a:avLst/>
          </a:prstGeom>
          <a:noFill/>
          <a:ln/>
        </p:spPr>
        <p:txBody>
          <a:bodyPr wrap="square" rtlCol="0" anchor="ctr"/>
          <a:lstStyle/>
          <a:p>
            <a:pPr indent="0" marL="0">
              <a:buNone/>
            </a:pPr>
            <a:r>
              <a:rPr lang="en-US" sz="1300" b="1" dirty="0">
                <a:solidFill>
                  <a:srgbClr val="A78BFA"/>
                </a:solidFill>
                <a:latin typeface="Calibri" pitchFamily="34" charset="0"/>
                <a:ea typeface="Calibri" pitchFamily="34" charset="-122"/>
                <a:cs typeface="Calibri" pitchFamily="34" charset="-120"/>
              </a:rPr>
              <a:t>Server Instance B</a:t>
            </a:r>
            <a:endParaRPr lang="en-US" sz="1300" dirty="0"/>
          </a:p>
        </p:txBody>
      </p:sp>
      <p:sp>
        <p:nvSpPr>
          <p:cNvPr id="18" name="Text 16"/>
          <p:cNvSpPr/>
          <p:nvPr/>
        </p:nvSpPr>
        <p:spPr>
          <a:xfrm>
            <a:off x="5138928" y="2148840"/>
            <a:ext cx="3520440" cy="237744"/>
          </a:xfrm>
          <a:prstGeom prst="rect">
            <a:avLst/>
          </a:prstGeom>
          <a:noFill/>
          <a:ln/>
        </p:spPr>
        <p:txBody>
          <a:bodyPr wrap="square" rtlCol="0" anchor="ctr"/>
          <a:lstStyle/>
          <a:p>
            <a:pPr indent="0" marL="0">
              <a:buNone/>
            </a:pPr>
            <a:r>
              <a:rPr lang="en-US" sz="950" dirty="0">
                <a:solidFill>
                  <a:srgbClr val="94A3B8"/>
                </a:solidFill>
                <a:latin typeface="Consolas" pitchFamily="34" charset="0"/>
                <a:ea typeface="Consolas" pitchFamily="34" charset="-122"/>
                <a:cs typeface="Consolas" pitchFamily="34" charset="-120"/>
              </a:rPr>
              <a:t>waitingPlayer = null  ← knows nothing</a:t>
            </a:r>
            <a:endParaRPr lang="en-US" sz="950" dirty="0"/>
          </a:p>
        </p:txBody>
      </p:sp>
      <p:sp>
        <p:nvSpPr>
          <p:cNvPr id="19" name="Text 17"/>
          <p:cNvSpPr/>
          <p:nvPr/>
        </p:nvSpPr>
        <p:spPr>
          <a:xfrm>
            <a:off x="5138928" y="2404872"/>
            <a:ext cx="3520440" cy="237744"/>
          </a:xfrm>
          <a:prstGeom prst="rect">
            <a:avLst/>
          </a:prstGeom>
          <a:noFill/>
          <a:ln/>
        </p:spPr>
        <p:txBody>
          <a:bodyPr wrap="square" rtlCol="0" anchor="ctr"/>
          <a:lstStyle/>
          <a:p>
            <a:pPr indent="0" marL="0">
              <a:buNone/>
            </a:pPr>
            <a:r>
              <a:rPr lang="en-US" sz="950" dirty="0">
                <a:solidFill>
                  <a:srgbClr val="94A3B8"/>
                </a:solidFill>
                <a:latin typeface="Consolas" pitchFamily="34" charset="0"/>
                <a:ea typeface="Consolas" pitchFamily="34" charset="-122"/>
                <a:cs typeface="Consolas" pitchFamily="34" charset="-120"/>
              </a:rPr>
              <a:t>socketRoomMap = {}</a:t>
            </a:r>
            <a:endParaRPr lang="en-US" sz="950" dirty="0"/>
          </a:p>
        </p:txBody>
      </p:sp>
      <p:sp>
        <p:nvSpPr>
          <p:cNvPr id="20" name="Text 18"/>
          <p:cNvSpPr/>
          <p:nvPr/>
        </p:nvSpPr>
        <p:spPr>
          <a:xfrm>
            <a:off x="5138928" y="2660904"/>
            <a:ext cx="3520440" cy="237744"/>
          </a:xfrm>
          <a:prstGeom prst="rect">
            <a:avLst/>
          </a:prstGeom>
          <a:noFill/>
          <a:ln/>
        </p:spPr>
        <p:txBody>
          <a:bodyPr wrap="square" rtlCol="0" anchor="ctr"/>
          <a:lstStyle/>
          <a:p>
            <a:pPr indent="0" marL="0">
              <a:buNone/>
            </a:pPr>
            <a:r>
              <a:rPr lang="en-US" sz="950" dirty="0">
                <a:solidFill>
                  <a:srgbClr val="94A3B8"/>
                </a:solidFill>
                <a:latin typeface="Consolas" pitchFamily="34" charset="0"/>
                <a:ea typeface="Consolas" pitchFamily="34" charset="-122"/>
                <a:cs typeface="Consolas" pitchFamily="34" charset="-120"/>
              </a:rPr>
              <a:t>rooms = []  ← completely empty</a:t>
            </a:r>
            <a:endParaRPr lang="en-US" sz="950" dirty="0"/>
          </a:p>
        </p:txBody>
      </p:sp>
      <p:sp>
        <p:nvSpPr>
          <p:cNvPr id="21" name="Shape 19"/>
          <p:cNvSpPr/>
          <p:nvPr/>
        </p:nvSpPr>
        <p:spPr>
          <a:xfrm>
            <a:off x="5074920" y="2990088"/>
            <a:ext cx="3657600" cy="822960"/>
          </a:xfrm>
          <a:prstGeom prst="rect">
            <a:avLst/>
          </a:prstGeom>
          <a:solidFill>
            <a:srgbClr val="160808"/>
          </a:solidFill>
          <a:ln w="6350">
            <a:solidFill>
              <a:srgbClr val="F87171"/>
            </a:solidFill>
            <a:prstDash val="solid"/>
          </a:ln>
        </p:spPr>
      </p:sp>
      <p:sp>
        <p:nvSpPr>
          <p:cNvPr id="22" name="Text 20"/>
          <p:cNvSpPr/>
          <p:nvPr/>
        </p:nvSpPr>
        <p:spPr>
          <a:xfrm>
            <a:off x="5074920" y="2990088"/>
            <a:ext cx="3657600" cy="822960"/>
          </a:xfrm>
          <a:prstGeom prst="rect">
            <a:avLst/>
          </a:prstGeom>
          <a:noFill/>
          <a:ln/>
        </p:spPr>
        <p:txBody>
          <a:bodyPr wrap="square" rtlCol="0" anchor="ctr"/>
          <a:lstStyle/>
          <a:p>
            <a:pPr algn="ctr" indent="0" marL="0">
              <a:buNone/>
            </a:pPr>
            <a:r>
              <a:rPr lang="en-US" sz="1000" b="1" dirty="0">
                <a:solidFill>
                  <a:srgbClr val="F87171"/>
                </a:solidFill>
                <a:latin typeface="Calibri" pitchFamily="34" charset="0"/>
                <a:ea typeface="Calibri" pitchFamily="34" charset="-122"/>
                <a:cs typeface="Calibri" pitchFamily="34" charset="-120"/>
              </a:rPr>
              <a:t>COMPLETELY BLIND TO INSTANCE A</a:t>
            </a:r>
            <a:endParaRPr lang="en-US" sz="1000" dirty="0"/>
          </a:p>
          <a:p>
            <a:pPr algn="ctr" indent="0" marL="0">
              <a:buNone/>
            </a:pPr>
            <a:r>
              <a:rPr lang="en-US" sz="1000" b="1" dirty="0">
                <a:solidFill>
                  <a:srgbClr val="F87171"/>
                </a:solidFill>
                <a:latin typeface="Calibri" pitchFamily="34" charset="0"/>
                <a:ea typeface="Calibri" pitchFamily="34" charset="-122"/>
                <a:cs typeface="Calibri" pitchFamily="34" charset="-120"/>
              </a:rPr>
              <a:t>UserY arrives here — will never match UserX</a:t>
            </a:r>
            <a:endParaRPr lang="en-US" sz="1000" dirty="0"/>
          </a:p>
        </p:txBody>
      </p:sp>
      <p:sp>
        <p:nvSpPr>
          <p:cNvPr id="23" name="Shape 21"/>
          <p:cNvSpPr/>
          <p:nvPr/>
        </p:nvSpPr>
        <p:spPr>
          <a:xfrm>
            <a:off x="256032" y="4160520"/>
            <a:ext cx="8631936" cy="804672"/>
          </a:xfrm>
          <a:prstGeom prst="rect">
            <a:avLst/>
          </a:prstGeom>
          <a:solidFill>
            <a:srgbClr val="160808"/>
          </a:solidFill>
          <a:ln w="9525">
            <a:solidFill>
              <a:srgbClr val="F87171"/>
            </a:solidFill>
            <a:prstDash val="solid"/>
          </a:ln>
        </p:spPr>
      </p:sp>
      <p:sp>
        <p:nvSpPr>
          <p:cNvPr id="24" name="Text 22"/>
          <p:cNvSpPr/>
          <p:nvPr/>
        </p:nvSpPr>
        <p:spPr>
          <a:xfrm>
            <a:off x="402336" y="4187952"/>
            <a:ext cx="8339328" cy="749808"/>
          </a:xfrm>
          <a:prstGeom prst="rect">
            <a:avLst/>
          </a:prstGeom>
          <a:noFill/>
          <a:ln/>
        </p:spPr>
        <p:txBody>
          <a:bodyPr wrap="square" rtlCol="0" anchor="ctr"/>
          <a:lstStyle/>
          <a:p>
            <a:pPr indent="0" marL="0">
              <a:buNone/>
            </a:pPr>
            <a:r>
              <a:rPr lang="en-US" sz="1050" dirty="0">
                <a:solidFill>
                  <a:srgbClr val="F87171"/>
                </a:solidFill>
                <a:latin typeface="Calibri" pitchFamily="34" charset="0"/>
                <a:ea typeface="Calibri" pitchFamily="34" charset="-122"/>
                <a:cs typeface="Calibri" pitchFamily="34" charset="-120"/>
              </a:rPr>
              <a:t>RESULT:  UserX waits on Instance A. UserY connects to Instance B. Each server has its own waitingPlayer — they never pair.</a:t>
            </a:r>
            <a:endParaRPr lang="en-US" sz="1050" dirty="0"/>
          </a:p>
          <a:p>
            <a:pPr indent="0" marL="0">
              <a:buNone/>
            </a:pPr>
            <a:r>
              <a:rPr lang="en-US" sz="1050" dirty="0">
                <a:solidFill>
                  <a:srgbClr val="F87171"/>
                </a:solidFill>
                <a:latin typeface="Calibri" pitchFamily="34" charset="0"/>
                <a:ea typeface="Calibri" pitchFamily="34" charset="-122"/>
                <a:cs typeface="Calibri" pitchFamily="34" charset="-120"/>
              </a:rPr>
              <a:t>Rooms fragment. Reconnects fail. Broadcasts only reach sockets on the same process. MATCHMAKING IS BROKEN.</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FB923C"/>
          </a:solidFill>
          <a:ln/>
        </p:spPr>
      </p:sp>
      <p:sp>
        <p:nvSpPr>
          <p:cNvPr id="3" name="Text 1"/>
          <p:cNvSpPr/>
          <p:nvPr/>
        </p:nvSpPr>
        <p:spPr>
          <a:xfrm>
            <a:off x="274320" y="164592"/>
            <a:ext cx="8595360" cy="475488"/>
          </a:xfrm>
          <a:prstGeom prst="rect">
            <a:avLst/>
          </a:prstGeom>
          <a:noFill/>
          <a:ln/>
        </p:spPr>
        <p:txBody>
          <a:bodyPr wrap="square" rtlCol="0" anchor="ctr"/>
          <a:lstStyle/>
          <a:p>
            <a:pPr indent="0" marL="0">
              <a:buNone/>
            </a:pPr>
            <a:r>
              <a:rPr lang="en-US" sz="2500" b="1" dirty="0">
                <a:solidFill>
                  <a:srgbClr val="F1F5F9"/>
                </a:solidFill>
                <a:latin typeface="Calibri" pitchFamily="34" charset="0"/>
                <a:ea typeface="Calibri" pitchFamily="34" charset="-122"/>
                <a:cs typeface="Calibri" pitchFamily="34" charset="-120"/>
              </a:rPr>
              <a:t>Current Architecture — The Problem Visualised</a:t>
            </a:r>
            <a:endParaRPr lang="en-US" sz="2500" dirty="0"/>
          </a:p>
        </p:txBody>
      </p:sp>
      <p:sp>
        <p:nvSpPr>
          <p:cNvPr id="4" name="Text 2"/>
          <p:cNvSpPr/>
          <p:nvPr/>
        </p:nvSpPr>
        <p:spPr>
          <a:xfrm>
            <a:off x="274320" y="658368"/>
            <a:ext cx="8595360" cy="256032"/>
          </a:xfrm>
          <a:prstGeom prst="rect">
            <a:avLst/>
          </a:prstGeom>
          <a:noFill/>
          <a:ln/>
        </p:spPr>
        <p:txBody>
          <a:bodyPr wrap="square" rtlCol="0" anchor="ctr"/>
          <a:lstStyle/>
          <a:p>
            <a:pPr indent="0" marL="0">
              <a:buNone/>
            </a:pPr>
            <a:r>
              <a:rPr lang="en-US" sz="1150" i="1" dirty="0">
                <a:solidFill>
                  <a:srgbClr val="94A3B8"/>
                </a:solidFill>
                <a:latin typeface="Calibri" pitchFamily="34" charset="0"/>
                <a:ea typeface="Calibri" pitchFamily="34" charset="-122"/>
                <a:cs typeface="Calibri" pitchFamily="34" charset="-120"/>
              </a:rPr>
              <a:t>Single process · client-trusted auth · God Object for all realtime logic · no shared state</a:t>
            </a:r>
            <a:endParaRPr lang="en-US" sz="1150" dirty="0"/>
          </a:p>
        </p:txBody>
      </p:sp>
      <p:sp>
        <p:nvSpPr>
          <p:cNvPr id="5" name="Shape 3"/>
          <p:cNvSpPr/>
          <p:nvPr/>
        </p:nvSpPr>
        <p:spPr>
          <a:xfrm>
            <a:off x="228600" y="914400"/>
            <a:ext cx="1828800" cy="4041648"/>
          </a:xfrm>
          <a:prstGeom prst="rect">
            <a:avLst/>
          </a:prstGeom>
          <a:solidFill>
            <a:srgbClr val="1E293B"/>
          </a:solidFill>
          <a:ln w="9525">
            <a:solidFill>
              <a:srgbClr val="22D3EE"/>
            </a:solidFill>
            <a:prstDash val="solid"/>
          </a:ln>
          <a:effectLst>
            <a:outerShdw sx="100000" sy="100000" kx="0" ky="0" algn="bl" rotWithShape="0" blurRad="76200" dist="25400" dir="8100000">
              <a:srgbClr val="000000">
                <a:alpha val="22000"/>
              </a:srgbClr>
            </a:outerShdw>
          </a:effectLst>
        </p:spPr>
      </p:sp>
      <p:sp>
        <p:nvSpPr>
          <p:cNvPr id="6" name="Text 4"/>
          <p:cNvSpPr/>
          <p:nvPr/>
        </p:nvSpPr>
        <p:spPr>
          <a:xfrm>
            <a:off x="228600" y="1005840"/>
            <a:ext cx="1828800" cy="475488"/>
          </a:xfrm>
          <a:prstGeom prst="rect">
            <a:avLst/>
          </a:prstGeom>
          <a:noFill/>
          <a:ln/>
        </p:spPr>
        <p:txBody>
          <a:bodyPr wrap="square" rtlCol="0" anchor="ctr"/>
          <a:lstStyle/>
          <a:p>
            <a:pPr algn="ctr" indent="0" marL="0">
              <a:buNone/>
            </a:pPr>
            <a:r>
              <a:rPr lang="en-US" sz="1300" b="1" dirty="0">
                <a:solidFill>
                  <a:srgbClr val="22D3EE"/>
                </a:solidFill>
                <a:latin typeface="Calibri" pitchFamily="34" charset="0"/>
                <a:ea typeface="Calibri" pitchFamily="34" charset="-122"/>
                <a:cs typeface="Calibri" pitchFamily="34" charset="-120"/>
              </a:rPr>
              <a:t>React</a:t>
            </a:r>
            <a:endParaRPr lang="en-US" sz="1300" dirty="0"/>
          </a:p>
          <a:p>
            <a:pPr algn="ctr" indent="0" marL="0">
              <a:buNone/>
            </a:pPr>
            <a:r>
              <a:rPr lang="en-US" sz="1300" b="1" dirty="0">
                <a:solidFill>
                  <a:srgbClr val="22D3EE"/>
                </a:solidFill>
                <a:latin typeface="Calibri" pitchFamily="34" charset="0"/>
                <a:ea typeface="Calibri" pitchFamily="34" charset="-122"/>
                <a:cs typeface="Calibri" pitchFamily="34" charset="-120"/>
              </a:rPr>
              <a:t>Frontend</a:t>
            </a:r>
            <a:endParaRPr lang="en-US" sz="1300" dirty="0"/>
          </a:p>
        </p:txBody>
      </p:sp>
      <p:sp>
        <p:nvSpPr>
          <p:cNvPr id="7" name="Text 5"/>
          <p:cNvSpPr/>
          <p:nvPr/>
        </p:nvSpPr>
        <p:spPr>
          <a:xfrm>
            <a:off x="320040" y="1572768"/>
            <a:ext cx="1600200" cy="3291840"/>
          </a:xfrm>
          <a:prstGeom prst="rect">
            <a:avLst/>
          </a:prstGeom>
          <a:noFill/>
          <a:ln/>
        </p:spPr>
        <p:txBody>
          <a:bodyPr wrap="square" rtlCol="0" anchor="ctr"/>
          <a:lstStyle/>
          <a:p>
            <a:pPr marL="342900" indent="-342900">
              <a:buSzPct val="100000"/>
              <a:buChar char="•"/>
            </a:pPr>
            <a:r>
              <a:rPr lang="en-US" sz="950" dirty="0">
                <a:solidFill>
                  <a:srgbClr val="F87171"/>
                </a:solidFill>
                <a:latin typeface="Calibri" pitchFamily="34" charset="0"/>
                <a:ea typeface="Calibri" pitchFamily="34" charset="-122"/>
                <a:cs typeface="Calibri" pitchFamily="34" charset="-120"/>
              </a:rPr>
              <a:t>JWT in localStorage</a:t>
            </a:r>
            <a:endParaRPr lang="en-US" sz="950" dirty="0"/>
          </a:p>
          <a:p>
            <a:pPr marL="342900" indent="-342900">
              <a:buSzPct val="100000"/>
              <a:buChar char="•"/>
            </a:pPr>
            <a:r>
              <a:rPr lang="en-US" sz="950" dirty="0">
                <a:solidFill>
                  <a:srgbClr val="F87171"/>
                </a:solidFill>
                <a:latin typeface="Calibri" pitchFamily="34" charset="0"/>
                <a:ea typeface="Calibri" pitchFamily="34" charset="-122"/>
                <a:cs typeface="Calibri" pitchFamily="34" charset="-120"/>
              </a:rPr>
              <a:t>Client decodes token</a:t>
            </a:r>
            <a:endParaRPr lang="en-US" sz="950" dirty="0"/>
          </a:p>
          <a:p>
            <a:pPr marL="342900" indent="-342900">
              <a:buSzPct val="100000"/>
              <a:buChar char="•"/>
            </a:pPr>
            <a:r>
              <a:rPr lang="en-US" sz="950" dirty="0">
                <a:solidFill>
                  <a:srgbClr val="F87171"/>
                </a:solidFill>
                <a:latin typeface="Calibri" pitchFamily="34" charset="0"/>
                <a:ea typeface="Calibri" pitchFamily="34" charset="-122"/>
                <a:cs typeface="Calibri" pitchFamily="34" charset="-120"/>
              </a:rPr>
              <a:t>userId in socket emit</a:t>
            </a:r>
            <a:endParaRPr lang="en-US" sz="950" dirty="0"/>
          </a:p>
          <a:p>
            <a:pPr marL="342900" indent="-342900">
              <a:buSzPct val="100000"/>
              <a:buChar char="•"/>
            </a:pPr>
            <a:r>
              <a:rPr lang="en-US" sz="950" dirty="0">
                <a:solidFill>
                  <a:srgbClr val="94A3B8"/>
                </a:solidFill>
                <a:latin typeface="Calibri" pitchFamily="34" charset="0"/>
                <a:ea typeface="Calibri" pitchFamily="34" charset="-122"/>
                <a:cs typeface="Calibri" pitchFamily="34" charset="-120"/>
              </a:rPr>
              <a:t>Socket.IO client</a:t>
            </a:r>
            <a:endParaRPr lang="en-US" sz="950" dirty="0"/>
          </a:p>
          <a:p>
            <a:pPr marL="342900" indent="-342900">
              <a:buSzPct val="100000"/>
              <a:buChar char="•"/>
            </a:pPr>
            <a:r>
              <a:rPr lang="en-US" sz="950" dirty="0">
                <a:solidFill>
                  <a:srgbClr val="94A3B8"/>
                </a:solidFill>
                <a:latin typeface="Calibri" pitchFamily="34" charset="0"/>
                <a:ea typeface="Calibri" pitchFamily="34" charset="-122"/>
                <a:cs typeface="Calibri" pitchFamily="34" charset="-120"/>
              </a:rPr>
              <a:t>Auth context</a:t>
            </a:r>
            <a:endParaRPr lang="en-US" sz="950" dirty="0"/>
          </a:p>
          <a:p>
            <a:pPr marL="342900" indent="-342900">
              <a:buSzPct val="100000"/>
              <a:buChar char="•"/>
            </a:pPr>
            <a:r>
              <a:rPr lang="en-US" sz="950" dirty="0">
                <a:solidFill>
                  <a:srgbClr val="94A3B8"/>
                </a:solidFill>
                <a:latin typeface="Calibri" pitchFamily="34" charset="0"/>
                <a:ea typeface="Calibri" pitchFamily="34" charset="-122"/>
                <a:cs typeface="Calibri" pitchFamily="34" charset="-120"/>
              </a:rPr>
              <a:t>Pages / components</a:t>
            </a:r>
            <a:endParaRPr lang="en-US" sz="950" dirty="0"/>
          </a:p>
        </p:txBody>
      </p:sp>
      <p:sp>
        <p:nvSpPr>
          <p:cNvPr id="8" name="Text 6"/>
          <p:cNvSpPr/>
          <p:nvPr/>
        </p:nvSpPr>
        <p:spPr>
          <a:xfrm>
            <a:off x="2103120" y="2606040"/>
            <a:ext cx="457200" cy="457200"/>
          </a:xfrm>
          <a:prstGeom prst="rect">
            <a:avLst/>
          </a:prstGeom>
          <a:noFill/>
          <a:ln/>
        </p:spPr>
        <p:txBody>
          <a:bodyPr wrap="square" rtlCol="0" anchor="ctr"/>
          <a:lstStyle/>
          <a:p>
            <a:pPr algn="ctr" indent="0" marL="0">
              <a:buNone/>
            </a:pPr>
            <a:r>
              <a:rPr lang="en-US" sz="2200" dirty="0">
                <a:solidFill>
                  <a:srgbClr val="334155"/>
                </a:solidFill>
                <a:latin typeface="Calibri" pitchFamily="34" charset="0"/>
                <a:ea typeface="Calibri" pitchFamily="34" charset="-122"/>
                <a:cs typeface="Calibri" pitchFamily="34" charset="-120"/>
              </a:rPr>
              <a:t>→</a:t>
            </a:r>
            <a:endParaRPr lang="en-US" sz="2200" dirty="0"/>
          </a:p>
        </p:txBody>
      </p:sp>
      <p:sp>
        <p:nvSpPr>
          <p:cNvPr id="9" name="Shape 7"/>
          <p:cNvSpPr/>
          <p:nvPr/>
        </p:nvSpPr>
        <p:spPr>
          <a:xfrm>
            <a:off x="2633472" y="914400"/>
            <a:ext cx="3611880" cy="4041648"/>
          </a:xfrm>
          <a:prstGeom prst="rect">
            <a:avLst/>
          </a:prstGeom>
          <a:solidFill>
            <a:srgbClr val="1E293B"/>
          </a:solidFill>
          <a:ln w="9525">
            <a:solidFill>
              <a:srgbClr val="FB923C"/>
            </a:solidFill>
            <a:prstDash val="solid"/>
          </a:ln>
          <a:effectLst>
            <a:outerShdw sx="100000" sy="100000" kx="0" ky="0" algn="bl" rotWithShape="0" blurRad="76200" dist="25400" dir="8100000">
              <a:srgbClr val="000000">
                <a:alpha val="22000"/>
              </a:srgbClr>
            </a:outerShdw>
          </a:effectLst>
        </p:spPr>
      </p:sp>
      <p:sp>
        <p:nvSpPr>
          <p:cNvPr id="10" name="Text 8"/>
          <p:cNvSpPr/>
          <p:nvPr/>
        </p:nvSpPr>
        <p:spPr>
          <a:xfrm>
            <a:off x="2633472" y="1005840"/>
            <a:ext cx="3611880" cy="365760"/>
          </a:xfrm>
          <a:prstGeom prst="rect">
            <a:avLst/>
          </a:prstGeom>
          <a:noFill/>
          <a:ln/>
        </p:spPr>
        <p:txBody>
          <a:bodyPr wrap="square" rtlCol="0" anchor="ctr"/>
          <a:lstStyle/>
          <a:p>
            <a:pPr algn="ctr" indent="0" marL="0">
              <a:buNone/>
            </a:pPr>
            <a:r>
              <a:rPr lang="en-US" sz="1300" b="1" dirty="0">
                <a:solidFill>
                  <a:srgbClr val="FB923C"/>
                </a:solidFill>
                <a:latin typeface="Calibri" pitchFamily="34" charset="0"/>
                <a:ea typeface="Calibri" pitchFamily="34" charset="-122"/>
                <a:cs typeface="Calibri" pitchFamily="34" charset="-120"/>
              </a:rPr>
              <a:t>Node.js Backend</a:t>
            </a:r>
            <a:endParaRPr lang="en-US" sz="1300" dirty="0"/>
          </a:p>
        </p:txBody>
      </p:sp>
      <p:sp>
        <p:nvSpPr>
          <p:cNvPr id="11" name="Shape 9"/>
          <p:cNvSpPr/>
          <p:nvPr/>
        </p:nvSpPr>
        <p:spPr>
          <a:xfrm>
            <a:off x="2816352" y="1463040"/>
            <a:ext cx="3246120" cy="713232"/>
          </a:xfrm>
          <a:prstGeom prst="rect">
            <a:avLst/>
          </a:prstGeom>
          <a:solidFill>
            <a:srgbClr val="0D1929"/>
          </a:solidFill>
          <a:ln w="6350">
            <a:solidFill>
              <a:srgbClr val="6366F1"/>
            </a:solidFill>
            <a:prstDash val="solid"/>
          </a:ln>
        </p:spPr>
      </p:sp>
      <p:sp>
        <p:nvSpPr>
          <p:cNvPr id="12" name="Text 10"/>
          <p:cNvSpPr/>
          <p:nvPr/>
        </p:nvSpPr>
        <p:spPr>
          <a:xfrm>
            <a:off x="2816352" y="1463040"/>
            <a:ext cx="3246120" cy="713232"/>
          </a:xfrm>
          <a:prstGeom prst="rect">
            <a:avLst/>
          </a:prstGeom>
          <a:noFill/>
          <a:ln/>
        </p:spPr>
        <p:txBody>
          <a:bodyPr wrap="square" rtlCol="0" anchor="ctr"/>
          <a:lstStyle/>
          <a:p>
            <a:pPr algn="ctr" indent="0" marL="0">
              <a:buNone/>
            </a:pPr>
            <a:r>
              <a:rPr lang="en-US" sz="950" dirty="0">
                <a:solidFill>
                  <a:srgbClr val="6366F1"/>
                </a:solidFill>
                <a:latin typeface="Calibri" pitchFamily="34" charset="0"/>
                <a:ea typeface="Calibri" pitchFamily="34" charset="-122"/>
                <a:cs typeface="Calibri" pitchFamily="34" charset="-120"/>
              </a:rPr>
              <a:t>Express HTTP  ·  /auth  /leaderboard  /sudoku  /rooms</a:t>
            </a:r>
            <a:endParaRPr lang="en-US" sz="950" dirty="0"/>
          </a:p>
        </p:txBody>
      </p:sp>
      <p:sp>
        <p:nvSpPr>
          <p:cNvPr id="13" name="Shape 11"/>
          <p:cNvSpPr/>
          <p:nvPr/>
        </p:nvSpPr>
        <p:spPr>
          <a:xfrm>
            <a:off x="2816352" y="2304288"/>
            <a:ext cx="3246120" cy="2523744"/>
          </a:xfrm>
          <a:prstGeom prst="rect">
            <a:avLst/>
          </a:prstGeom>
          <a:solidFill>
            <a:srgbClr val="160808"/>
          </a:solidFill>
          <a:ln w="19050">
            <a:solidFill>
              <a:srgbClr val="F87171"/>
            </a:solidFill>
            <a:prstDash val="solid"/>
          </a:ln>
        </p:spPr>
      </p:sp>
      <p:sp>
        <p:nvSpPr>
          <p:cNvPr id="14" name="Text 12"/>
          <p:cNvSpPr/>
          <p:nvPr/>
        </p:nvSpPr>
        <p:spPr>
          <a:xfrm>
            <a:off x="2816352" y="2377440"/>
            <a:ext cx="3246120" cy="320040"/>
          </a:xfrm>
          <a:prstGeom prst="rect">
            <a:avLst/>
          </a:prstGeom>
          <a:noFill/>
          <a:ln/>
        </p:spPr>
        <p:txBody>
          <a:bodyPr wrap="square" rtlCol="0" anchor="ctr"/>
          <a:lstStyle/>
          <a:p>
            <a:pPr algn="ctr" indent="0" marL="0">
              <a:buNone/>
            </a:pPr>
            <a:r>
              <a:rPr lang="en-US" sz="1100" b="1" dirty="0">
                <a:solidFill>
                  <a:srgbClr val="F87171"/>
                </a:solidFill>
                <a:latin typeface="Calibri" pitchFamily="34" charset="0"/>
                <a:ea typeface="Calibri" pitchFamily="34" charset="-122"/>
                <a:cs typeface="Calibri" pitchFamily="34" charset="-120"/>
              </a:rPr>
              <a:t>⚠  gameSocket.js  —  GOD OBJECT</a:t>
            </a:r>
            <a:endParaRPr lang="en-US" sz="1100" dirty="0"/>
          </a:p>
        </p:txBody>
      </p:sp>
      <p:sp>
        <p:nvSpPr>
          <p:cNvPr id="15" name="Text 13"/>
          <p:cNvSpPr/>
          <p:nvPr/>
        </p:nvSpPr>
        <p:spPr>
          <a:xfrm>
            <a:off x="2871216" y="2743200"/>
            <a:ext cx="3108960" cy="1993392"/>
          </a:xfrm>
          <a:prstGeom prst="rect">
            <a:avLst/>
          </a:prstGeom>
          <a:noFill/>
          <a:ln/>
        </p:spPr>
        <p:txBody>
          <a:bodyPr wrap="square" rtlCol="0" anchor="ctr"/>
          <a:lstStyle/>
          <a:p>
            <a:pPr marL="342900" indent="-342900">
              <a:buSzPct val="100000"/>
              <a:buChar char="•"/>
            </a:pPr>
            <a:r>
              <a:rPr lang="en-US" sz="950" dirty="0">
                <a:solidFill>
                  <a:srgbClr val="FB923C"/>
                </a:solidFill>
                <a:latin typeface="Calibri" pitchFamily="34" charset="0"/>
                <a:ea typeface="Calibri" pitchFamily="34" charset="-122"/>
                <a:cs typeface="Calibri" pitchFamily="34" charset="-120"/>
              </a:rPr>
              <a:t>Matchmaking queue (in-memory)</a:t>
            </a:r>
            <a:endParaRPr lang="en-US" sz="950" dirty="0"/>
          </a:p>
          <a:p>
            <a:pPr marL="342900" indent="-342900">
              <a:buSzPct val="100000"/>
              <a:buChar char="•"/>
            </a:pPr>
            <a:r>
              <a:rPr lang="en-US" sz="950" dirty="0">
                <a:solidFill>
                  <a:srgbClr val="FB923C"/>
                </a:solidFill>
                <a:latin typeface="Calibri" pitchFamily="34" charset="0"/>
                <a:ea typeface="Calibri" pitchFamily="34" charset="-122"/>
                <a:cs typeface="Calibri" pitchFamily="34" charset="-120"/>
              </a:rPr>
              <a:t>Room create / join / leave logic</a:t>
            </a:r>
            <a:endParaRPr lang="en-US" sz="950" dirty="0"/>
          </a:p>
          <a:p>
            <a:pPr marL="342900" indent="-342900">
              <a:buSzPct val="100000"/>
              <a:buChar char="•"/>
            </a:pPr>
            <a:r>
              <a:rPr lang="en-US" sz="950" dirty="0">
                <a:solidFill>
                  <a:srgbClr val="FB923C"/>
                </a:solidFill>
                <a:latin typeface="Calibri" pitchFamily="34" charset="0"/>
                <a:ea typeface="Calibri" pitchFamily="34" charset="-122"/>
                <a:cs typeface="Calibri" pitchFamily="34" charset="-120"/>
              </a:rPr>
              <a:t>Game move validation</a:t>
            </a:r>
            <a:endParaRPr lang="en-US" sz="950" dirty="0"/>
          </a:p>
          <a:p>
            <a:pPr marL="342900" indent="-342900">
              <a:buSzPct val="100000"/>
              <a:buChar char="•"/>
            </a:pPr>
            <a:r>
              <a:rPr lang="en-US" sz="950" dirty="0">
                <a:solidFill>
                  <a:srgbClr val="FB923C"/>
                </a:solidFill>
                <a:latin typeface="Calibri" pitchFamily="34" charset="0"/>
                <a:ea typeface="Calibri" pitchFamily="34" charset="-122"/>
                <a:cs typeface="Calibri" pitchFamily="34" charset="-120"/>
              </a:rPr>
              <a:t>Winner detection</a:t>
            </a:r>
            <a:endParaRPr lang="en-US" sz="950" dirty="0"/>
          </a:p>
          <a:p>
            <a:pPr marL="342900" indent="-342900">
              <a:buSzPct val="100000"/>
              <a:buChar char="•"/>
            </a:pPr>
            <a:r>
              <a:rPr lang="en-US" sz="950" dirty="0">
                <a:solidFill>
                  <a:srgbClr val="F87171"/>
                </a:solidFill>
                <a:latin typeface="Calibri" pitchFamily="34" charset="0"/>
                <a:ea typeface="Calibri" pitchFamily="34" charset="-122"/>
                <a:cs typeface="Calibri" pitchFamily="34" charset="-120"/>
              </a:rPr>
              <a:t>Stats DB write inside socket</a:t>
            </a:r>
            <a:endParaRPr lang="en-US" sz="950" dirty="0"/>
          </a:p>
          <a:p>
            <a:pPr marL="342900" indent="-342900">
              <a:buSzPct val="100000"/>
              <a:buChar char="•"/>
            </a:pPr>
            <a:r>
              <a:rPr lang="en-US" sz="950" dirty="0">
                <a:solidFill>
                  <a:srgbClr val="FB923C"/>
                </a:solidFill>
                <a:latin typeface="Calibri" pitchFamily="34" charset="0"/>
                <a:ea typeface="Calibri" pitchFamily="34" charset="-122"/>
                <a:cs typeface="Calibri" pitchFamily="34" charset="-120"/>
              </a:rPr>
              <a:t>Disconnect / forfeit handling</a:t>
            </a:r>
            <a:endParaRPr lang="en-US" sz="950" dirty="0"/>
          </a:p>
        </p:txBody>
      </p:sp>
      <p:sp>
        <p:nvSpPr>
          <p:cNvPr id="16" name="Text 14"/>
          <p:cNvSpPr/>
          <p:nvPr/>
        </p:nvSpPr>
        <p:spPr>
          <a:xfrm>
            <a:off x="6309360" y="2606040"/>
            <a:ext cx="457200" cy="457200"/>
          </a:xfrm>
          <a:prstGeom prst="rect">
            <a:avLst/>
          </a:prstGeom>
          <a:noFill/>
          <a:ln/>
        </p:spPr>
        <p:txBody>
          <a:bodyPr wrap="square" rtlCol="0" anchor="ctr"/>
          <a:lstStyle/>
          <a:p>
            <a:pPr algn="ctr" indent="0" marL="0">
              <a:buNone/>
            </a:pPr>
            <a:r>
              <a:rPr lang="en-US" sz="2200" dirty="0">
                <a:solidFill>
                  <a:srgbClr val="334155"/>
                </a:solidFill>
                <a:latin typeface="Calibri" pitchFamily="34" charset="0"/>
                <a:ea typeface="Calibri" pitchFamily="34" charset="-122"/>
                <a:cs typeface="Calibri" pitchFamily="34" charset="-120"/>
              </a:rPr>
              <a:t>→</a:t>
            </a:r>
            <a:endParaRPr lang="en-US" sz="2200" dirty="0"/>
          </a:p>
        </p:txBody>
      </p:sp>
      <p:sp>
        <p:nvSpPr>
          <p:cNvPr id="17" name="Shape 15"/>
          <p:cNvSpPr/>
          <p:nvPr/>
        </p:nvSpPr>
        <p:spPr>
          <a:xfrm>
            <a:off x="6839712" y="914400"/>
            <a:ext cx="2048256" cy="1965960"/>
          </a:xfrm>
          <a:prstGeom prst="rect">
            <a:avLst/>
          </a:prstGeom>
          <a:solidFill>
            <a:srgbClr val="1E293B"/>
          </a:solidFill>
          <a:ln w="9525">
            <a:solidFill>
              <a:srgbClr val="FB923C"/>
            </a:solidFill>
            <a:prstDash val="solid"/>
          </a:ln>
          <a:effectLst>
            <a:outerShdw sx="100000" sy="100000" kx="0" ky="0" algn="bl" rotWithShape="0" blurRad="76200" dist="25400" dir="8100000">
              <a:srgbClr val="000000">
                <a:alpha val="22000"/>
              </a:srgbClr>
            </a:outerShdw>
          </a:effectLst>
        </p:spPr>
      </p:sp>
      <p:sp>
        <p:nvSpPr>
          <p:cNvPr id="18" name="Text 16"/>
          <p:cNvSpPr/>
          <p:nvPr/>
        </p:nvSpPr>
        <p:spPr>
          <a:xfrm>
            <a:off x="6839712" y="1005840"/>
            <a:ext cx="2048256" cy="347472"/>
          </a:xfrm>
          <a:prstGeom prst="rect">
            <a:avLst/>
          </a:prstGeom>
          <a:noFill/>
          <a:ln/>
        </p:spPr>
        <p:txBody>
          <a:bodyPr wrap="square" rtlCol="0" anchor="ctr"/>
          <a:lstStyle/>
          <a:p>
            <a:pPr algn="ctr" indent="0" marL="0">
              <a:buNone/>
            </a:pPr>
            <a:r>
              <a:rPr lang="en-US" sz="1300" b="1" dirty="0">
                <a:solidFill>
                  <a:srgbClr val="FB923C"/>
                </a:solidFill>
                <a:latin typeface="Calibri" pitchFamily="34" charset="0"/>
                <a:ea typeface="Calibri" pitchFamily="34" charset="-122"/>
                <a:cs typeface="Calibri" pitchFamily="34" charset="-120"/>
              </a:rPr>
              <a:t>MongoDB</a:t>
            </a:r>
            <a:endParaRPr lang="en-US" sz="1300" dirty="0"/>
          </a:p>
        </p:txBody>
      </p:sp>
      <p:sp>
        <p:nvSpPr>
          <p:cNvPr id="19" name="Text 17"/>
          <p:cNvSpPr/>
          <p:nvPr/>
        </p:nvSpPr>
        <p:spPr>
          <a:xfrm>
            <a:off x="6931152" y="1444752"/>
            <a:ext cx="1828800" cy="1353312"/>
          </a:xfrm>
          <a:prstGeom prst="rect">
            <a:avLst/>
          </a:prstGeom>
          <a:noFill/>
          <a:ln/>
        </p:spPr>
        <p:txBody>
          <a:bodyPr wrap="square" rtlCol="0" anchor="ctr"/>
          <a:lstStyle/>
          <a:p>
            <a:pPr marL="342900" indent="-342900">
              <a:buSzPct val="100000"/>
              <a:buChar char="•"/>
            </a:pPr>
            <a:r>
              <a:rPr lang="en-US" sz="1000" dirty="0">
                <a:solidFill>
                  <a:srgbClr val="94A3B8"/>
                </a:solidFill>
                <a:latin typeface="Calibri" pitchFamily="34" charset="0"/>
                <a:ea typeface="Calibri" pitchFamily="34" charset="-122"/>
                <a:cs typeface="Calibri" pitchFamily="34" charset="-120"/>
              </a:rPr>
              <a:t>Users</a:t>
            </a:r>
            <a:endParaRPr lang="en-US" sz="1000" dirty="0"/>
          </a:p>
          <a:p>
            <a:pPr marL="342900" indent="-342900">
              <a:buSzPct val="100000"/>
              <a:buChar char="•"/>
            </a:pPr>
            <a:r>
              <a:rPr lang="en-US" sz="1000" dirty="0">
                <a:solidFill>
                  <a:srgbClr val="94A3B8"/>
                </a:solidFill>
                <a:latin typeface="Calibri" pitchFamily="34" charset="0"/>
                <a:ea typeface="Calibri" pitchFamily="34" charset="-122"/>
                <a:cs typeface="Calibri" pitchFamily="34" charset="-120"/>
              </a:rPr>
              <a:t>Rooms (TTL)</a:t>
            </a:r>
            <a:endParaRPr lang="en-US" sz="1000" dirty="0"/>
          </a:p>
          <a:p>
            <a:pPr marL="342900" indent="-342900">
              <a:buSzPct val="100000"/>
              <a:buChar char="•"/>
            </a:pPr>
            <a:r>
              <a:rPr lang="en-US" sz="1000" dirty="0">
                <a:solidFill>
                  <a:srgbClr val="94A3B8"/>
                </a:solidFill>
                <a:latin typeface="Calibri" pitchFamily="34" charset="0"/>
                <a:ea typeface="Calibri" pitchFamily="34" charset="-122"/>
                <a:cs typeface="Calibri" pitchFamily="34" charset="-120"/>
              </a:rPr>
              <a:t>Leaderboard</a:t>
            </a:r>
            <a:endParaRPr lang="en-US" sz="1000" dirty="0"/>
          </a:p>
          <a:p>
            <a:pPr marL="342900" indent="-342900">
              <a:buSzPct val="100000"/>
              <a:buChar char="•"/>
            </a:pPr>
            <a:r>
              <a:rPr lang="en-US" sz="1000" dirty="0">
                <a:solidFill>
                  <a:srgbClr val="94A3B8"/>
                </a:solidFill>
                <a:latin typeface="Calibri" pitchFamily="34" charset="0"/>
                <a:ea typeface="Calibri" pitchFamily="34" charset="-122"/>
                <a:cs typeface="Calibri" pitchFamily="34" charset="-120"/>
              </a:rPr>
              <a:t>Match History</a:t>
            </a:r>
            <a:endParaRPr lang="en-US" sz="1000" dirty="0"/>
          </a:p>
        </p:txBody>
      </p:sp>
      <p:sp>
        <p:nvSpPr>
          <p:cNvPr id="20" name="Shape 18"/>
          <p:cNvSpPr/>
          <p:nvPr/>
        </p:nvSpPr>
        <p:spPr>
          <a:xfrm>
            <a:off x="6839712" y="2999232"/>
            <a:ext cx="2048256" cy="1956816"/>
          </a:xfrm>
          <a:prstGeom prst="rect">
            <a:avLst/>
          </a:prstGeom>
          <a:solidFill>
            <a:srgbClr val="160808"/>
          </a:solidFill>
          <a:ln w="12700">
            <a:solidFill>
              <a:srgbClr val="F87171"/>
            </a:solidFill>
            <a:prstDash val="solid"/>
          </a:ln>
          <a:effectLst>
            <a:outerShdw sx="100000" sy="100000" kx="0" ky="0" algn="bl" rotWithShape="0" blurRad="76200" dist="25400" dir="8100000">
              <a:srgbClr val="000000">
                <a:alpha val="22000"/>
              </a:srgbClr>
            </a:outerShdw>
          </a:effectLst>
        </p:spPr>
      </p:sp>
      <p:sp>
        <p:nvSpPr>
          <p:cNvPr id="21" name="Text 19"/>
          <p:cNvSpPr/>
          <p:nvPr/>
        </p:nvSpPr>
        <p:spPr>
          <a:xfrm>
            <a:off x="6839712" y="3090672"/>
            <a:ext cx="2048256" cy="502920"/>
          </a:xfrm>
          <a:prstGeom prst="rect">
            <a:avLst/>
          </a:prstGeom>
          <a:noFill/>
          <a:ln/>
        </p:spPr>
        <p:txBody>
          <a:bodyPr wrap="square" rtlCol="0" anchor="ctr"/>
          <a:lstStyle/>
          <a:p>
            <a:pPr algn="ctr" indent="0" marL="0">
              <a:buNone/>
            </a:pPr>
            <a:r>
              <a:rPr lang="en-US" sz="1100" b="1" dirty="0">
                <a:solidFill>
                  <a:srgbClr val="F87171"/>
                </a:solidFill>
                <a:latin typeface="Calibri" pitchFamily="34" charset="0"/>
                <a:ea typeface="Calibri" pitchFamily="34" charset="-122"/>
                <a:cs typeface="Calibri" pitchFamily="34" charset="-120"/>
              </a:rPr>
              <a:t>⚠ PROCESS</a:t>
            </a:r>
            <a:endParaRPr lang="en-US" sz="1100" dirty="0"/>
          </a:p>
          <a:p>
            <a:pPr algn="ctr" indent="0" marL="0">
              <a:buNone/>
            </a:pPr>
            <a:r>
              <a:rPr lang="en-US" sz="1100" b="1" dirty="0">
                <a:solidFill>
                  <a:srgbClr val="F87171"/>
                </a:solidFill>
                <a:latin typeface="Calibri" pitchFamily="34" charset="0"/>
                <a:ea typeface="Calibri" pitchFamily="34" charset="-122"/>
                <a:cs typeface="Calibri" pitchFamily="34" charset="-120"/>
              </a:rPr>
              <a:t>MEMORY</a:t>
            </a:r>
            <a:endParaRPr lang="en-US" sz="1100" dirty="0"/>
          </a:p>
        </p:txBody>
      </p:sp>
      <p:sp>
        <p:nvSpPr>
          <p:cNvPr id="22" name="Text 20"/>
          <p:cNvSpPr/>
          <p:nvPr/>
        </p:nvSpPr>
        <p:spPr>
          <a:xfrm>
            <a:off x="6931152" y="3657600"/>
            <a:ext cx="1828800" cy="1188720"/>
          </a:xfrm>
          <a:prstGeom prst="rect">
            <a:avLst/>
          </a:prstGeom>
          <a:noFill/>
          <a:ln/>
        </p:spPr>
        <p:txBody>
          <a:bodyPr wrap="square" rtlCol="0" anchor="ctr"/>
          <a:lstStyle/>
          <a:p>
            <a:pPr marL="342900" indent="-342900">
              <a:buSzPct val="100000"/>
              <a:buChar char="•"/>
            </a:pPr>
            <a:r>
              <a:rPr lang="en-US" sz="950" dirty="0">
                <a:solidFill>
                  <a:srgbClr val="FB923C"/>
                </a:solidFill>
                <a:latin typeface="Calibri" pitchFamily="34" charset="0"/>
                <a:ea typeface="Calibri" pitchFamily="34" charset="-122"/>
                <a:cs typeface="Calibri" pitchFamily="34" charset="-120"/>
              </a:rPr>
              <a:t>waitingPlayer</a:t>
            </a:r>
            <a:endParaRPr lang="en-US" sz="950" dirty="0"/>
          </a:p>
          <a:p>
            <a:pPr marL="342900" indent="-342900">
              <a:buSzPct val="100000"/>
              <a:buChar char="•"/>
            </a:pPr>
            <a:r>
              <a:rPr lang="en-US" sz="950" dirty="0">
                <a:solidFill>
                  <a:srgbClr val="FB923C"/>
                </a:solidFill>
                <a:latin typeface="Calibri" pitchFamily="34" charset="0"/>
                <a:ea typeface="Calibri" pitchFamily="34" charset="-122"/>
                <a:cs typeface="Calibri" pitchFamily="34" charset="-120"/>
              </a:rPr>
              <a:t>socketRoomMap</a:t>
            </a:r>
            <a:endParaRPr lang="en-US" sz="950" dirty="0"/>
          </a:p>
          <a:p>
            <a:pPr marL="342900" indent="-342900">
              <a:buSzPct val="100000"/>
              <a:buChar char="•"/>
            </a:pPr>
            <a:r>
              <a:rPr lang="en-US" sz="950" dirty="0">
                <a:solidFill>
                  <a:srgbClr val="FB923C"/>
                </a:solidFill>
                <a:latin typeface="Calibri" pitchFamily="34" charset="0"/>
                <a:ea typeface="Calibri" pitchFamily="34" charset="-122"/>
                <a:cs typeface="Calibri" pitchFamily="34" charset="-120"/>
              </a:rPr>
              <a:t>Socket.IO rooms</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4ADE80"/>
          </a:solidFill>
          <a:ln/>
        </p:spPr>
      </p:sp>
      <p:sp>
        <p:nvSpPr>
          <p:cNvPr id="3" name="Text 1"/>
          <p:cNvSpPr/>
          <p:nvPr/>
        </p:nvSpPr>
        <p:spPr>
          <a:xfrm>
            <a:off x="274320" y="164592"/>
            <a:ext cx="8595360" cy="475488"/>
          </a:xfrm>
          <a:prstGeom prst="rect">
            <a:avLst/>
          </a:prstGeom>
          <a:noFill/>
          <a:ln/>
        </p:spPr>
        <p:txBody>
          <a:bodyPr wrap="square" rtlCol="0" anchor="ctr"/>
          <a:lstStyle/>
          <a:p>
            <a:pPr indent="0" marL="0">
              <a:buNone/>
            </a:pPr>
            <a:r>
              <a:rPr lang="en-US" sz="2500" b="1" dirty="0">
                <a:solidFill>
                  <a:srgbClr val="F1F5F9"/>
                </a:solidFill>
                <a:latin typeface="Calibri" pitchFamily="34" charset="0"/>
                <a:ea typeface="Calibri" pitchFamily="34" charset="-122"/>
                <a:cs typeface="Calibri" pitchFamily="34" charset="-120"/>
              </a:rPr>
              <a:t>Target Architecture — Production-Grade Platform</a:t>
            </a:r>
            <a:endParaRPr lang="en-US" sz="2500" dirty="0"/>
          </a:p>
        </p:txBody>
      </p:sp>
      <p:sp>
        <p:nvSpPr>
          <p:cNvPr id="4" name="Text 2"/>
          <p:cNvSpPr/>
          <p:nvPr/>
        </p:nvSpPr>
        <p:spPr>
          <a:xfrm>
            <a:off x="274320" y="658368"/>
            <a:ext cx="8595360" cy="256032"/>
          </a:xfrm>
          <a:prstGeom prst="rect">
            <a:avLst/>
          </a:prstGeom>
          <a:noFill/>
          <a:ln/>
        </p:spPr>
        <p:txBody>
          <a:bodyPr wrap="square" rtlCol="0" anchor="ctr"/>
          <a:lstStyle/>
          <a:p>
            <a:pPr indent="0" marL="0">
              <a:buNone/>
            </a:pPr>
            <a:r>
              <a:rPr lang="en-US" sz="1150" i="1" dirty="0">
                <a:solidFill>
                  <a:srgbClr val="94A3B8"/>
                </a:solidFill>
                <a:latin typeface="Calibri" pitchFamily="34" charset="0"/>
                <a:ea typeface="Calibri" pitchFamily="34" charset="-122"/>
                <a:cs typeface="Calibri" pitchFamily="34" charset="-120"/>
              </a:rPr>
              <a:t>Modular monolith · Redis shared state · PostgreSQL · Horizontally scalable</a:t>
            </a:r>
            <a:endParaRPr lang="en-US" sz="1150" dirty="0"/>
          </a:p>
        </p:txBody>
      </p:sp>
      <p:sp>
        <p:nvSpPr>
          <p:cNvPr id="5" name="Shape 3"/>
          <p:cNvSpPr/>
          <p:nvPr/>
        </p:nvSpPr>
        <p:spPr>
          <a:xfrm>
            <a:off x="256032" y="914400"/>
            <a:ext cx="3520440" cy="493776"/>
          </a:xfrm>
          <a:prstGeom prst="rect">
            <a:avLst/>
          </a:prstGeom>
          <a:solidFill>
            <a:srgbClr val="1E293B"/>
          </a:solidFill>
          <a:ln w="9525">
            <a:solidFill>
              <a:srgbClr val="22D3EE"/>
            </a:solidFill>
            <a:prstDash val="solid"/>
          </a:ln>
          <a:effectLst>
            <a:outerShdw sx="100000" sy="100000" kx="0" ky="0" algn="bl" rotWithShape="0" blurRad="76200" dist="25400" dir="8100000">
              <a:srgbClr val="000000">
                <a:alpha val="22000"/>
              </a:srgbClr>
            </a:outerShdw>
          </a:effectLst>
        </p:spPr>
      </p:sp>
      <p:sp>
        <p:nvSpPr>
          <p:cNvPr id="6" name="Text 4"/>
          <p:cNvSpPr/>
          <p:nvPr/>
        </p:nvSpPr>
        <p:spPr>
          <a:xfrm>
            <a:off x="256032" y="914400"/>
            <a:ext cx="3520440" cy="493776"/>
          </a:xfrm>
          <a:prstGeom prst="rect">
            <a:avLst/>
          </a:prstGeom>
          <a:noFill/>
          <a:ln/>
        </p:spPr>
        <p:txBody>
          <a:bodyPr wrap="square" rtlCol="0" anchor="ctr"/>
          <a:lstStyle/>
          <a:p>
            <a:pPr algn="ctr" indent="0" marL="0">
              <a:buNone/>
            </a:pPr>
            <a:r>
              <a:rPr lang="en-US" sz="1100" dirty="0">
                <a:solidFill>
                  <a:srgbClr val="22D3EE"/>
                </a:solidFill>
                <a:latin typeface="Calibri" pitchFamily="34" charset="0"/>
                <a:ea typeface="Calibri" pitchFamily="34" charset="-122"/>
                <a:cs typeface="Calibri" pitchFamily="34" charset="-120"/>
              </a:rPr>
              <a:t>React + TypeScript Frontend</a:t>
            </a:r>
            <a:endParaRPr lang="en-US" sz="1100" dirty="0"/>
          </a:p>
        </p:txBody>
      </p:sp>
      <p:sp>
        <p:nvSpPr>
          <p:cNvPr id="7" name="Text 5"/>
          <p:cNvSpPr/>
          <p:nvPr/>
        </p:nvSpPr>
        <p:spPr>
          <a:xfrm>
            <a:off x="1719072" y="1426464"/>
            <a:ext cx="365760" cy="182880"/>
          </a:xfrm>
          <a:prstGeom prst="rect">
            <a:avLst/>
          </a:prstGeom>
          <a:noFill/>
          <a:ln/>
        </p:spPr>
        <p:txBody>
          <a:bodyPr wrap="square" rtlCol="0" anchor="ctr"/>
          <a:lstStyle/>
          <a:p>
            <a:pPr algn="ctr" indent="0" marL="0">
              <a:buNone/>
            </a:pPr>
            <a:r>
              <a:rPr lang="en-US" sz="1200" dirty="0">
                <a:solidFill>
                  <a:srgbClr val="334155"/>
                </a:solidFill>
                <a:latin typeface="Calibri" pitchFamily="34" charset="0"/>
                <a:ea typeface="Calibri" pitchFamily="34" charset="-122"/>
                <a:cs typeface="Calibri" pitchFamily="34" charset="-120"/>
              </a:rPr>
              <a:t>↓</a:t>
            </a:r>
            <a:endParaRPr lang="en-US" sz="1200" dirty="0"/>
          </a:p>
        </p:txBody>
      </p:sp>
      <p:sp>
        <p:nvSpPr>
          <p:cNvPr id="8" name="Shape 6"/>
          <p:cNvSpPr/>
          <p:nvPr/>
        </p:nvSpPr>
        <p:spPr>
          <a:xfrm>
            <a:off x="256032" y="1536192"/>
            <a:ext cx="3520440" cy="493776"/>
          </a:xfrm>
          <a:prstGeom prst="rect">
            <a:avLst/>
          </a:prstGeom>
          <a:solidFill>
            <a:srgbClr val="1E293B"/>
          </a:solidFill>
          <a:ln w="9525">
            <a:solidFill>
              <a:srgbClr val="94A3B8"/>
            </a:solidFill>
            <a:prstDash val="solid"/>
          </a:ln>
          <a:effectLst>
            <a:outerShdw sx="100000" sy="100000" kx="0" ky="0" algn="bl" rotWithShape="0" blurRad="76200" dist="25400" dir="8100000">
              <a:srgbClr val="000000">
                <a:alpha val="22000"/>
              </a:srgbClr>
            </a:outerShdw>
          </a:effectLst>
        </p:spPr>
      </p:sp>
      <p:sp>
        <p:nvSpPr>
          <p:cNvPr id="9" name="Text 7"/>
          <p:cNvSpPr/>
          <p:nvPr/>
        </p:nvSpPr>
        <p:spPr>
          <a:xfrm>
            <a:off x="256032" y="1536192"/>
            <a:ext cx="3520440" cy="493776"/>
          </a:xfrm>
          <a:prstGeom prst="rect">
            <a:avLst/>
          </a:prstGeom>
          <a:noFill/>
          <a:ln/>
        </p:spPr>
        <p:txBody>
          <a:bodyPr wrap="square"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Load Balancer</a:t>
            </a:r>
            <a:endParaRPr lang="en-US" sz="1100" dirty="0"/>
          </a:p>
        </p:txBody>
      </p:sp>
      <p:sp>
        <p:nvSpPr>
          <p:cNvPr id="10" name="Text 8"/>
          <p:cNvSpPr/>
          <p:nvPr/>
        </p:nvSpPr>
        <p:spPr>
          <a:xfrm>
            <a:off x="1719072" y="2048256"/>
            <a:ext cx="365760" cy="182880"/>
          </a:xfrm>
          <a:prstGeom prst="rect">
            <a:avLst/>
          </a:prstGeom>
          <a:noFill/>
          <a:ln/>
        </p:spPr>
        <p:txBody>
          <a:bodyPr wrap="square" rtlCol="0" anchor="ctr"/>
          <a:lstStyle/>
          <a:p>
            <a:pPr algn="ctr" indent="0" marL="0">
              <a:buNone/>
            </a:pPr>
            <a:r>
              <a:rPr lang="en-US" sz="1200" dirty="0">
                <a:solidFill>
                  <a:srgbClr val="334155"/>
                </a:solidFill>
                <a:latin typeface="Calibri" pitchFamily="34" charset="0"/>
                <a:ea typeface="Calibri" pitchFamily="34" charset="-122"/>
                <a:cs typeface="Calibri" pitchFamily="34" charset="-120"/>
              </a:rPr>
              <a:t>↓</a:t>
            </a:r>
            <a:endParaRPr lang="en-US" sz="1200" dirty="0"/>
          </a:p>
        </p:txBody>
      </p:sp>
      <p:sp>
        <p:nvSpPr>
          <p:cNvPr id="11" name="Shape 9"/>
          <p:cNvSpPr/>
          <p:nvPr/>
        </p:nvSpPr>
        <p:spPr>
          <a:xfrm>
            <a:off x="256032" y="2157984"/>
            <a:ext cx="3520440" cy="493776"/>
          </a:xfrm>
          <a:prstGeom prst="rect">
            <a:avLst/>
          </a:prstGeom>
          <a:solidFill>
            <a:srgbClr val="1E293B"/>
          </a:solidFill>
          <a:ln w="9525">
            <a:solidFill>
              <a:srgbClr val="6366F1"/>
            </a:solidFill>
            <a:prstDash val="solid"/>
          </a:ln>
          <a:effectLst>
            <a:outerShdw sx="100000" sy="100000" kx="0" ky="0" algn="bl" rotWithShape="0" blurRad="76200" dist="25400" dir="8100000">
              <a:srgbClr val="000000">
                <a:alpha val="22000"/>
              </a:srgbClr>
            </a:outerShdw>
          </a:effectLst>
        </p:spPr>
      </p:sp>
      <p:sp>
        <p:nvSpPr>
          <p:cNvPr id="12" name="Text 10"/>
          <p:cNvSpPr/>
          <p:nvPr/>
        </p:nvSpPr>
        <p:spPr>
          <a:xfrm>
            <a:off x="256032" y="2157984"/>
            <a:ext cx="3520440" cy="493776"/>
          </a:xfrm>
          <a:prstGeom prst="rect">
            <a:avLst/>
          </a:prstGeom>
          <a:noFill/>
          <a:ln/>
        </p:spPr>
        <p:txBody>
          <a:bodyPr wrap="square" rtlCol="0" anchor="ctr"/>
          <a:lstStyle/>
          <a:p>
            <a:pPr algn="ctr" indent="0" marL="0">
              <a:buNone/>
            </a:pPr>
            <a:r>
              <a:rPr lang="en-US" sz="1100" dirty="0">
                <a:solidFill>
                  <a:srgbClr val="6366F1"/>
                </a:solidFill>
                <a:latin typeface="Calibri" pitchFamily="34" charset="0"/>
                <a:ea typeface="Calibri" pitchFamily="34" charset="-122"/>
                <a:cs typeface="Calibri" pitchFamily="34" charset="-120"/>
              </a:rPr>
              <a:t>Server A  ·  Server B  ·  Server C</a:t>
            </a:r>
            <a:endParaRPr lang="en-US" sz="1100" dirty="0"/>
          </a:p>
        </p:txBody>
      </p:sp>
      <p:sp>
        <p:nvSpPr>
          <p:cNvPr id="13" name="Text 11"/>
          <p:cNvSpPr/>
          <p:nvPr/>
        </p:nvSpPr>
        <p:spPr>
          <a:xfrm>
            <a:off x="1719072" y="2670048"/>
            <a:ext cx="365760" cy="182880"/>
          </a:xfrm>
          <a:prstGeom prst="rect">
            <a:avLst/>
          </a:prstGeom>
          <a:noFill/>
          <a:ln/>
        </p:spPr>
        <p:txBody>
          <a:bodyPr wrap="square" rtlCol="0" anchor="ctr"/>
          <a:lstStyle/>
          <a:p>
            <a:pPr algn="ctr" indent="0" marL="0">
              <a:buNone/>
            </a:pPr>
            <a:r>
              <a:rPr lang="en-US" sz="1200" dirty="0">
                <a:solidFill>
                  <a:srgbClr val="334155"/>
                </a:solidFill>
                <a:latin typeface="Calibri" pitchFamily="34" charset="0"/>
                <a:ea typeface="Calibri" pitchFamily="34" charset="-122"/>
                <a:cs typeface="Calibri" pitchFamily="34" charset="-120"/>
              </a:rPr>
              <a:t>↓</a:t>
            </a:r>
            <a:endParaRPr lang="en-US" sz="1200" dirty="0"/>
          </a:p>
        </p:txBody>
      </p:sp>
      <p:sp>
        <p:nvSpPr>
          <p:cNvPr id="14" name="Shape 12"/>
          <p:cNvSpPr/>
          <p:nvPr/>
        </p:nvSpPr>
        <p:spPr>
          <a:xfrm>
            <a:off x="256032" y="2779776"/>
            <a:ext cx="3520440" cy="493776"/>
          </a:xfrm>
          <a:prstGeom prst="rect">
            <a:avLst/>
          </a:prstGeom>
          <a:solidFill>
            <a:srgbClr val="1E293B"/>
          </a:solidFill>
          <a:ln w="9525">
            <a:solidFill>
              <a:srgbClr val="FCD34D"/>
            </a:solidFill>
            <a:prstDash val="solid"/>
          </a:ln>
          <a:effectLst>
            <a:outerShdw sx="100000" sy="100000" kx="0" ky="0" algn="bl" rotWithShape="0" blurRad="76200" dist="25400" dir="8100000">
              <a:srgbClr val="000000">
                <a:alpha val="22000"/>
              </a:srgbClr>
            </a:outerShdw>
          </a:effectLst>
        </p:spPr>
      </p:sp>
      <p:sp>
        <p:nvSpPr>
          <p:cNvPr id="15" name="Text 13"/>
          <p:cNvSpPr/>
          <p:nvPr/>
        </p:nvSpPr>
        <p:spPr>
          <a:xfrm>
            <a:off x="256032" y="2779776"/>
            <a:ext cx="3520440" cy="493776"/>
          </a:xfrm>
          <a:prstGeom prst="rect">
            <a:avLst/>
          </a:prstGeom>
          <a:noFill/>
          <a:ln/>
        </p:spPr>
        <p:txBody>
          <a:bodyPr wrap="square" rtlCol="0" anchor="ctr"/>
          <a:lstStyle/>
          <a:p>
            <a:pPr algn="ctr" indent="0" marL="0">
              <a:buNone/>
            </a:pPr>
            <a:r>
              <a:rPr lang="en-US" sz="1100" b="1" dirty="0">
                <a:solidFill>
                  <a:srgbClr val="FCD34D"/>
                </a:solidFill>
                <a:latin typeface="Calibri" pitchFamily="34" charset="0"/>
                <a:ea typeface="Calibri" pitchFamily="34" charset="-122"/>
                <a:cs typeface="Calibri" pitchFamily="34" charset="-120"/>
              </a:rPr>
              <a:t>Socket.IO Redis Adapter</a:t>
            </a:r>
            <a:endParaRPr lang="en-US" sz="1100" dirty="0"/>
          </a:p>
        </p:txBody>
      </p:sp>
      <p:sp>
        <p:nvSpPr>
          <p:cNvPr id="16" name="Text 14"/>
          <p:cNvSpPr/>
          <p:nvPr/>
        </p:nvSpPr>
        <p:spPr>
          <a:xfrm>
            <a:off x="1719072" y="3291840"/>
            <a:ext cx="365760" cy="182880"/>
          </a:xfrm>
          <a:prstGeom prst="rect">
            <a:avLst/>
          </a:prstGeom>
          <a:noFill/>
          <a:ln/>
        </p:spPr>
        <p:txBody>
          <a:bodyPr wrap="square" rtlCol="0" anchor="ctr"/>
          <a:lstStyle/>
          <a:p>
            <a:pPr algn="ctr" indent="0" marL="0">
              <a:buNone/>
            </a:pPr>
            <a:r>
              <a:rPr lang="en-US" sz="1200" dirty="0">
                <a:solidFill>
                  <a:srgbClr val="334155"/>
                </a:solidFill>
                <a:latin typeface="Calibri" pitchFamily="34" charset="0"/>
                <a:ea typeface="Calibri" pitchFamily="34" charset="-122"/>
                <a:cs typeface="Calibri" pitchFamily="34" charset="-120"/>
              </a:rPr>
              <a:t>↓</a:t>
            </a:r>
            <a:endParaRPr lang="en-US" sz="1200" dirty="0"/>
          </a:p>
        </p:txBody>
      </p:sp>
      <p:sp>
        <p:nvSpPr>
          <p:cNvPr id="17" name="Shape 15"/>
          <p:cNvSpPr/>
          <p:nvPr/>
        </p:nvSpPr>
        <p:spPr>
          <a:xfrm>
            <a:off x="256032" y="3401568"/>
            <a:ext cx="3520440" cy="493776"/>
          </a:xfrm>
          <a:prstGeom prst="rect">
            <a:avLst/>
          </a:prstGeom>
          <a:solidFill>
            <a:srgbClr val="281A00"/>
          </a:solidFill>
          <a:ln w="19050">
            <a:solidFill>
              <a:srgbClr val="FCD34D"/>
            </a:solidFill>
            <a:prstDash val="solid"/>
          </a:ln>
          <a:effectLst>
            <a:outerShdw sx="100000" sy="100000" kx="0" ky="0" algn="bl" rotWithShape="0" blurRad="76200" dist="25400" dir="8100000">
              <a:srgbClr val="000000">
                <a:alpha val="22000"/>
              </a:srgbClr>
            </a:outerShdw>
          </a:effectLst>
        </p:spPr>
      </p:sp>
      <p:sp>
        <p:nvSpPr>
          <p:cNvPr id="18" name="Text 16"/>
          <p:cNvSpPr/>
          <p:nvPr/>
        </p:nvSpPr>
        <p:spPr>
          <a:xfrm>
            <a:off x="256032" y="3401568"/>
            <a:ext cx="3520440" cy="493776"/>
          </a:xfrm>
          <a:prstGeom prst="rect">
            <a:avLst/>
          </a:prstGeom>
          <a:noFill/>
          <a:ln/>
        </p:spPr>
        <p:txBody>
          <a:bodyPr wrap="square" rtlCol="0" anchor="ctr"/>
          <a:lstStyle/>
          <a:p>
            <a:pPr algn="ctr" indent="0" marL="0">
              <a:buNone/>
            </a:pPr>
            <a:r>
              <a:rPr lang="en-US" sz="1100" b="1" dirty="0">
                <a:solidFill>
                  <a:srgbClr val="FCD34D"/>
                </a:solidFill>
                <a:latin typeface="Calibri" pitchFamily="34" charset="0"/>
                <a:ea typeface="Calibri" pitchFamily="34" charset="-122"/>
                <a:cs typeface="Calibri" pitchFamily="34" charset="-120"/>
              </a:rPr>
              <a:t>Redis  (Queue · Rooms · Cache · Pub/Sub)</a:t>
            </a:r>
            <a:endParaRPr lang="en-US" sz="1100" dirty="0"/>
          </a:p>
        </p:txBody>
      </p:sp>
      <p:sp>
        <p:nvSpPr>
          <p:cNvPr id="19" name="Text 17"/>
          <p:cNvSpPr/>
          <p:nvPr/>
        </p:nvSpPr>
        <p:spPr>
          <a:xfrm>
            <a:off x="1719072" y="3913632"/>
            <a:ext cx="365760" cy="182880"/>
          </a:xfrm>
          <a:prstGeom prst="rect">
            <a:avLst/>
          </a:prstGeom>
          <a:noFill/>
          <a:ln/>
        </p:spPr>
        <p:txBody>
          <a:bodyPr wrap="square" rtlCol="0" anchor="ctr"/>
          <a:lstStyle/>
          <a:p>
            <a:pPr algn="ctr" indent="0" marL="0">
              <a:buNone/>
            </a:pPr>
            <a:r>
              <a:rPr lang="en-US" sz="1200" dirty="0">
                <a:solidFill>
                  <a:srgbClr val="334155"/>
                </a:solidFill>
                <a:latin typeface="Calibri" pitchFamily="34" charset="0"/>
                <a:ea typeface="Calibri" pitchFamily="34" charset="-122"/>
                <a:cs typeface="Calibri" pitchFamily="34" charset="-120"/>
              </a:rPr>
              <a:t>↓</a:t>
            </a:r>
            <a:endParaRPr lang="en-US" sz="1200" dirty="0"/>
          </a:p>
        </p:txBody>
      </p:sp>
      <p:sp>
        <p:nvSpPr>
          <p:cNvPr id="20" name="Shape 18"/>
          <p:cNvSpPr/>
          <p:nvPr/>
        </p:nvSpPr>
        <p:spPr>
          <a:xfrm>
            <a:off x="256032" y="4023360"/>
            <a:ext cx="3520440" cy="493776"/>
          </a:xfrm>
          <a:prstGeom prst="rect">
            <a:avLst/>
          </a:prstGeom>
          <a:solidFill>
            <a:srgbClr val="1E293B"/>
          </a:solidFill>
          <a:ln w="9525">
            <a:solidFill>
              <a:srgbClr val="FB923C"/>
            </a:solidFill>
            <a:prstDash val="solid"/>
          </a:ln>
          <a:effectLst>
            <a:outerShdw sx="100000" sy="100000" kx="0" ky="0" algn="bl" rotWithShape="0" blurRad="76200" dist="25400" dir="8100000">
              <a:srgbClr val="000000">
                <a:alpha val="22000"/>
              </a:srgbClr>
            </a:outerShdw>
          </a:effectLst>
        </p:spPr>
      </p:sp>
      <p:sp>
        <p:nvSpPr>
          <p:cNvPr id="21" name="Text 19"/>
          <p:cNvSpPr/>
          <p:nvPr/>
        </p:nvSpPr>
        <p:spPr>
          <a:xfrm>
            <a:off x="256032" y="4023360"/>
            <a:ext cx="3520440" cy="493776"/>
          </a:xfrm>
          <a:prstGeom prst="rect">
            <a:avLst/>
          </a:prstGeom>
          <a:noFill/>
          <a:ln/>
        </p:spPr>
        <p:txBody>
          <a:bodyPr wrap="square" rtlCol="0" anchor="ctr"/>
          <a:lstStyle/>
          <a:p>
            <a:pPr algn="ctr" indent="0" marL="0">
              <a:buNone/>
            </a:pPr>
            <a:r>
              <a:rPr lang="en-US" sz="1100" b="1" dirty="0">
                <a:solidFill>
                  <a:srgbClr val="FB923C"/>
                </a:solidFill>
                <a:latin typeface="Calibri" pitchFamily="34" charset="0"/>
                <a:ea typeface="Calibri" pitchFamily="34" charset="-122"/>
                <a:cs typeface="Calibri" pitchFamily="34" charset="-120"/>
              </a:rPr>
              <a:t>PostgreSQL + Prisma ORM</a:t>
            </a:r>
            <a:endParaRPr lang="en-US" sz="1100" dirty="0"/>
          </a:p>
        </p:txBody>
      </p:sp>
      <p:sp>
        <p:nvSpPr>
          <p:cNvPr id="22" name="Text 20"/>
          <p:cNvSpPr/>
          <p:nvPr/>
        </p:nvSpPr>
        <p:spPr>
          <a:xfrm>
            <a:off x="4041648" y="914400"/>
            <a:ext cx="2423160" cy="310896"/>
          </a:xfrm>
          <a:prstGeom prst="rect">
            <a:avLst/>
          </a:prstGeom>
          <a:noFill/>
          <a:ln/>
        </p:spPr>
        <p:txBody>
          <a:bodyPr wrap="square" rtlCol="0" anchor="ctr"/>
          <a:lstStyle/>
          <a:p>
            <a:pPr indent="0" marL="0">
              <a:buNone/>
            </a:pPr>
            <a:r>
              <a:rPr lang="en-US" sz="1200" b="1" dirty="0">
                <a:solidFill>
                  <a:srgbClr val="F1F5F9"/>
                </a:solidFill>
                <a:latin typeface="Calibri" pitchFamily="34" charset="0"/>
                <a:ea typeface="Calibri" pitchFamily="34" charset="-122"/>
                <a:cs typeface="Calibri" pitchFamily="34" charset="-120"/>
              </a:rPr>
              <a:t>Backend Modules</a:t>
            </a:r>
            <a:endParaRPr lang="en-US" sz="1200" dirty="0"/>
          </a:p>
        </p:txBody>
      </p:sp>
      <p:sp>
        <p:nvSpPr>
          <p:cNvPr id="23" name="Shape 21"/>
          <p:cNvSpPr/>
          <p:nvPr/>
        </p:nvSpPr>
        <p:spPr>
          <a:xfrm>
            <a:off x="4041648" y="1298448"/>
            <a:ext cx="2395728" cy="475488"/>
          </a:xfrm>
          <a:prstGeom prst="rect">
            <a:avLst/>
          </a:prstGeom>
          <a:solidFill>
            <a:srgbClr val="1E293B"/>
          </a:solidFill>
          <a:ln w="6350">
            <a:solidFill>
              <a:srgbClr val="22D3EE"/>
            </a:solidFill>
            <a:prstDash val="solid"/>
          </a:ln>
        </p:spPr>
      </p:sp>
      <p:sp>
        <p:nvSpPr>
          <p:cNvPr id="24" name="Text 22"/>
          <p:cNvSpPr/>
          <p:nvPr/>
        </p:nvSpPr>
        <p:spPr>
          <a:xfrm>
            <a:off x="4133088" y="1298448"/>
            <a:ext cx="2212848" cy="475488"/>
          </a:xfrm>
          <a:prstGeom prst="rect">
            <a:avLst/>
          </a:prstGeom>
          <a:noFill/>
          <a:ln/>
        </p:spPr>
        <p:txBody>
          <a:bodyPr wrap="square" rtlCol="0" anchor="ctr"/>
          <a:lstStyle/>
          <a:p>
            <a:pPr indent="0" marL="0">
              <a:buNone/>
            </a:pPr>
            <a:r>
              <a:rPr lang="en-US" sz="1100" dirty="0">
                <a:solidFill>
                  <a:srgbClr val="22D3EE"/>
                </a:solidFill>
                <a:latin typeface="Calibri" pitchFamily="34" charset="0"/>
                <a:ea typeface="Calibri" pitchFamily="34" charset="-122"/>
                <a:cs typeface="Calibri" pitchFamily="34" charset="-120"/>
              </a:rPr>
              <a:t>Auth Module</a:t>
            </a:r>
            <a:endParaRPr lang="en-US" sz="1100" dirty="0"/>
          </a:p>
        </p:txBody>
      </p:sp>
      <p:sp>
        <p:nvSpPr>
          <p:cNvPr id="25" name="Shape 23"/>
          <p:cNvSpPr/>
          <p:nvPr/>
        </p:nvSpPr>
        <p:spPr>
          <a:xfrm>
            <a:off x="4041648" y="1892808"/>
            <a:ext cx="2395728" cy="475488"/>
          </a:xfrm>
          <a:prstGeom prst="rect">
            <a:avLst/>
          </a:prstGeom>
          <a:solidFill>
            <a:srgbClr val="1E293B"/>
          </a:solidFill>
          <a:ln w="6350">
            <a:solidFill>
              <a:srgbClr val="4ADE80"/>
            </a:solidFill>
            <a:prstDash val="solid"/>
          </a:ln>
        </p:spPr>
      </p:sp>
      <p:sp>
        <p:nvSpPr>
          <p:cNvPr id="26" name="Text 24"/>
          <p:cNvSpPr/>
          <p:nvPr/>
        </p:nvSpPr>
        <p:spPr>
          <a:xfrm>
            <a:off x="4133088" y="1892808"/>
            <a:ext cx="2212848" cy="475488"/>
          </a:xfrm>
          <a:prstGeom prst="rect">
            <a:avLst/>
          </a:prstGeom>
          <a:noFill/>
          <a:ln/>
        </p:spPr>
        <p:txBody>
          <a:bodyPr wrap="square" rtlCol="0" anchor="ctr"/>
          <a:lstStyle/>
          <a:p>
            <a:pPr indent="0" marL="0">
              <a:buNone/>
            </a:pPr>
            <a:r>
              <a:rPr lang="en-US" sz="1100" dirty="0">
                <a:solidFill>
                  <a:srgbClr val="4ADE80"/>
                </a:solidFill>
                <a:latin typeface="Calibri" pitchFamily="34" charset="0"/>
                <a:ea typeface="Calibri" pitchFamily="34" charset="-122"/>
                <a:cs typeface="Calibri" pitchFamily="34" charset="-120"/>
              </a:rPr>
              <a:t>Game Module</a:t>
            </a:r>
            <a:endParaRPr lang="en-US" sz="1100" dirty="0"/>
          </a:p>
        </p:txBody>
      </p:sp>
      <p:sp>
        <p:nvSpPr>
          <p:cNvPr id="27" name="Shape 25"/>
          <p:cNvSpPr/>
          <p:nvPr/>
        </p:nvSpPr>
        <p:spPr>
          <a:xfrm>
            <a:off x="4041648" y="2487168"/>
            <a:ext cx="2395728" cy="475488"/>
          </a:xfrm>
          <a:prstGeom prst="rect">
            <a:avLst/>
          </a:prstGeom>
          <a:solidFill>
            <a:srgbClr val="1E293B"/>
          </a:solidFill>
          <a:ln w="6350">
            <a:solidFill>
              <a:srgbClr val="6366F1"/>
            </a:solidFill>
            <a:prstDash val="solid"/>
          </a:ln>
        </p:spPr>
      </p:sp>
      <p:sp>
        <p:nvSpPr>
          <p:cNvPr id="28" name="Text 26"/>
          <p:cNvSpPr/>
          <p:nvPr/>
        </p:nvSpPr>
        <p:spPr>
          <a:xfrm>
            <a:off x="4133088" y="2487168"/>
            <a:ext cx="2212848" cy="475488"/>
          </a:xfrm>
          <a:prstGeom prst="rect">
            <a:avLst/>
          </a:prstGeom>
          <a:noFill/>
          <a:ln/>
        </p:spPr>
        <p:txBody>
          <a:bodyPr wrap="square" rtlCol="0" anchor="ctr"/>
          <a:lstStyle/>
          <a:p>
            <a:pPr indent="0" marL="0">
              <a:buNone/>
            </a:pPr>
            <a:r>
              <a:rPr lang="en-US" sz="1100" dirty="0">
                <a:solidFill>
                  <a:srgbClr val="6366F1"/>
                </a:solidFill>
                <a:latin typeface="Calibri" pitchFamily="34" charset="0"/>
                <a:ea typeface="Calibri" pitchFamily="34" charset="-122"/>
                <a:cs typeface="Calibri" pitchFamily="34" charset="-120"/>
              </a:rPr>
              <a:t>Matchmaking Module</a:t>
            </a:r>
            <a:endParaRPr lang="en-US" sz="1100" dirty="0"/>
          </a:p>
        </p:txBody>
      </p:sp>
      <p:sp>
        <p:nvSpPr>
          <p:cNvPr id="29" name="Shape 27"/>
          <p:cNvSpPr/>
          <p:nvPr/>
        </p:nvSpPr>
        <p:spPr>
          <a:xfrm>
            <a:off x="4041648" y="3081528"/>
            <a:ext cx="2395728" cy="475488"/>
          </a:xfrm>
          <a:prstGeom prst="rect">
            <a:avLst/>
          </a:prstGeom>
          <a:solidFill>
            <a:srgbClr val="1E293B"/>
          </a:solidFill>
          <a:ln w="6350">
            <a:solidFill>
              <a:srgbClr val="FB923C"/>
            </a:solidFill>
            <a:prstDash val="solid"/>
          </a:ln>
        </p:spPr>
      </p:sp>
      <p:sp>
        <p:nvSpPr>
          <p:cNvPr id="30" name="Text 28"/>
          <p:cNvSpPr/>
          <p:nvPr/>
        </p:nvSpPr>
        <p:spPr>
          <a:xfrm>
            <a:off x="4133088" y="3081528"/>
            <a:ext cx="2212848" cy="475488"/>
          </a:xfrm>
          <a:prstGeom prst="rect">
            <a:avLst/>
          </a:prstGeom>
          <a:noFill/>
          <a:ln/>
        </p:spPr>
        <p:txBody>
          <a:bodyPr wrap="square" rtlCol="0" anchor="ctr"/>
          <a:lstStyle/>
          <a:p>
            <a:pPr indent="0" marL="0">
              <a:buNone/>
            </a:pPr>
            <a:r>
              <a:rPr lang="en-US" sz="1100" dirty="0">
                <a:solidFill>
                  <a:srgbClr val="FB923C"/>
                </a:solidFill>
                <a:latin typeface="Calibri" pitchFamily="34" charset="0"/>
                <a:ea typeface="Calibri" pitchFamily="34" charset="-122"/>
                <a:cs typeface="Calibri" pitchFamily="34" charset="-120"/>
              </a:rPr>
              <a:t>Leaderboard Module</a:t>
            </a:r>
            <a:endParaRPr lang="en-US" sz="1100" dirty="0"/>
          </a:p>
        </p:txBody>
      </p:sp>
      <p:sp>
        <p:nvSpPr>
          <p:cNvPr id="31" name="Shape 29"/>
          <p:cNvSpPr/>
          <p:nvPr/>
        </p:nvSpPr>
        <p:spPr>
          <a:xfrm>
            <a:off x="4041648" y="3675888"/>
            <a:ext cx="2395728" cy="475488"/>
          </a:xfrm>
          <a:prstGeom prst="rect">
            <a:avLst/>
          </a:prstGeom>
          <a:solidFill>
            <a:srgbClr val="1E293B"/>
          </a:solidFill>
          <a:ln w="6350">
            <a:solidFill>
              <a:srgbClr val="F472B6"/>
            </a:solidFill>
            <a:prstDash val="solid"/>
          </a:ln>
        </p:spPr>
      </p:sp>
      <p:sp>
        <p:nvSpPr>
          <p:cNvPr id="32" name="Text 30"/>
          <p:cNvSpPr/>
          <p:nvPr/>
        </p:nvSpPr>
        <p:spPr>
          <a:xfrm>
            <a:off x="4133088" y="3675888"/>
            <a:ext cx="2212848" cy="475488"/>
          </a:xfrm>
          <a:prstGeom prst="rect">
            <a:avLst/>
          </a:prstGeom>
          <a:noFill/>
          <a:ln/>
        </p:spPr>
        <p:txBody>
          <a:bodyPr wrap="square" rtlCol="0" anchor="ctr"/>
          <a:lstStyle/>
          <a:p>
            <a:pPr indent="0" marL="0">
              <a:buNone/>
            </a:pPr>
            <a:r>
              <a:rPr lang="en-US" sz="1100" dirty="0">
                <a:solidFill>
                  <a:srgbClr val="F472B6"/>
                </a:solidFill>
                <a:latin typeface="Calibri" pitchFamily="34" charset="0"/>
                <a:ea typeface="Calibri" pitchFamily="34" charset="-122"/>
                <a:cs typeface="Calibri" pitchFamily="34" charset="-120"/>
              </a:rPr>
              <a:t>Daily Challenge Module</a:t>
            </a:r>
            <a:endParaRPr lang="en-US" sz="1100" dirty="0"/>
          </a:p>
        </p:txBody>
      </p:sp>
      <p:sp>
        <p:nvSpPr>
          <p:cNvPr id="33" name="Text 31"/>
          <p:cNvSpPr/>
          <p:nvPr/>
        </p:nvSpPr>
        <p:spPr>
          <a:xfrm>
            <a:off x="6629400" y="914400"/>
            <a:ext cx="2286000" cy="310896"/>
          </a:xfrm>
          <a:prstGeom prst="rect">
            <a:avLst/>
          </a:prstGeom>
          <a:noFill/>
          <a:ln/>
        </p:spPr>
        <p:txBody>
          <a:bodyPr wrap="square" rtlCol="0" anchor="ctr"/>
          <a:lstStyle/>
          <a:p>
            <a:pPr indent="0" marL="0">
              <a:buNone/>
            </a:pPr>
            <a:r>
              <a:rPr lang="en-US" sz="1200" b="1" dirty="0">
                <a:solidFill>
                  <a:srgbClr val="F1F5F9"/>
                </a:solidFill>
                <a:latin typeface="Calibri" pitchFamily="34" charset="0"/>
                <a:ea typeface="Calibri" pitchFamily="34" charset="-122"/>
                <a:cs typeface="Calibri" pitchFamily="34" charset="-120"/>
              </a:rPr>
              <a:t>Infrastructure</a:t>
            </a:r>
            <a:endParaRPr lang="en-US" sz="1200" dirty="0"/>
          </a:p>
        </p:txBody>
      </p:sp>
      <p:sp>
        <p:nvSpPr>
          <p:cNvPr id="34" name="Shape 32"/>
          <p:cNvSpPr/>
          <p:nvPr/>
        </p:nvSpPr>
        <p:spPr>
          <a:xfrm>
            <a:off x="6629400" y="1298448"/>
            <a:ext cx="2258568" cy="475488"/>
          </a:xfrm>
          <a:prstGeom prst="rect">
            <a:avLst/>
          </a:prstGeom>
          <a:solidFill>
            <a:srgbClr val="1E293B"/>
          </a:solidFill>
          <a:ln w="6350">
            <a:solidFill>
              <a:srgbClr val="4ADE80"/>
            </a:solidFill>
            <a:prstDash val="solid"/>
          </a:ln>
        </p:spPr>
      </p:sp>
      <p:sp>
        <p:nvSpPr>
          <p:cNvPr id="35" name="Text 33"/>
          <p:cNvSpPr/>
          <p:nvPr/>
        </p:nvSpPr>
        <p:spPr>
          <a:xfrm>
            <a:off x="6720840" y="1298448"/>
            <a:ext cx="2075688" cy="475488"/>
          </a:xfrm>
          <a:prstGeom prst="rect">
            <a:avLst/>
          </a:prstGeom>
          <a:noFill/>
          <a:ln/>
        </p:spPr>
        <p:txBody>
          <a:bodyPr wrap="square" rtlCol="0" anchor="ctr"/>
          <a:lstStyle/>
          <a:p>
            <a:pPr indent="0" marL="0">
              <a:buNone/>
            </a:pPr>
            <a:r>
              <a:rPr lang="en-US" sz="1100" dirty="0">
                <a:solidFill>
                  <a:srgbClr val="4ADE80"/>
                </a:solidFill>
                <a:latin typeface="Calibri" pitchFamily="34" charset="0"/>
                <a:ea typeface="Calibri" pitchFamily="34" charset="-122"/>
                <a:cs typeface="Calibri" pitchFamily="34" charset="-120"/>
              </a:rPr>
              <a:t>Zod Validation</a:t>
            </a:r>
            <a:endParaRPr lang="en-US" sz="1100" dirty="0"/>
          </a:p>
        </p:txBody>
      </p:sp>
      <p:sp>
        <p:nvSpPr>
          <p:cNvPr id="36" name="Shape 34"/>
          <p:cNvSpPr/>
          <p:nvPr/>
        </p:nvSpPr>
        <p:spPr>
          <a:xfrm>
            <a:off x="6629400" y="1892808"/>
            <a:ext cx="2258568" cy="475488"/>
          </a:xfrm>
          <a:prstGeom prst="rect">
            <a:avLst/>
          </a:prstGeom>
          <a:solidFill>
            <a:srgbClr val="1E293B"/>
          </a:solidFill>
          <a:ln w="6350">
            <a:solidFill>
              <a:srgbClr val="94A3B8"/>
            </a:solidFill>
            <a:prstDash val="solid"/>
          </a:ln>
        </p:spPr>
      </p:sp>
      <p:sp>
        <p:nvSpPr>
          <p:cNvPr id="37" name="Text 35"/>
          <p:cNvSpPr/>
          <p:nvPr/>
        </p:nvSpPr>
        <p:spPr>
          <a:xfrm>
            <a:off x="6720840" y="1892808"/>
            <a:ext cx="2075688" cy="475488"/>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Winston Logger</a:t>
            </a:r>
            <a:endParaRPr lang="en-US" sz="1100" dirty="0"/>
          </a:p>
        </p:txBody>
      </p:sp>
      <p:sp>
        <p:nvSpPr>
          <p:cNvPr id="38" name="Shape 36"/>
          <p:cNvSpPr/>
          <p:nvPr/>
        </p:nvSpPr>
        <p:spPr>
          <a:xfrm>
            <a:off x="6629400" y="2487168"/>
            <a:ext cx="2258568" cy="475488"/>
          </a:xfrm>
          <a:prstGeom prst="rect">
            <a:avLst/>
          </a:prstGeom>
          <a:solidFill>
            <a:srgbClr val="1E293B"/>
          </a:solidFill>
          <a:ln w="6350">
            <a:solidFill>
              <a:srgbClr val="FB923C"/>
            </a:solidFill>
            <a:prstDash val="solid"/>
          </a:ln>
        </p:spPr>
      </p:sp>
      <p:sp>
        <p:nvSpPr>
          <p:cNvPr id="39" name="Text 37"/>
          <p:cNvSpPr/>
          <p:nvPr/>
        </p:nvSpPr>
        <p:spPr>
          <a:xfrm>
            <a:off x="6720840" y="2487168"/>
            <a:ext cx="2075688" cy="475488"/>
          </a:xfrm>
          <a:prstGeom prst="rect">
            <a:avLst/>
          </a:prstGeom>
          <a:noFill/>
          <a:ln/>
        </p:spPr>
        <p:txBody>
          <a:bodyPr wrap="square" rtlCol="0" anchor="ctr"/>
          <a:lstStyle/>
          <a:p>
            <a:pPr indent="0" marL="0">
              <a:buNone/>
            </a:pPr>
            <a:r>
              <a:rPr lang="en-US" sz="1100" dirty="0">
                <a:solidFill>
                  <a:srgbClr val="FB923C"/>
                </a:solidFill>
                <a:latin typeface="Calibri" pitchFamily="34" charset="0"/>
                <a:ea typeface="Calibri" pitchFamily="34" charset="-122"/>
                <a:cs typeface="Calibri" pitchFamily="34" charset="-120"/>
              </a:rPr>
              <a:t>Rate Limiter (Redis)</a:t>
            </a:r>
            <a:endParaRPr lang="en-US" sz="1100" dirty="0"/>
          </a:p>
        </p:txBody>
      </p:sp>
      <p:sp>
        <p:nvSpPr>
          <p:cNvPr id="40" name="Shape 38"/>
          <p:cNvSpPr/>
          <p:nvPr/>
        </p:nvSpPr>
        <p:spPr>
          <a:xfrm>
            <a:off x="6629400" y="3081528"/>
            <a:ext cx="2258568" cy="475488"/>
          </a:xfrm>
          <a:prstGeom prst="rect">
            <a:avLst/>
          </a:prstGeom>
          <a:solidFill>
            <a:srgbClr val="1E293B"/>
          </a:solidFill>
          <a:ln w="6350">
            <a:solidFill>
              <a:srgbClr val="F87171"/>
            </a:solidFill>
            <a:prstDash val="solid"/>
          </a:ln>
        </p:spPr>
      </p:sp>
      <p:sp>
        <p:nvSpPr>
          <p:cNvPr id="41" name="Text 39"/>
          <p:cNvSpPr/>
          <p:nvPr/>
        </p:nvSpPr>
        <p:spPr>
          <a:xfrm>
            <a:off x="6720840" y="3081528"/>
            <a:ext cx="2075688" cy="475488"/>
          </a:xfrm>
          <a:prstGeom prst="rect">
            <a:avLst/>
          </a:prstGeom>
          <a:noFill/>
          <a:ln/>
        </p:spPr>
        <p:txBody>
          <a:bodyPr wrap="square" rtlCol="0" anchor="ctr"/>
          <a:lstStyle/>
          <a:p>
            <a:pPr indent="0" marL="0">
              <a:buNone/>
            </a:pPr>
            <a:r>
              <a:rPr lang="en-US" sz="1100" dirty="0">
                <a:solidFill>
                  <a:srgbClr val="F87171"/>
                </a:solidFill>
                <a:latin typeface="Calibri" pitchFamily="34" charset="0"/>
                <a:ea typeface="Calibri" pitchFamily="34" charset="-122"/>
                <a:cs typeface="Calibri" pitchFamily="34" charset="-120"/>
              </a:rPr>
              <a:t>Error Handler</a:t>
            </a:r>
            <a:endParaRPr lang="en-US" sz="1100" dirty="0"/>
          </a:p>
        </p:txBody>
      </p:sp>
      <p:sp>
        <p:nvSpPr>
          <p:cNvPr id="42" name="Shape 40"/>
          <p:cNvSpPr/>
          <p:nvPr/>
        </p:nvSpPr>
        <p:spPr>
          <a:xfrm>
            <a:off x="6629400" y="3675888"/>
            <a:ext cx="2258568" cy="475488"/>
          </a:xfrm>
          <a:prstGeom prst="rect">
            <a:avLst/>
          </a:prstGeom>
          <a:solidFill>
            <a:srgbClr val="1E293B"/>
          </a:solidFill>
          <a:ln w="6350">
            <a:solidFill>
              <a:srgbClr val="6366F1"/>
            </a:solidFill>
            <a:prstDash val="solid"/>
          </a:ln>
        </p:spPr>
      </p:sp>
      <p:sp>
        <p:nvSpPr>
          <p:cNvPr id="43" name="Text 41"/>
          <p:cNvSpPr/>
          <p:nvPr/>
        </p:nvSpPr>
        <p:spPr>
          <a:xfrm>
            <a:off x="6720840" y="3675888"/>
            <a:ext cx="2075688" cy="475488"/>
          </a:xfrm>
          <a:prstGeom prst="rect">
            <a:avLst/>
          </a:prstGeom>
          <a:noFill/>
          <a:ln/>
        </p:spPr>
        <p:txBody>
          <a:bodyPr wrap="square" rtlCol="0" anchor="ctr"/>
          <a:lstStyle/>
          <a:p>
            <a:pPr indent="0" marL="0">
              <a:buNone/>
            </a:pPr>
            <a:r>
              <a:rPr lang="en-US" sz="1100" dirty="0">
                <a:solidFill>
                  <a:srgbClr val="6366F1"/>
                </a:solidFill>
                <a:latin typeface="Calibri" pitchFamily="34" charset="0"/>
                <a:ea typeface="Calibri" pitchFamily="34" charset="-122"/>
                <a:cs typeface="Calibri" pitchFamily="34" charset="-120"/>
              </a:rPr>
              <a:t>Socket Auth Middleware</a:t>
            </a:r>
            <a:endParaRPr lang="en-US" sz="1100" dirty="0"/>
          </a:p>
        </p:txBody>
      </p:sp>
      <p:sp>
        <p:nvSpPr>
          <p:cNvPr id="44" name="Shape 42"/>
          <p:cNvSpPr/>
          <p:nvPr/>
        </p:nvSpPr>
        <p:spPr>
          <a:xfrm>
            <a:off x="4041648" y="4133088"/>
            <a:ext cx="4846320" cy="804672"/>
          </a:xfrm>
          <a:prstGeom prst="rect">
            <a:avLst/>
          </a:prstGeom>
          <a:solidFill>
            <a:srgbClr val="281A00"/>
          </a:solidFill>
          <a:ln w="12700">
            <a:solidFill>
              <a:srgbClr val="FCD34D"/>
            </a:solidFill>
            <a:prstDash val="solid"/>
          </a:ln>
        </p:spPr>
      </p:sp>
      <p:sp>
        <p:nvSpPr>
          <p:cNvPr id="45" name="Text 43"/>
          <p:cNvSpPr/>
          <p:nvPr/>
        </p:nvSpPr>
        <p:spPr>
          <a:xfrm>
            <a:off x="4160520" y="4169664"/>
            <a:ext cx="4663440" cy="731520"/>
          </a:xfrm>
          <a:prstGeom prst="rect">
            <a:avLst/>
          </a:prstGeom>
          <a:noFill/>
          <a:ln/>
        </p:spPr>
        <p:txBody>
          <a:bodyPr wrap="square" rtlCol="0" anchor="ctr"/>
          <a:lstStyle/>
          <a:p>
            <a:pPr indent="0" marL="0">
              <a:buNone/>
            </a:pPr>
            <a:r>
              <a:rPr lang="en-US" sz="1000" dirty="0">
                <a:solidFill>
                  <a:srgbClr val="FCD34D"/>
                </a:solidFill>
                <a:latin typeface="Calibri" pitchFamily="34" charset="0"/>
                <a:ea typeface="Calibri" pitchFamily="34" charset="-122"/>
                <a:cs typeface="Calibri" pitchFamily="34" charset="-120"/>
              </a:rPr>
              <a:t>Redis:  Matchmaking queue · Active room snapshots · Online presence · Rate counters · Leaderboard cache · Pub/Sub · Socket.IO adapter</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6366F1"/>
          </a:solidFill>
          <a:ln/>
        </p:spPr>
      </p:sp>
      <p:sp>
        <p:nvSpPr>
          <p:cNvPr id="3" name="Text 1"/>
          <p:cNvSpPr/>
          <p:nvPr/>
        </p:nvSpPr>
        <p:spPr>
          <a:xfrm>
            <a:off x="274320" y="164592"/>
            <a:ext cx="8595360" cy="475488"/>
          </a:xfrm>
          <a:prstGeom prst="rect">
            <a:avLst/>
          </a:prstGeom>
          <a:noFill/>
          <a:ln/>
        </p:spPr>
        <p:txBody>
          <a:bodyPr wrap="square" rtlCol="0" anchor="ctr"/>
          <a:lstStyle/>
          <a:p>
            <a:pPr indent="0" marL="0">
              <a:buNone/>
            </a:pPr>
            <a:r>
              <a:rPr lang="en-US" sz="2500" b="1" dirty="0">
                <a:solidFill>
                  <a:srgbClr val="F1F5F9"/>
                </a:solidFill>
                <a:latin typeface="Calibri" pitchFamily="34" charset="0"/>
                <a:ea typeface="Calibri" pitchFamily="34" charset="-122"/>
                <a:cs typeface="Calibri" pitchFamily="34" charset="-120"/>
              </a:rPr>
              <a:t>Final Tech Stack &amp; Design Decisions</a:t>
            </a:r>
            <a:endParaRPr lang="en-US" sz="2500" dirty="0"/>
          </a:p>
        </p:txBody>
      </p:sp>
      <p:sp>
        <p:nvSpPr>
          <p:cNvPr id="4" name="Text 2"/>
          <p:cNvSpPr/>
          <p:nvPr/>
        </p:nvSpPr>
        <p:spPr>
          <a:xfrm>
            <a:off x="274320" y="658368"/>
            <a:ext cx="8595360" cy="256032"/>
          </a:xfrm>
          <a:prstGeom prst="rect">
            <a:avLst/>
          </a:prstGeom>
          <a:noFill/>
          <a:ln/>
        </p:spPr>
        <p:txBody>
          <a:bodyPr wrap="square" rtlCol="0" anchor="ctr"/>
          <a:lstStyle/>
          <a:p>
            <a:pPr indent="0" marL="0">
              <a:buNone/>
            </a:pPr>
            <a:r>
              <a:rPr lang="en-US" sz="1150" i="1" dirty="0">
                <a:solidFill>
                  <a:srgbClr val="94A3B8"/>
                </a:solidFill>
                <a:latin typeface="Calibri" pitchFamily="34" charset="0"/>
                <a:ea typeface="Calibri" pitchFamily="34" charset="-122"/>
                <a:cs typeface="Calibri" pitchFamily="34" charset="-120"/>
              </a:rPr>
              <a:t>Every choice is a deliberate tradeoff — not a default</a:t>
            </a:r>
            <a:endParaRPr lang="en-US" sz="1150" dirty="0"/>
          </a:p>
        </p:txBody>
      </p:sp>
      <p:sp>
        <p:nvSpPr>
          <p:cNvPr id="5" name="Shape 3"/>
          <p:cNvSpPr/>
          <p:nvPr/>
        </p:nvSpPr>
        <p:spPr>
          <a:xfrm>
            <a:off x="274320" y="932688"/>
            <a:ext cx="4206240" cy="1298448"/>
          </a:xfrm>
          <a:prstGeom prst="rect">
            <a:avLst/>
          </a:prstGeom>
          <a:solidFill>
            <a:srgbClr val="1E293B"/>
          </a:solidFill>
          <a:ln w="9525">
            <a:solidFill>
              <a:srgbClr val="22D3EE"/>
            </a:solidFill>
            <a:prstDash val="solid"/>
          </a:ln>
          <a:effectLst>
            <a:outerShdw sx="100000" sy="100000" kx="0" ky="0" algn="bl" rotWithShape="0" blurRad="76200" dist="25400" dir="8100000">
              <a:srgbClr val="000000">
                <a:alpha val="22000"/>
              </a:srgbClr>
            </a:outerShdw>
          </a:effectLst>
        </p:spPr>
      </p:sp>
      <p:sp>
        <p:nvSpPr>
          <p:cNvPr id="6" name="Shape 4"/>
          <p:cNvSpPr/>
          <p:nvPr/>
        </p:nvSpPr>
        <p:spPr>
          <a:xfrm>
            <a:off x="274320" y="932688"/>
            <a:ext cx="64008" cy="1298448"/>
          </a:xfrm>
          <a:prstGeom prst="rect">
            <a:avLst/>
          </a:prstGeom>
          <a:solidFill>
            <a:srgbClr val="22D3EE"/>
          </a:solidFill>
          <a:ln/>
        </p:spPr>
      </p:sp>
      <p:sp>
        <p:nvSpPr>
          <p:cNvPr id="7" name="Text 5"/>
          <p:cNvSpPr/>
          <p:nvPr/>
        </p:nvSpPr>
        <p:spPr>
          <a:xfrm>
            <a:off x="457200" y="1024128"/>
            <a:ext cx="3840480" cy="246888"/>
          </a:xfrm>
          <a:prstGeom prst="rect">
            <a:avLst/>
          </a:prstGeom>
          <a:noFill/>
          <a:ln/>
        </p:spPr>
        <p:txBody>
          <a:bodyPr wrap="square" rtlCol="0" anchor="ctr"/>
          <a:lstStyle/>
          <a:p>
            <a:pPr indent="0" marL="0">
              <a:buNone/>
            </a:pPr>
            <a:r>
              <a:rPr lang="en-US" sz="900" b="1" spc="200" kern="0" dirty="0">
                <a:solidFill>
                  <a:srgbClr val="94A3B8"/>
                </a:solidFill>
                <a:latin typeface="Calibri" pitchFamily="34" charset="0"/>
                <a:ea typeface="Calibri" pitchFamily="34" charset="-122"/>
                <a:cs typeface="Calibri" pitchFamily="34" charset="-120"/>
              </a:rPr>
              <a:t>LANGUAGE</a:t>
            </a:r>
            <a:endParaRPr lang="en-US" sz="900" dirty="0"/>
          </a:p>
        </p:txBody>
      </p:sp>
      <p:sp>
        <p:nvSpPr>
          <p:cNvPr id="8" name="Text 6"/>
          <p:cNvSpPr/>
          <p:nvPr/>
        </p:nvSpPr>
        <p:spPr>
          <a:xfrm>
            <a:off x="457200" y="1280160"/>
            <a:ext cx="3840480" cy="338328"/>
          </a:xfrm>
          <a:prstGeom prst="rect">
            <a:avLst/>
          </a:prstGeom>
          <a:noFill/>
          <a:ln/>
        </p:spPr>
        <p:txBody>
          <a:bodyPr wrap="square" rtlCol="0" anchor="ctr"/>
          <a:lstStyle/>
          <a:p>
            <a:pPr indent="0" marL="0">
              <a:buNone/>
            </a:pPr>
            <a:r>
              <a:rPr lang="en-US" sz="1400" b="1" dirty="0">
                <a:solidFill>
                  <a:srgbClr val="22D3EE"/>
                </a:solidFill>
                <a:latin typeface="Calibri" pitchFamily="34" charset="0"/>
                <a:ea typeface="Calibri" pitchFamily="34" charset="-122"/>
                <a:cs typeface="Calibri" pitchFamily="34" charset="-120"/>
              </a:rPr>
              <a:t>TypeScript</a:t>
            </a:r>
            <a:endParaRPr lang="en-US" sz="1400" dirty="0"/>
          </a:p>
        </p:txBody>
      </p:sp>
      <p:sp>
        <p:nvSpPr>
          <p:cNvPr id="9" name="Text 7"/>
          <p:cNvSpPr/>
          <p:nvPr/>
        </p:nvSpPr>
        <p:spPr>
          <a:xfrm>
            <a:off x="457200" y="1636776"/>
            <a:ext cx="3840480" cy="530352"/>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Type safety catches payload mismatches before runtime — critical during a large-scale refactor</a:t>
            </a:r>
            <a:endParaRPr lang="en-US" sz="1000" dirty="0"/>
          </a:p>
        </p:txBody>
      </p:sp>
      <p:sp>
        <p:nvSpPr>
          <p:cNvPr id="10" name="Shape 8"/>
          <p:cNvSpPr/>
          <p:nvPr/>
        </p:nvSpPr>
        <p:spPr>
          <a:xfrm>
            <a:off x="4709160" y="932688"/>
            <a:ext cx="4206240" cy="1298448"/>
          </a:xfrm>
          <a:prstGeom prst="rect">
            <a:avLst/>
          </a:prstGeom>
          <a:solidFill>
            <a:srgbClr val="1E293B"/>
          </a:solidFill>
          <a:ln w="9525">
            <a:solidFill>
              <a:srgbClr val="FB923C"/>
            </a:solidFill>
            <a:prstDash val="solid"/>
          </a:ln>
          <a:effectLst>
            <a:outerShdw sx="100000" sy="100000" kx="0" ky="0" algn="bl" rotWithShape="0" blurRad="76200" dist="25400" dir="8100000">
              <a:srgbClr val="000000">
                <a:alpha val="22000"/>
              </a:srgbClr>
            </a:outerShdw>
          </a:effectLst>
        </p:spPr>
      </p:sp>
      <p:sp>
        <p:nvSpPr>
          <p:cNvPr id="11" name="Shape 9"/>
          <p:cNvSpPr/>
          <p:nvPr/>
        </p:nvSpPr>
        <p:spPr>
          <a:xfrm>
            <a:off x="4709160" y="932688"/>
            <a:ext cx="64008" cy="1298448"/>
          </a:xfrm>
          <a:prstGeom prst="rect">
            <a:avLst/>
          </a:prstGeom>
          <a:solidFill>
            <a:srgbClr val="FB923C"/>
          </a:solidFill>
          <a:ln/>
        </p:spPr>
      </p:sp>
      <p:sp>
        <p:nvSpPr>
          <p:cNvPr id="12" name="Text 10"/>
          <p:cNvSpPr/>
          <p:nvPr/>
        </p:nvSpPr>
        <p:spPr>
          <a:xfrm>
            <a:off x="4892040" y="1024128"/>
            <a:ext cx="3840480" cy="246888"/>
          </a:xfrm>
          <a:prstGeom prst="rect">
            <a:avLst/>
          </a:prstGeom>
          <a:noFill/>
          <a:ln/>
        </p:spPr>
        <p:txBody>
          <a:bodyPr wrap="square" rtlCol="0" anchor="ctr"/>
          <a:lstStyle/>
          <a:p>
            <a:pPr indent="0" marL="0">
              <a:buNone/>
            </a:pPr>
            <a:r>
              <a:rPr lang="en-US" sz="900" b="1" spc="200" kern="0" dirty="0">
                <a:solidFill>
                  <a:srgbClr val="94A3B8"/>
                </a:solidFill>
                <a:latin typeface="Calibri" pitchFamily="34" charset="0"/>
                <a:ea typeface="Calibri" pitchFamily="34" charset="-122"/>
                <a:cs typeface="Calibri" pitchFamily="34" charset="-120"/>
              </a:rPr>
              <a:t>DATABASE</a:t>
            </a:r>
            <a:endParaRPr lang="en-US" sz="900" dirty="0"/>
          </a:p>
        </p:txBody>
      </p:sp>
      <p:sp>
        <p:nvSpPr>
          <p:cNvPr id="13" name="Text 11"/>
          <p:cNvSpPr/>
          <p:nvPr/>
        </p:nvSpPr>
        <p:spPr>
          <a:xfrm>
            <a:off x="4892040" y="1280160"/>
            <a:ext cx="3840480" cy="338328"/>
          </a:xfrm>
          <a:prstGeom prst="rect">
            <a:avLst/>
          </a:prstGeom>
          <a:noFill/>
          <a:ln/>
        </p:spPr>
        <p:txBody>
          <a:bodyPr wrap="square" rtlCol="0" anchor="ctr"/>
          <a:lstStyle/>
          <a:p>
            <a:pPr indent="0" marL="0">
              <a:buNone/>
            </a:pPr>
            <a:r>
              <a:rPr lang="en-US" sz="1400" b="1" dirty="0">
                <a:solidFill>
                  <a:srgbClr val="FB923C"/>
                </a:solidFill>
                <a:latin typeface="Calibri" pitchFamily="34" charset="0"/>
                <a:ea typeface="Calibri" pitchFamily="34" charset="-122"/>
                <a:cs typeface="Calibri" pitchFamily="34" charset="-120"/>
              </a:rPr>
              <a:t>PostgreSQL + Prisma</a:t>
            </a:r>
            <a:endParaRPr lang="en-US" sz="1400" dirty="0"/>
          </a:p>
        </p:txBody>
      </p:sp>
      <p:sp>
        <p:nvSpPr>
          <p:cNvPr id="14" name="Text 12"/>
          <p:cNvSpPr/>
          <p:nvPr/>
        </p:nvSpPr>
        <p:spPr>
          <a:xfrm>
            <a:off x="4892040" y="1636776"/>
            <a:ext cx="3840480" cy="530352"/>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Game data is relational — users, matches, ratings, moves need joins and transactions</a:t>
            </a:r>
            <a:endParaRPr lang="en-US" sz="1000" dirty="0"/>
          </a:p>
        </p:txBody>
      </p:sp>
      <p:sp>
        <p:nvSpPr>
          <p:cNvPr id="15" name="Shape 13"/>
          <p:cNvSpPr/>
          <p:nvPr/>
        </p:nvSpPr>
        <p:spPr>
          <a:xfrm>
            <a:off x="274320" y="2350008"/>
            <a:ext cx="4206240" cy="1298448"/>
          </a:xfrm>
          <a:prstGeom prst="rect">
            <a:avLst/>
          </a:prstGeom>
          <a:solidFill>
            <a:srgbClr val="1E293B"/>
          </a:solidFill>
          <a:ln w="9525">
            <a:solidFill>
              <a:srgbClr val="FCD34D"/>
            </a:solidFill>
            <a:prstDash val="solid"/>
          </a:ln>
          <a:effectLst>
            <a:outerShdw sx="100000" sy="100000" kx="0" ky="0" algn="bl" rotWithShape="0" blurRad="76200" dist="25400" dir="8100000">
              <a:srgbClr val="000000">
                <a:alpha val="22000"/>
              </a:srgbClr>
            </a:outerShdw>
          </a:effectLst>
        </p:spPr>
      </p:sp>
      <p:sp>
        <p:nvSpPr>
          <p:cNvPr id="16" name="Shape 14"/>
          <p:cNvSpPr/>
          <p:nvPr/>
        </p:nvSpPr>
        <p:spPr>
          <a:xfrm>
            <a:off x="274320" y="2350008"/>
            <a:ext cx="64008" cy="1298448"/>
          </a:xfrm>
          <a:prstGeom prst="rect">
            <a:avLst/>
          </a:prstGeom>
          <a:solidFill>
            <a:srgbClr val="FCD34D"/>
          </a:solidFill>
          <a:ln/>
        </p:spPr>
      </p:sp>
      <p:sp>
        <p:nvSpPr>
          <p:cNvPr id="17" name="Text 15"/>
          <p:cNvSpPr/>
          <p:nvPr/>
        </p:nvSpPr>
        <p:spPr>
          <a:xfrm>
            <a:off x="457200" y="2441448"/>
            <a:ext cx="3840480" cy="246888"/>
          </a:xfrm>
          <a:prstGeom prst="rect">
            <a:avLst/>
          </a:prstGeom>
          <a:noFill/>
          <a:ln/>
        </p:spPr>
        <p:txBody>
          <a:bodyPr wrap="square" rtlCol="0" anchor="ctr"/>
          <a:lstStyle/>
          <a:p>
            <a:pPr indent="0" marL="0">
              <a:buNone/>
            </a:pPr>
            <a:r>
              <a:rPr lang="en-US" sz="900" b="1" spc="200" kern="0" dirty="0">
                <a:solidFill>
                  <a:srgbClr val="94A3B8"/>
                </a:solidFill>
                <a:latin typeface="Calibri" pitchFamily="34" charset="0"/>
                <a:ea typeface="Calibri" pitchFamily="34" charset="-122"/>
                <a:cs typeface="Calibri" pitchFamily="34" charset="-120"/>
              </a:rPr>
              <a:t>CACHE / QUEUE</a:t>
            </a:r>
            <a:endParaRPr lang="en-US" sz="900" dirty="0"/>
          </a:p>
        </p:txBody>
      </p:sp>
      <p:sp>
        <p:nvSpPr>
          <p:cNvPr id="18" name="Text 16"/>
          <p:cNvSpPr/>
          <p:nvPr/>
        </p:nvSpPr>
        <p:spPr>
          <a:xfrm>
            <a:off x="457200" y="2697480"/>
            <a:ext cx="3840480" cy="338328"/>
          </a:xfrm>
          <a:prstGeom prst="rect">
            <a:avLst/>
          </a:prstGeom>
          <a:noFill/>
          <a:ln/>
        </p:spPr>
        <p:txBody>
          <a:bodyPr wrap="square" rtlCol="0" anchor="ctr"/>
          <a:lstStyle/>
          <a:p>
            <a:pPr indent="0" marL="0">
              <a:buNone/>
            </a:pPr>
            <a:r>
              <a:rPr lang="en-US" sz="1400" b="1" dirty="0">
                <a:solidFill>
                  <a:srgbClr val="FCD34D"/>
                </a:solidFill>
                <a:latin typeface="Calibri" pitchFamily="34" charset="0"/>
                <a:ea typeface="Calibri" pitchFamily="34" charset="-122"/>
                <a:cs typeface="Calibri" pitchFamily="34" charset="-120"/>
              </a:rPr>
              <a:t>Redis</a:t>
            </a:r>
            <a:endParaRPr lang="en-US" sz="1400" dirty="0"/>
          </a:p>
        </p:txBody>
      </p:sp>
      <p:sp>
        <p:nvSpPr>
          <p:cNvPr id="19" name="Text 17"/>
          <p:cNvSpPr/>
          <p:nvPr/>
        </p:nvSpPr>
        <p:spPr>
          <a:xfrm>
            <a:off x="457200" y="3054096"/>
            <a:ext cx="3840480" cy="530352"/>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Shared transient state — matchmaking queue, rooms, pub/sub — must live outside the process</a:t>
            </a:r>
            <a:endParaRPr lang="en-US" sz="1000" dirty="0"/>
          </a:p>
        </p:txBody>
      </p:sp>
      <p:sp>
        <p:nvSpPr>
          <p:cNvPr id="20" name="Shape 18"/>
          <p:cNvSpPr/>
          <p:nvPr/>
        </p:nvSpPr>
        <p:spPr>
          <a:xfrm>
            <a:off x="4709160" y="2350008"/>
            <a:ext cx="4206240" cy="1298448"/>
          </a:xfrm>
          <a:prstGeom prst="rect">
            <a:avLst/>
          </a:prstGeom>
          <a:solidFill>
            <a:srgbClr val="1E293B"/>
          </a:solidFill>
          <a:ln w="9525">
            <a:solidFill>
              <a:srgbClr val="4ADE80"/>
            </a:solidFill>
            <a:prstDash val="solid"/>
          </a:ln>
          <a:effectLst>
            <a:outerShdw sx="100000" sy="100000" kx="0" ky="0" algn="bl" rotWithShape="0" blurRad="76200" dist="25400" dir="8100000">
              <a:srgbClr val="000000">
                <a:alpha val="22000"/>
              </a:srgbClr>
            </a:outerShdw>
          </a:effectLst>
        </p:spPr>
      </p:sp>
      <p:sp>
        <p:nvSpPr>
          <p:cNvPr id="21" name="Shape 19"/>
          <p:cNvSpPr/>
          <p:nvPr/>
        </p:nvSpPr>
        <p:spPr>
          <a:xfrm>
            <a:off x="4709160" y="2350008"/>
            <a:ext cx="64008" cy="1298448"/>
          </a:xfrm>
          <a:prstGeom prst="rect">
            <a:avLst/>
          </a:prstGeom>
          <a:solidFill>
            <a:srgbClr val="4ADE80"/>
          </a:solidFill>
          <a:ln/>
        </p:spPr>
      </p:sp>
      <p:sp>
        <p:nvSpPr>
          <p:cNvPr id="22" name="Text 20"/>
          <p:cNvSpPr/>
          <p:nvPr/>
        </p:nvSpPr>
        <p:spPr>
          <a:xfrm>
            <a:off x="4892040" y="2441448"/>
            <a:ext cx="3840480" cy="246888"/>
          </a:xfrm>
          <a:prstGeom prst="rect">
            <a:avLst/>
          </a:prstGeom>
          <a:noFill/>
          <a:ln/>
        </p:spPr>
        <p:txBody>
          <a:bodyPr wrap="square" rtlCol="0" anchor="ctr"/>
          <a:lstStyle/>
          <a:p>
            <a:pPr indent="0" marL="0">
              <a:buNone/>
            </a:pPr>
            <a:r>
              <a:rPr lang="en-US" sz="900" b="1" spc="200" kern="0" dirty="0">
                <a:solidFill>
                  <a:srgbClr val="94A3B8"/>
                </a:solidFill>
                <a:latin typeface="Calibri" pitchFamily="34" charset="0"/>
                <a:ea typeface="Calibri" pitchFamily="34" charset="-122"/>
                <a:cs typeface="Calibri" pitchFamily="34" charset="-120"/>
              </a:rPr>
              <a:t>ARCHITECTURE</a:t>
            </a:r>
            <a:endParaRPr lang="en-US" sz="900" dirty="0"/>
          </a:p>
        </p:txBody>
      </p:sp>
      <p:sp>
        <p:nvSpPr>
          <p:cNvPr id="23" name="Text 21"/>
          <p:cNvSpPr/>
          <p:nvPr/>
        </p:nvSpPr>
        <p:spPr>
          <a:xfrm>
            <a:off x="4892040" y="2697480"/>
            <a:ext cx="3840480" cy="338328"/>
          </a:xfrm>
          <a:prstGeom prst="rect">
            <a:avLst/>
          </a:prstGeom>
          <a:noFill/>
          <a:ln/>
        </p:spPr>
        <p:txBody>
          <a:bodyPr wrap="square" rtlCol="0" anchor="ctr"/>
          <a:lstStyle/>
          <a:p>
            <a:pPr indent="0" marL="0">
              <a:buNone/>
            </a:pPr>
            <a:r>
              <a:rPr lang="en-US" sz="1400" b="1" dirty="0">
                <a:solidFill>
                  <a:srgbClr val="4ADE80"/>
                </a:solidFill>
                <a:latin typeface="Calibri" pitchFamily="34" charset="0"/>
                <a:ea typeface="Calibri" pitchFamily="34" charset="-122"/>
                <a:cs typeface="Calibri" pitchFamily="34" charset="-120"/>
              </a:rPr>
              <a:t>Modular Monolith</a:t>
            </a:r>
            <a:endParaRPr lang="en-US" sz="1400" dirty="0"/>
          </a:p>
        </p:txBody>
      </p:sp>
      <p:sp>
        <p:nvSpPr>
          <p:cNvPr id="24" name="Text 22"/>
          <p:cNvSpPr/>
          <p:nvPr/>
        </p:nvSpPr>
        <p:spPr>
          <a:xfrm>
            <a:off x="4892040" y="3054096"/>
            <a:ext cx="3840480" cy="530352"/>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One deployment, clean internal domains — same modularity as microservices, far lower operational cost</a:t>
            </a:r>
            <a:endParaRPr lang="en-US" sz="1000" dirty="0"/>
          </a:p>
        </p:txBody>
      </p:sp>
      <p:sp>
        <p:nvSpPr>
          <p:cNvPr id="25" name="Shape 23"/>
          <p:cNvSpPr/>
          <p:nvPr/>
        </p:nvSpPr>
        <p:spPr>
          <a:xfrm>
            <a:off x="274320" y="3767328"/>
            <a:ext cx="4206240" cy="1298448"/>
          </a:xfrm>
          <a:prstGeom prst="rect">
            <a:avLst/>
          </a:prstGeom>
          <a:solidFill>
            <a:srgbClr val="1E293B"/>
          </a:solidFill>
          <a:ln w="9525">
            <a:solidFill>
              <a:srgbClr val="A78BFA"/>
            </a:solidFill>
            <a:prstDash val="solid"/>
          </a:ln>
          <a:effectLst>
            <a:outerShdw sx="100000" sy="100000" kx="0" ky="0" algn="bl" rotWithShape="0" blurRad="76200" dist="25400" dir="8100000">
              <a:srgbClr val="000000">
                <a:alpha val="22000"/>
              </a:srgbClr>
            </a:outerShdw>
          </a:effectLst>
        </p:spPr>
      </p:sp>
      <p:sp>
        <p:nvSpPr>
          <p:cNvPr id="26" name="Shape 24"/>
          <p:cNvSpPr/>
          <p:nvPr/>
        </p:nvSpPr>
        <p:spPr>
          <a:xfrm>
            <a:off x="274320" y="3767328"/>
            <a:ext cx="64008" cy="1298448"/>
          </a:xfrm>
          <a:prstGeom prst="rect">
            <a:avLst/>
          </a:prstGeom>
          <a:solidFill>
            <a:srgbClr val="A78BFA"/>
          </a:solidFill>
          <a:ln/>
        </p:spPr>
      </p:sp>
      <p:sp>
        <p:nvSpPr>
          <p:cNvPr id="27" name="Text 25"/>
          <p:cNvSpPr/>
          <p:nvPr/>
        </p:nvSpPr>
        <p:spPr>
          <a:xfrm>
            <a:off x="457200" y="3858768"/>
            <a:ext cx="3840480" cy="246888"/>
          </a:xfrm>
          <a:prstGeom prst="rect">
            <a:avLst/>
          </a:prstGeom>
          <a:noFill/>
          <a:ln/>
        </p:spPr>
        <p:txBody>
          <a:bodyPr wrap="square" rtlCol="0" anchor="ctr"/>
          <a:lstStyle/>
          <a:p>
            <a:pPr indent="0" marL="0">
              <a:buNone/>
            </a:pPr>
            <a:r>
              <a:rPr lang="en-US" sz="900" b="1" spc="200" kern="0" dirty="0">
                <a:solidFill>
                  <a:srgbClr val="94A3B8"/>
                </a:solidFill>
                <a:latin typeface="Calibri" pitchFamily="34" charset="0"/>
                <a:ea typeface="Calibri" pitchFamily="34" charset="-122"/>
                <a:cs typeface="Calibri" pitchFamily="34" charset="-120"/>
              </a:rPr>
              <a:t>VALIDATION</a:t>
            </a:r>
            <a:endParaRPr lang="en-US" sz="900" dirty="0"/>
          </a:p>
        </p:txBody>
      </p:sp>
      <p:sp>
        <p:nvSpPr>
          <p:cNvPr id="28" name="Text 26"/>
          <p:cNvSpPr/>
          <p:nvPr/>
        </p:nvSpPr>
        <p:spPr>
          <a:xfrm>
            <a:off x="457200" y="4114800"/>
            <a:ext cx="3840480" cy="338328"/>
          </a:xfrm>
          <a:prstGeom prst="rect">
            <a:avLst/>
          </a:prstGeom>
          <a:noFill/>
          <a:ln/>
        </p:spPr>
        <p:txBody>
          <a:bodyPr wrap="square" rtlCol="0" anchor="ctr"/>
          <a:lstStyle/>
          <a:p>
            <a:pPr indent="0" marL="0">
              <a:buNone/>
            </a:pPr>
            <a:r>
              <a:rPr lang="en-US" sz="1400" b="1" dirty="0">
                <a:solidFill>
                  <a:srgbClr val="A78BFA"/>
                </a:solidFill>
                <a:latin typeface="Calibri" pitchFamily="34" charset="0"/>
                <a:ea typeface="Calibri" pitchFamily="34" charset="-122"/>
                <a:cs typeface="Calibri" pitchFamily="34" charset="-120"/>
              </a:rPr>
              <a:t>Zod</a:t>
            </a:r>
            <a:endParaRPr lang="en-US" sz="1400" dirty="0"/>
          </a:p>
        </p:txBody>
      </p:sp>
      <p:sp>
        <p:nvSpPr>
          <p:cNvPr id="29" name="Text 27"/>
          <p:cNvSpPr/>
          <p:nvPr/>
        </p:nvSpPr>
        <p:spPr>
          <a:xfrm>
            <a:off x="457200" y="4471416"/>
            <a:ext cx="3840480" cy="530352"/>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Runtime schema enforcement on every socket event and HTTP endpoint — no silent trust of client input</a:t>
            </a:r>
            <a:endParaRPr lang="en-US" sz="1000" dirty="0"/>
          </a:p>
        </p:txBody>
      </p:sp>
      <p:sp>
        <p:nvSpPr>
          <p:cNvPr id="30" name="Shape 28"/>
          <p:cNvSpPr/>
          <p:nvPr/>
        </p:nvSpPr>
        <p:spPr>
          <a:xfrm>
            <a:off x="4709160" y="3767328"/>
            <a:ext cx="4206240" cy="1298448"/>
          </a:xfrm>
          <a:prstGeom prst="rect">
            <a:avLst/>
          </a:prstGeom>
          <a:solidFill>
            <a:srgbClr val="1E293B"/>
          </a:solidFill>
          <a:ln w="9525">
            <a:solidFill>
              <a:srgbClr val="F472B6"/>
            </a:solidFill>
            <a:prstDash val="solid"/>
          </a:ln>
          <a:effectLst>
            <a:outerShdw sx="100000" sy="100000" kx="0" ky="0" algn="bl" rotWithShape="0" blurRad="76200" dist="25400" dir="8100000">
              <a:srgbClr val="000000">
                <a:alpha val="22000"/>
              </a:srgbClr>
            </a:outerShdw>
          </a:effectLst>
        </p:spPr>
      </p:sp>
      <p:sp>
        <p:nvSpPr>
          <p:cNvPr id="31" name="Shape 29"/>
          <p:cNvSpPr/>
          <p:nvPr/>
        </p:nvSpPr>
        <p:spPr>
          <a:xfrm>
            <a:off x="4709160" y="3767328"/>
            <a:ext cx="64008" cy="1298448"/>
          </a:xfrm>
          <a:prstGeom prst="rect">
            <a:avLst/>
          </a:prstGeom>
          <a:solidFill>
            <a:srgbClr val="F472B6"/>
          </a:solidFill>
          <a:ln/>
        </p:spPr>
      </p:sp>
      <p:sp>
        <p:nvSpPr>
          <p:cNvPr id="32" name="Text 30"/>
          <p:cNvSpPr/>
          <p:nvPr/>
        </p:nvSpPr>
        <p:spPr>
          <a:xfrm>
            <a:off x="4892040" y="3858768"/>
            <a:ext cx="3840480" cy="246888"/>
          </a:xfrm>
          <a:prstGeom prst="rect">
            <a:avLst/>
          </a:prstGeom>
          <a:noFill/>
          <a:ln/>
        </p:spPr>
        <p:txBody>
          <a:bodyPr wrap="square" rtlCol="0" anchor="ctr"/>
          <a:lstStyle/>
          <a:p>
            <a:pPr indent="0" marL="0">
              <a:buNone/>
            </a:pPr>
            <a:r>
              <a:rPr lang="en-US" sz="900" b="1" spc="200" kern="0" dirty="0">
                <a:solidFill>
                  <a:srgbClr val="94A3B8"/>
                </a:solidFill>
                <a:latin typeface="Calibri" pitchFamily="34" charset="0"/>
                <a:ea typeface="Calibri" pitchFamily="34" charset="-122"/>
                <a:cs typeface="Calibri" pitchFamily="34" charset="-120"/>
              </a:rPr>
              <a:t>FRONTEND STATE</a:t>
            </a:r>
            <a:endParaRPr lang="en-US" sz="900" dirty="0"/>
          </a:p>
        </p:txBody>
      </p:sp>
      <p:sp>
        <p:nvSpPr>
          <p:cNvPr id="33" name="Text 31"/>
          <p:cNvSpPr/>
          <p:nvPr/>
        </p:nvSpPr>
        <p:spPr>
          <a:xfrm>
            <a:off x="4892040" y="4114800"/>
            <a:ext cx="3840480" cy="338328"/>
          </a:xfrm>
          <a:prstGeom prst="rect">
            <a:avLst/>
          </a:prstGeom>
          <a:noFill/>
          <a:ln/>
        </p:spPr>
        <p:txBody>
          <a:bodyPr wrap="square" rtlCol="0" anchor="ctr"/>
          <a:lstStyle/>
          <a:p>
            <a:pPr indent="0" marL="0">
              <a:buNone/>
            </a:pPr>
            <a:r>
              <a:rPr lang="en-US" sz="1400" b="1" dirty="0">
                <a:solidFill>
                  <a:srgbClr val="F472B6"/>
                </a:solidFill>
                <a:latin typeface="Calibri" pitchFamily="34" charset="0"/>
                <a:ea typeface="Calibri" pitchFamily="34" charset="-122"/>
                <a:cs typeface="Calibri" pitchFamily="34" charset="-120"/>
              </a:rPr>
              <a:t>Zustand + Context</a:t>
            </a:r>
            <a:endParaRPr lang="en-US" sz="1400" dirty="0"/>
          </a:p>
        </p:txBody>
      </p:sp>
      <p:sp>
        <p:nvSpPr>
          <p:cNvPr id="34" name="Text 32"/>
          <p:cNvSpPr/>
          <p:nvPr/>
        </p:nvSpPr>
        <p:spPr>
          <a:xfrm>
            <a:off x="4892040" y="4471416"/>
            <a:ext cx="3840480" cy="530352"/>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Feature-local game state in Zustand; cross-cutting auth in Context — no unnecessary re-renders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22D3EE"/>
          </a:solidFill>
          <a:ln/>
        </p:spPr>
      </p:sp>
      <p:sp>
        <p:nvSpPr>
          <p:cNvPr id="3" name="Text 1"/>
          <p:cNvSpPr/>
          <p:nvPr/>
        </p:nvSpPr>
        <p:spPr>
          <a:xfrm>
            <a:off x="274320" y="164592"/>
            <a:ext cx="8595360" cy="475488"/>
          </a:xfrm>
          <a:prstGeom prst="rect">
            <a:avLst/>
          </a:prstGeom>
          <a:noFill/>
          <a:ln/>
        </p:spPr>
        <p:txBody>
          <a:bodyPr wrap="square" rtlCol="0" anchor="ctr"/>
          <a:lstStyle/>
          <a:p>
            <a:pPr indent="0" marL="0">
              <a:buNone/>
            </a:pPr>
            <a:r>
              <a:rPr lang="en-US" sz="2500" b="1" dirty="0">
                <a:solidFill>
                  <a:srgbClr val="F1F5F9"/>
                </a:solidFill>
                <a:latin typeface="Calibri" pitchFamily="34" charset="0"/>
                <a:ea typeface="Calibri" pitchFamily="34" charset="-122"/>
                <a:cs typeface="Calibri" pitchFamily="34" charset="-120"/>
              </a:rPr>
              <a:t>14-Phase Engineering Roadmap</a:t>
            </a:r>
            <a:endParaRPr lang="en-US" sz="2500" dirty="0"/>
          </a:p>
        </p:txBody>
      </p:sp>
      <p:sp>
        <p:nvSpPr>
          <p:cNvPr id="4" name="Text 2"/>
          <p:cNvSpPr/>
          <p:nvPr/>
        </p:nvSpPr>
        <p:spPr>
          <a:xfrm>
            <a:off x="274320" y="658368"/>
            <a:ext cx="8595360" cy="256032"/>
          </a:xfrm>
          <a:prstGeom prst="rect">
            <a:avLst/>
          </a:prstGeom>
          <a:noFill/>
          <a:ln/>
        </p:spPr>
        <p:txBody>
          <a:bodyPr wrap="square" rtlCol="0" anchor="ctr"/>
          <a:lstStyle/>
          <a:p>
            <a:pPr indent="0" marL="0">
              <a:buNone/>
            </a:pPr>
            <a:r>
              <a:rPr lang="en-US" sz="1150" i="1" dirty="0">
                <a:solidFill>
                  <a:srgbClr val="94A3B8"/>
                </a:solidFill>
                <a:latin typeface="Calibri" pitchFamily="34" charset="0"/>
                <a:ea typeface="Calibri" pitchFamily="34" charset="-122"/>
                <a:cs typeface="Calibri" pitchFamily="34" charset="-120"/>
              </a:rPr>
              <a:t>Ordered to minimise chaos — each phase builds the foundation for the next</a:t>
            </a:r>
            <a:endParaRPr lang="en-US" sz="1150" dirty="0"/>
          </a:p>
        </p:txBody>
      </p:sp>
      <p:sp>
        <p:nvSpPr>
          <p:cNvPr id="5" name="Shape 3"/>
          <p:cNvSpPr/>
          <p:nvPr/>
        </p:nvSpPr>
        <p:spPr>
          <a:xfrm>
            <a:off x="201168" y="969264"/>
            <a:ext cx="1627632" cy="1261872"/>
          </a:xfrm>
          <a:prstGeom prst="rect">
            <a:avLst/>
          </a:prstGeom>
          <a:solidFill>
            <a:srgbClr val="1E293B"/>
          </a:solidFill>
          <a:ln w="9525">
            <a:solidFill>
              <a:srgbClr val="6366F1"/>
            </a:solidFill>
            <a:prstDash val="solid"/>
          </a:ln>
          <a:effectLst>
            <a:outerShdw sx="100000" sy="100000" kx="0" ky="0" algn="bl" rotWithShape="0" blurRad="76200" dist="25400" dir="8100000">
              <a:srgbClr val="000000">
                <a:alpha val="22000"/>
              </a:srgbClr>
            </a:outerShdw>
          </a:effectLst>
        </p:spPr>
      </p:sp>
      <p:sp>
        <p:nvSpPr>
          <p:cNvPr id="6" name="Shape 4"/>
          <p:cNvSpPr/>
          <p:nvPr/>
        </p:nvSpPr>
        <p:spPr>
          <a:xfrm>
            <a:off x="201168" y="969264"/>
            <a:ext cx="1627632" cy="45720"/>
          </a:xfrm>
          <a:prstGeom prst="rect">
            <a:avLst/>
          </a:prstGeom>
          <a:solidFill>
            <a:srgbClr val="6366F1"/>
          </a:solidFill>
          <a:ln/>
        </p:spPr>
      </p:sp>
      <p:sp>
        <p:nvSpPr>
          <p:cNvPr id="7" name="Text 5"/>
          <p:cNvSpPr/>
          <p:nvPr/>
        </p:nvSpPr>
        <p:spPr>
          <a:xfrm>
            <a:off x="265176" y="1042416"/>
            <a:ext cx="594360" cy="420624"/>
          </a:xfrm>
          <a:prstGeom prst="rect">
            <a:avLst/>
          </a:prstGeom>
          <a:noFill/>
          <a:ln/>
        </p:spPr>
        <p:txBody>
          <a:bodyPr wrap="square" rtlCol="0" anchor="ctr"/>
          <a:lstStyle/>
          <a:p>
            <a:pPr indent="0" marL="0">
              <a:buNone/>
            </a:pPr>
            <a:r>
              <a:rPr lang="en-US" sz="1500" b="1" dirty="0">
                <a:solidFill>
                  <a:srgbClr val="6366F1"/>
                </a:solidFill>
                <a:latin typeface="Calibri" pitchFamily="34" charset="0"/>
                <a:ea typeface="Calibri" pitchFamily="34" charset="-122"/>
                <a:cs typeface="Calibri" pitchFamily="34" charset="-120"/>
              </a:rPr>
              <a:t>P0</a:t>
            </a:r>
            <a:endParaRPr lang="en-US" sz="1500" dirty="0"/>
          </a:p>
        </p:txBody>
      </p:sp>
      <p:sp>
        <p:nvSpPr>
          <p:cNvPr id="8" name="Text 6"/>
          <p:cNvSpPr/>
          <p:nvPr/>
        </p:nvSpPr>
        <p:spPr>
          <a:xfrm>
            <a:off x="292608" y="1490472"/>
            <a:ext cx="1463040" cy="420624"/>
          </a:xfrm>
          <a:prstGeom prst="rect">
            <a:avLst/>
          </a:prstGeom>
          <a:noFill/>
          <a:ln/>
        </p:spPr>
        <p:txBody>
          <a:bodyPr wrap="square" rtlCol="0" anchor="ctr"/>
          <a:lstStyle/>
          <a:p>
            <a:pPr indent="0" marL="0">
              <a:buNone/>
            </a:pPr>
            <a:r>
              <a:rPr lang="en-US" sz="1050" b="1" dirty="0">
                <a:solidFill>
                  <a:srgbClr val="F1F5F9"/>
                </a:solidFill>
                <a:latin typeface="Calibri" pitchFamily="34" charset="0"/>
                <a:ea typeface="Calibri" pitchFamily="34" charset="-122"/>
                <a:cs typeface="Calibri" pitchFamily="34" charset="-120"/>
              </a:rPr>
              <a:t>Audit + Cleanup</a:t>
            </a:r>
            <a:endParaRPr lang="en-US" sz="1050" dirty="0"/>
          </a:p>
        </p:txBody>
      </p:sp>
      <p:sp>
        <p:nvSpPr>
          <p:cNvPr id="9" name="Text 7"/>
          <p:cNvSpPr/>
          <p:nvPr/>
        </p:nvSpPr>
        <p:spPr>
          <a:xfrm>
            <a:off x="292608" y="1938528"/>
            <a:ext cx="1463040" cy="246888"/>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Foundation</a:t>
            </a:r>
            <a:endParaRPr lang="en-US" sz="900" dirty="0"/>
          </a:p>
        </p:txBody>
      </p:sp>
      <p:sp>
        <p:nvSpPr>
          <p:cNvPr id="10" name="Shape 8"/>
          <p:cNvSpPr/>
          <p:nvPr/>
        </p:nvSpPr>
        <p:spPr>
          <a:xfrm>
            <a:off x="1965960" y="969264"/>
            <a:ext cx="1627632" cy="1261872"/>
          </a:xfrm>
          <a:prstGeom prst="rect">
            <a:avLst/>
          </a:prstGeom>
          <a:solidFill>
            <a:srgbClr val="1E293B"/>
          </a:solidFill>
          <a:ln w="9525">
            <a:solidFill>
              <a:srgbClr val="22D3EE"/>
            </a:solidFill>
            <a:prstDash val="solid"/>
          </a:ln>
          <a:effectLst>
            <a:outerShdw sx="100000" sy="100000" kx="0" ky="0" algn="bl" rotWithShape="0" blurRad="76200" dist="25400" dir="8100000">
              <a:srgbClr val="000000">
                <a:alpha val="22000"/>
              </a:srgbClr>
            </a:outerShdw>
          </a:effectLst>
        </p:spPr>
      </p:sp>
      <p:sp>
        <p:nvSpPr>
          <p:cNvPr id="11" name="Shape 9"/>
          <p:cNvSpPr/>
          <p:nvPr/>
        </p:nvSpPr>
        <p:spPr>
          <a:xfrm>
            <a:off x="1965960" y="969264"/>
            <a:ext cx="1627632" cy="45720"/>
          </a:xfrm>
          <a:prstGeom prst="rect">
            <a:avLst/>
          </a:prstGeom>
          <a:solidFill>
            <a:srgbClr val="22D3EE"/>
          </a:solidFill>
          <a:ln/>
        </p:spPr>
      </p:sp>
      <p:sp>
        <p:nvSpPr>
          <p:cNvPr id="12" name="Text 10"/>
          <p:cNvSpPr/>
          <p:nvPr/>
        </p:nvSpPr>
        <p:spPr>
          <a:xfrm>
            <a:off x="2029968" y="1042416"/>
            <a:ext cx="594360" cy="420624"/>
          </a:xfrm>
          <a:prstGeom prst="rect">
            <a:avLst/>
          </a:prstGeom>
          <a:noFill/>
          <a:ln/>
        </p:spPr>
        <p:txBody>
          <a:bodyPr wrap="square" rtlCol="0" anchor="ctr"/>
          <a:lstStyle/>
          <a:p>
            <a:pPr indent="0" marL="0">
              <a:buNone/>
            </a:pPr>
            <a:r>
              <a:rPr lang="en-US" sz="1500" b="1" dirty="0">
                <a:solidFill>
                  <a:srgbClr val="22D3EE"/>
                </a:solidFill>
                <a:latin typeface="Calibri" pitchFamily="34" charset="0"/>
                <a:ea typeface="Calibri" pitchFamily="34" charset="-122"/>
                <a:cs typeface="Calibri" pitchFamily="34" charset="-120"/>
              </a:rPr>
              <a:t>P1</a:t>
            </a:r>
            <a:endParaRPr lang="en-US" sz="1500" dirty="0"/>
          </a:p>
        </p:txBody>
      </p:sp>
      <p:sp>
        <p:nvSpPr>
          <p:cNvPr id="13" name="Text 11"/>
          <p:cNvSpPr/>
          <p:nvPr/>
        </p:nvSpPr>
        <p:spPr>
          <a:xfrm>
            <a:off x="2057400" y="1490472"/>
            <a:ext cx="1463040" cy="420624"/>
          </a:xfrm>
          <a:prstGeom prst="rect">
            <a:avLst/>
          </a:prstGeom>
          <a:noFill/>
          <a:ln/>
        </p:spPr>
        <p:txBody>
          <a:bodyPr wrap="square" rtlCol="0" anchor="ctr"/>
          <a:lstStyle/>
          <a:p>
            <a:pPr indent="0" marL="0">
              <a:buNone/>
            </a:pPr>
            <a:r>
              <a:rPr lang="en-US" sz="1050" b="1" dirty="0">
                <a:solidFill>
                  <a:srgbClr val="F1F5F9"/>
                </a:solidFill>
                <a:latin typeface="Calibri" pitchFamily="34" charset="0"/>
                <a:ea typeface="Calibri" pitchFamily="34" charset="-122"/>
                <a:cs typeface="Calibri" pitchFamily="34" charset="-120"/>
              </a:rPr>
              <a:t>TypeScript</a:t>
            </a:r>
            <a:endParaRPr lang="en-US" sz="1050" dirty="0"/>
          </a:p>
        </p:txBody>
      </p:sp>
      <p:sp>
        <p:nvSpPr>
          <p:cNvPr id="14" name="Text 12"/>
          <p:cNvSpPr/>
          <p:nvPr/>
        </p:nvSpPr>
        <p:spPr>
          <a:xfrm>
            <a:off x="2057400" y="1938528"/>
            <a:ext cx="1463040" cy="246888"/>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Foundation</a:t>
            </a:r>
            <a:endParaRPr lang="en-US" sz="900" dirty="0"/>
          </a:p>
        </p:txBody>
      </p:sp>
      <p:sp>
        <p:nvSpPr>
          <p:cNvPr id="15" name="Shape 13"/>
          <p:cNvSpPr/>
          <p:nvPr/>
        </p:nvSpPr>
        <p:spPr>
          <a:xfrm>
            <a:off x="3730752" y="969264"/>
            <a:ext cx="1627632" cy="1261872"/>
          </a:xfrm>
          <a:prstGeom prst="rect">
            <a:avLst/>
          </a:prstGeom>
          <a:solidFill>
            <a:srgbClr val="1E293B"/>
          </a:solidFill>
          <a:ln w="9525">
            <a:solidFill>
              <a:srgbClr val="4ADE80"/>
            </a:solidFill>
            <a:prstDash val="solid"/>
          </a:ln>
          <a:effectLst>
            <a:outerShdw sx="100000" sy="100000" kx="0" ky="0" algn="bl" rotWithShape="0" blurRad="76200" dist="25400" dir="8100000">
              <a:srgbClr val="000000">
                <a:alpha val="22000"/>
              </a:srgbClr>
            </a:outerShdw>
          </a:effectLst>
        </p:spPr>
      </p:sp>
      <p:sp>
        <p:nvSpPr>
          <p:cNvPr id="16" name="Shape 14"/>
          <p:cNvSpPr/>
          <p:nvPr/>
        </p:nvSpPr>
        <p:spPr>
          <a:xfrm>
            <a:off x="3730752" y="969264"/>
            <a:ext cx="1627632" cy="45720"/>
          </a:xfrm>
          <a:prstGeom prst="rect">
            <a:avLst/>
          </a:prstGeom>
          <a:solidFill>
            <a:srgbClr val="4ADE80"/>
          </a:solidFill>
          <a:ln/>
        </p:spPr>
      </p:sp>
      <p:sp>
        <p:nvSpPr>
          <p:cNvPr id="17" name="Text 15"/>
          <p:cNvSpPr/>
          <p:nvPr/>
        </p:nvSpPr>
        <p:spPr>
          <a:xfrm>
            <a:off x="3794760" y="1042416"/>
            <a:ext cx="594360" cy="420624"/>
          </a:xfrm>
          <a:prstGeom prst="rect">
            <a:avLst/>
          </a:prstGeom>
          <a:noFill/>
          <a:ln/>
        </p:spPr>
        <p:txBody>
          <a:bodyPr wrap="square" rtlCol="0" anchor="ctr"/>
          <a:lstStyle/>
          <a:p>
            <a:pPr indent="0" marL="0">
              <a:buNone/>
            </a:pPr>
            <a:r>
              <a:rPr lang="en-US" sz="1500" b="1" dirty="0">
                <a:solidFill>
                  <a:srgbClr val="4ADE80"/>
                </a:solidFill>
                <a:latin typeface="Calibri" pitchFamily="34" charset="0"/>
                <a:ea typeface="Calibri" pitchFamily="34" charset="-122"/>
                <a:cs typeface="Calibri" pitchFamily="34" charset="-120"/>
              </a:rPr>
              <a:t>P2</a:t>
            </a:r>
            <a:endParaRPr lang="en-US" sz="1500" dirty="0"/>
          </a:p>
        </p:txBody>
      </p:sp>
      <p:sp>
        <p:nvSpPr>
          <p:cNvPr id="18" name="Text 16"/>
          <p:cNvSpPr/>
          <p:nvPr/>
        </p:nvSpPr>
        <p:spPr>
          <a:xfrm>
            <a:off x="3822192" y="1490472"/>
            <a:ext cx="1463040" cy="420624"/>
          </a:xfrm>
          <a:prstGeom prst="rect">
            <a:avLst/>
          </a:prstGeom>
          <a:noFill/>
          <a:ln/>
        </p:spPr>
        <p:txBody>
          <a:bodyPr wrap="square" rtlCol="0" anchor="ctr"/>
          <a:lstStyle/>
          <a:p>
            <a:pPr indent="0" marL="0">
              <a:buNone/>
            </a:pPr>
            <a:r>
              <a:rPr lang="en-US" sz="1050" b="1" dirty="0">
                <a:solidFill>
                  <a:srgbClr val="F1F5F9"/>
                </a:solidFill>
                <a:latin typeface="Calibri" pitchFamily="34" charset="0"/>
                <a:ea typeface="Calibri" pitchFamily="34" charset="-122"/>
                <a:cs typeface="Calibri" pitchFamily="34" charset="-120"/>
              </a:rPr>
              <a:t>Modular Monolith</a:t>
            </a:r>
            <a:endParaRPr lang="en-US" sz="1050" dirty="0"/>
          </a:p>
        </p:txBody>
      </p:sp>
      <p:sp>
        <p:nvSpPr>
          <p:cNvPr id="19" name="Text 17"/>
          <p:cNvSpPr/>
          <p:nvPr/>
        </p:nvSpPr>
        <p:spPr>
          <a:xfrm>
            <a:off x="3822192" y="1938528"/>
            <a:ext cx="1463040" cy="246888"/>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Architecture</a:t>
            </a:r>
            <a:endParaRPr lang="en-US" sz="900" dirty="0"/>
          </a:p>
        </p:txBody>
      </p:sp>
      <p:sp>
        <p:nvSpPr>
          <p:cNvPr id="20" name="Shape 18"/>
          <p:cNvSpPr/>
          <p:nvPr/>
        </p:nvSpPr>
        <p:spPr>
          <a:xfrm>
            <a:off x="5495544" y="969264"/>
            <a:ext cx="1627632" cy="1261872"/>
          </a:xfrm>
          <a:prstGeom prst="rect">
            <a:avLst/>
          </a:prstGeom>
          <a:solidFill>
            <a:srgbClr val="1E293B"/>
          </a:solidFill>
          <a:ln w="9525">
            <a:solidFill>
              <a:srgbClr val="F87171"/>
            </a:solidFill>
            <a:prstDash val="solid"/>
          </a:ln>
          <a:effectLst>
            <a:outerShdw sx="100000" sy="100000" kx="0" ky="0" algn="bl" rotWithShape="0" blurRad="76200" dist="25400" dir="8100000">
              <a:srgbClr val="000000">
                <a:alpha val="22000"/>
              </a:srgbClr>
            </a:outerShdw>
          </a:effectLst>
        </p:spPr>
      </p:sp>
      <p:sp>
        <p:nvSpPr>
          <p:cNvPr id="21" name="Shape 19"/>
          <p:cNvSpPr/>
          <p:nvPr/>
        </p:nvSpPr>
        <p:spPr>
          <a:xfrm>
            <a:off x="5495544" y="969264"/>
            <a:ext cx="1627632" cy="45720"/>
          </a:xfrm>
          <a:prstGeom prst="rect">
            <a:avLst/>
          </a:prstGeom>
          <a:solidFill>
            <a:srgbClr val="F87171"/>
          </a:solidFill>
          <a:ln/>
        </p:spPr>
      </p:sp>
      <p:sp>
        <p:nvSpPr>
          <p:cNvPr id="22" name="Text 20"/>
          <p:cNvSpPr/>
          <p:nvPr/>
        </p:nvSpPr>
        <p:spPr>
          <a:xfrm>
            <a:off x="5559552" y="1042416"/>
            <a:ext cx="594360" cy="420624"/>
          </a:xfrm>
          <a:prstGeom prst="rect">
            <a:avLst/>
          </a:prstGeom>
          <a:noFill/>
          <a:ln/>
        </p:spPr>
        <p:txBody>
          <a:bodyPr wrap="square" rtlCol="0" anchor="ctr"/>
          <a:lstStyle/>
          <a:p>
            <a:pPr indent="0" marL="0">
              <a:buNone/>
            </a:pPr>
            <a:r>
              <a:rPr lang="en-US" sz="1500" b="1" dirty="0">
                <a:solidFill>
                  <a:srgbClr val="F87171"/>
                </a:solidFill>
                <a:latin typeface="Calibri" pitchFamily="34" charset="0"/>
                <a:ea typeface="Calibri" pitchFamily="34" charset="-122"/>
                <a:cs typeface="Calibri" pitchFamily="34" charset="-120"/>
              </a:rPr>
              <a:t>P3</a:t>
            </a:r>
            <a:endParaRPr lang="en-US" sz="1500" dirty="0"/>
          </a:p>
        </p:txBody>
      </p:sp>
      <p:sp>
        <p:nvSpPr>
          <p:cNvPr id="23" name="Text 21"/>
          <p:cNvSpPr/>
          <p:nvPr/>
        </p:nvSpPr>
        <p:spPr>
          <a:xfrm>
            <a:off x="5586984" y="1490472"/>
            <a:ext cx="1463040" cy="420624"/>
          </a:xfrm>
          <a:prstGeom prst="rect">
            <a:avLst/>
          </a:prstGeom>
          <a:noFill/>
          <a:ln/>
        </p:spPr>
        <p:txBody>
          <a:bodyPr wrap="square" rtlCol="0" anchor="ctr"/>
          <a:lstStyle/>
          <a:p>
            <a:pPr indent="0" marL="0">
              <a:buNone/>
            </a:pPr>
            <a:r>
              <a:rPr lang="en-US" sz="1050" b="1" dirty="0">
                <a:solidFill>
                  <a:srgbClr val="F1F5F9"/>
                </a:solidFill>
                <a:latin typeface="Calibri" pitchFamily="34" charset="0"/>
                <a:ea typeface="Calibri" pitchFamily="34" charset="-122"/>
                <a:cs typeface="Calibri" pitchFamily="34" charset="-120"/>
              </a:rPr>
              <a:t>Security Hardening</a:t>
            </a:r>
            <a:endParaRPr lang="en-US" sz="1050" dirty="0"/>
          </a:p>
        </p:txBody>
      </p:sp>
      <p:sp>
        <p:nvSpPr>
          <p:cNvPr id="24" name="Text 22"/>
          <p:cNvSpPr/>
          <p:nvPr/>
        </p:nvSpPr>
        <p:spPr>
          <a:xfrm>
            <a:off x="5586984" y="1938528"/>
            <a:ext cx="1463040" cy="246888"/>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Architecture</a:t>
            </a:r>
            <a:endParaRPr lang="en-US" sz="900" dirty="0"/>
          </a:p>
        </p:txBody>
      </p:sp>
      <p:sp>
        <p:nvSpPr>
          <p:cNvPr id="25" name="Shape 23"/>
          <p:cNvSpPr/>
          <p:nvPr/>
        </p:nvSpPr>
        <p:spPr>
          <a:xfrm>
            <a:off x="7260336" y="969264"/>
            <a:ext cx="1627632" cy="1261872"/>
          </a:xfrm>
          <a:prstGeom prst="rect">
            <a:avLst/>
          </a:prstGeom>
          <a:solidFill>
            <a:srgbClr val="1E293B"/>
          </a:solidFill>
          <a:ln w="9525">
            <a:solidFill>
              <a:srgbClr val="FB923C"/>
            </a:solidFill>
            <a:prstDash val="solid"/>
          </a:ln>
          <a:effectLst>
            <a:outerShdw sx="100000" sy="100000" kx="0" ky="0" algn="bl" rotWithShape="0" blurRad="76200" dist="25400" dir="8100000">
              <a:srgbClr val="000000">
                <a:alpha val="22000"/>
              </a:srgbClr>
            </a:outerShdw>
          </a:effectLst>
        </p:spPr>
      </p:sp>
      <p:sp>
        <p:nvSpPr>
          <p:cNvPr id="26" name="Shape 24"/>
          <p:cNvSpPr/>
          <p:nvPr/>
        </p:nvSpPr>
        <p:spPr>
          <a:xfrm>
            <a:off x="7260336" y="969264"/>
            <a:ext cx="1627632" cy="45720"/>
          </a:xfrm>
          <a:prstGeom prst="rect">
            <a:avLst/>
          </a:prstGeom>
          <a:solidFill>
            <a:srgbClr val="FB923C"/>
          </a:solidFill>
          <a:ln/>
        </p:spPr>
      </p:sp>
      <p:sp>
        <p:nvSpPr>
          <p:cNvPr id="27" name="Text 25"/>
          <p:cNvSpPr/>
          <p:nvPr/>
        </p:nvSpPr>
        <p:spPr>
          <a:xfrm>
            <a:off x="7324344" y="1042416"/>
            <a:ext cx="594360" cy="420624"/>
          </a:xfrm>
          <a:prstGeom prst="rect">
            <a:avLst/>
          </a:prstGeom>
          <a:noFill/>
          <a:ln/>
        </p:spPr>
        <p:txBody>
          <a:bodyPr wrap="square" rtlCol="0" anchor="ctr"/>
          <a:lstStyle/>
          <a:p>
            <a:pPr indent="0" marL="0">
              <a:buNone/>
            </a:pPr>
            <a:r>
              <a:rPr lang="en-US" sz="1500" b="1" dirty="0">
                <a:solidFill>
                  <a:srgbClr val="FB923C"/>
                </a:solidFill>
                <a:latin typeface="Calibri" pitchFamily="34" charset="0"/>
                <a:ea typeface="Calibri" pitchFamily="34" charset="-122"/>
                <a:cs typeface="Calibri" pitchFamily="34" charset="-120"/>
              </a:rPr>
              <a:t>P4</a:t>
            </a:r>
            <a:endParaRPr lang="en-US" sz="1500" dirty="0"/>
          </a:p>
        </p:txBody>
      </p:sp>
      <p:sp>
        <p:nvSpPr>
          <p:cNvPr id="28" name="Text 26"/>
          <p:cNvSpPr/>
          <p:nvPr/>
        </p:nvSpPr>
        <p:spPr>
          <a:xfrm>
            <a:off x="7351776" y="1490472"/>
            <a:ext cx="1463040" cy="420624"/>
          </a:xfrm>
          <a:prstGeom prst="rect">
            <a:avLst/>
          </a:prstGeom>
          <a:noFill/>
          <a:ln/>
        </p:spPr>
        <p:txBody>
          <a:bodyPr wrap="square" rtlCol="0" anchor="ctr"/>
          <a:lstStyle/>
          <a:p>
            <a:pPr indent="0" marL="0">
              <a:buNone/>
            </a:pPr>
            <a:r>
              <a:rPr lang="en-US" sz="1050" b="1" dirty="0">
                <a:solidFill>
                  <a:srgbClr val="F1F5F9"/>
                </a:solidFill>
                <a:latin typeface="Calibri" pitchFamily="34" charset="0"/>
                <a:ea typeface="Calibri" pitchFamily="34" charset="-122"/>
                <a:cs typeface="Calibri" pitchFamily="34" charset="-120"/>
              </a:rPr>
              <a:t>PostgreSQL+Prisma</a:t>
            </a:r>
            <a:endParaRPr lang="en-US" sz="1050" dirty="0"/>
          </a:p>
        </p:txBody>
      </p:sp>
      <p:sp>
        <p:nvSpPr>
          <p:cNvPr id="29" name="Text 27"/>
          <p:cNvSpPr/>
          <p:nvPr/>
        </p:nvSpPr>
        <p:spPr>
          <a:xfrm>
            <a:off x="7351776" y="1938528"/>
            <a:ext cx="1463040" cy="246888"/>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Data</a:t>
            </a:r>
            <a:endParaRPr lang="en-US" sz="900" dirty="0"/>
          </a:p>
        </p:txBody>
      </p:sp>
      <p:sp>
        <p:nvSpPr>
          <p:cNvPr id="30" name="Shape 28"/>
          <p:cNvSpPr/>
          <p:nvPr/>
        </p:nvSpPr>
        <p:spPr>
          <a:xfrm>
            <a:off x="201168" y="2359152"/>
            <a:ext cx="1627632" cy="1261872"/>
          </a:xfrm>
          <a:prstGeom prst="rect">
            <a:avLst/>
          </a:prstGeom>
          <a:solidFill>
            <a:srgbClr val="1E293B"/>
          </a:solidFill>
          <a:ln w="9525">
            <a:solidFill>
              <a:srgbClr val="FCD34D"/>
            </a:solidFill>
            <a:prstDash val="solid"/>
          </a:ln>
          <a:effectLst>
            <a:outerShdw sx="100000" sy="100000" kx="0" ky="0" algn="bl" rotWithShape="0" blurRad="76200" dist="25400" dir="8100000">
              <a:srgbClr val="000000">
                <a:alpha val="22000"/>
              </a:srgbClr>
            </a:outerShdw>
          </a:effectLst>
        </p:spPr>
      </p:sp>
      <p:sp>
        <p:nvSpPr>
          <p:cNvPr id="31" name="Shape 29"/>
          <p:cNvSpPr/>
          <p:nvPr/>
        </p:nvSpPr>
        <p:spPr>
          <a:xfrm>
            <a:off x="201168" y="2359152"/>
            <a:ext cx="1627632" cy="45720"/>
          </a:xfrm>
          <a:prstGeom prst="rect">
            <a:avLst/>
          </a:prstGeom>
          <a:solidFill>
            <a:srgbClr val="FCD34D"/>
          </a:solidFill>
          <a:ln/>
        </p:spPr>
      </p:sp>
      <p:sp>
        <p:nvSpPr>
          <p:cNvPr id="32" name="Text 30"/>
          <p:cNvSpPr/>
          <p:nvPr/>
        </p:nvSpPr>
        <p:spPr>
          <a:xfrm>
            <a:off x="265176" y="2432304"/>
            <a:ext cx="594360" cy="420624"/>
          </a:xfrm>
          <a:prstGeom prst="rect">
            <a:avLst/>
          </a:prstGeom>
          <a:noFill/>
          <a:ln/>
        </p:spPr>
        <p:txBody>
          <a:bodyPr wrap="square" rtlCol="0" anchor="ctr"/>
          <a:lstStyle/>
          <a:p>
            <a:pPr indent="0" marL="0">
              <a:buNone/>
            </a:pPr>
            <a:r>
              <a:rPr lang="en-US" sz="1500" b="1" dirty="0">
                <a:solidFill>
                  <a:srgbClr val="FCD34D"/>
                </a:solidFill>
                <a:latin typeface="Calibri" pitchFamily="34" charset="0"/>
                <a:ea typeface="Calibri" pitchFamily="34" charset="-122"/>
                <a:cs typeface="Calibri" pitchFamily="34" charset="-120"/>
              </a:rPr>
              <a:t>P5</a:t>
            </a:r>
            <a:endParaRPr lang="en-US" sz="1500" dirty="0"/>
          </a:p>
        </p:txBody>
      </p:sp>
      <p:sp>
        <p:nvSpPr>
          <p:cNvPr id="33" name="Text 31"/>
          <p:cNvSpPr/>
          <p:nvPr/>
        </p:nvSpPr>
        <p:spPr>
          <a:xfrm>
            <a:off x="292608" y="2880360"/>
            <a:ext cx="1463040" cy="420624"/>
          </a:xfrm>
          <a:prstGeom prst="rect">
            <a:avLst/>
          </a:prstGeom>
          <a:noFill/>
          <a:ln/>
        </p:spPr>
        <p:txBody>
          <a:bodyPr wrap="square" rtlCol="0" anchor="ctr"/>
          <a:lstStyle/>
          <a:p>
            <a:pPr indent="0" marL="0">
              <a:buNone/>
            </a:pPr>
            <a:r>
              <a:rPr lang="en-US" sz="1050" b="1" dirty="0">
                <a:solidFill>
                  <a:srgbClr val="F1F5F9"/>
                </a:solidFill>
                <a:latin typeface="Calibri" pitchFamily="34" charset="0"/>
                <a:ea typeface="Calibri" pitchFamily="34" charset="-122"/>
                <a:cs typeface="Calibri" pitchFamily="34" charset="-120"/>
              </a:rPr>
              <a:t>Redis</a:t>
            </a:r>
            <a:endParaRPr lang="en-US" sz="1050" dirty="0"/>
          </a:p>
        </p:txBody>
      </p:sp>
      <p:sp>
        <p:nvSpPr>
          <p:cNvPr id="34" name="Text 32"/>
          <p:cNvSpPr/>
          <p:nvPr/>
        </p:nvSpPr>
        <p:spPr>
          <a:xfrm>
            <a:off x="292608" y="3328416"/>
            <a:ext cx="1463040" cy="246888"/>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Scale</a:t>
            </a:r>
            <a:endParaRPr lang="en-US" sz="900" dirty="0"/>
          </a:p>
        </p:txBody>
      </p:sp>
      <p:sp>
        <p:nvSpPr>
          <p:cNvPr id="35" name="Shape 33"/>
          <p:cNvSpPr/>
          <p:nvPr/>
        </p:nvSpPr>
        <p:spPr>
          <a:xfrm>
            <a:off x="1965960" y="2359152"/>
            <a:ext cx="1627632" cy="1261872"/>
          </a:xfrm>
          <a:prstGeom prst="rect">
            <a:avLst/>
          </a:prstGeom>
          <a:solidFill>
            <a:srgbClr val="1E293B"/>
          </a:solidFill>
          <a:ln w="9525">
            <a:solidFill>
              <a:srgbClr val="A78BFA"/>
            </a:solidFill>
            <a:prstDash val="solid"/>
          </a:ln>
          <a:effectLst>
            <a:outerShdw sx="100000" sy="100000" kx="0" ky="0" algn="bl" rotWithShape="0" blurRad="76200" dist="25400" dir="8100000">
              <a:srgbClr val="000000">
                <a:alpha val="22000"/>
              </a:srgbClr>
            </a:outerShdw>
          </a:effectLst>
        </p:spPr>
      </p:sp>
      <p:sp>
        <p:nvSpPr>
          <p:cNvPr id="36" name="Shape 34"/>
          <p:cNvSpPr/>
          <p:nvPr/>
        </p:nvSpPr>
        <p:spPr>
          <a:xfrm>
            <a:off x="1965960" y="2359152"/>
            <a:ext cx="1627632" cy="45720"/>
          </a:xfrm>
          <a:prstGeom prst="rect">
            <a:avLst/>
          </a:prstGeom>
          <a:solidFill>
            <a:srgbClr val="A78BFA"/>
          </a:solidFill>
          <a:ln/>
        </p:spPr>
      </p:sp>
      <p:sp>
        <p:nvSpPr>
          <p:cNvPr id="37" name="Text 35"/>
          <p:cNvSpPr/>
          <p:nvPr/>
        </p:nvSpPr>
        <p:spPr>
          <a:xfrm>
            <a:off x="2029968" y="2432304"/>
            <a:ext cx="594360" cy="420624"/>
          </a:xfrm>
          <a:prstGeom prst="rect">
            <a:avLst/>
          </a:prstGeom>
          <a:noFill/>
          <a:ln/>
        </p:spPr>
        <p:txBody>
          <a:bodyPr wrap="square" rtlCol="0" anchor="ctr"/>
          <a:lstStyle/>
          <a:p>
            <a:pPr indent="0" marL="0">
              <a:buNone/>
            </a:pPr>
            <a:r>
              <a:rPr lang="en-US" sz="1500" b="1" dirty="0">
                <a:solidFill>
                  <a:srgbClr val="A78BFA"/>
                </a:solidFill>
                <a:latin typeface="Calibri" pitchFamily="34" charset="0"/>
                <a:ea typeface="Calibri" pitchFamily="34" charset="-122"/>
                <a:cs typeface="Calibri" pitchFamily="34" charset="-120"/>
              </a:rPr>
              <a:t>P6</a:t>
            </a:r>
            <a:endParaRPr lang="en-US" sz="1500" dirty="0"/>
          </a:p>
        </p:txBody>
      </p:sp>
      <p:sp>
        <p:nvSpPr>
          <p:cNvPr id="38" name="Text 36"/>
          <p:cNvSpPr/>
          <p:nvPr/>
        </p:nvSpPr>
        <p:spPr>
          <a:xfrm>
            <a:off x="2057400" y="2880360"/>
            <a:ext cx="1463040" cy="420624"/>
          </a:xfrm>
          <a:prstGeom prst="rect">
            <a:avLst/>
          </a:prstGeom>
          <a:noFill/>
          <a:ln/>
        </p:spPr>
        <p:txBody>
          <a:bodyPr wrap="square" rtlCol="0" anchor="ctr"/>
          <a:lstStyle/>
          <a:p>
            <a:pPr indent="0" marL="0">
              <a:buNone/>
            </a:pPr>
            <a:r>
              <a:rPr lang="en-US" sz="1050" b="1" dirty="0">
                <a:solidFill>
                  <a:srgbClr val="F1F5F9"/>
                </a:solidFill>
                <a:latin typeface="Calibri" pitchFamily="34" charset="0"/>
                <a:ea typeface="Calibri" pitchFamily="34" charset="-122"/>
                <a:cs typeface="Calibri" pitchFamily="34" charset="-120"/>
              </a:rPr>
              <a:t>Auth. Game Engine</a:t>
            </a:r>
            <a:endParaRPr lang="en-US" sz="1050" dirty="0"/>
          </a:p>
        </p:txBody>
      </p:sp>
      <p:sp>
        <p:nvSpPr>
          <p:cNvPr id="39" name="Text 37"/>
          <p:cNvSpPr/>
          <p:nvPr/>
        </p:nvSpPr>
        <p:spPr>
          <a:xfrm>
            <a:off x="2057400" y="3328416"/>
            <a:ext cx="1463040" cy="246888"/>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Core</a:t>
            </a:r>
            <a:endParaRPr lang="en-US" sz="900" dirty="0"/>
          </a:p>
        </p:txBody>
      </p:sp>
      <p:sp>
        <p:nvSpPr>
          <p:cNvPr id="40" name="Shape 38"/>
          <p:cNvSpPr/>
          <p:nvPr/>
        </p:nvSpPr>
        <p:spPr>
          <a:xfrm>
            <a:off x="3730752" y="2359152"/>
            <a:ext cx="1627632" cy="1261872"/>
          </a:xfrm>
          <a:prstGeom prst="rect">
            <a:avLst/>
          </a:prstGeom>
          <a:solidFill>
            <a:srgbClr val="1E293B"/>
          </a:solidFill>
          <a:ln w="9525">
            <a:solidFill>
              <a:srgbClr val="F472B6"/>
            </a:solidFill>
            <a:prstDash val="solid"/>
          </a:ln>
          <a:effectLst>
            <a:outerShdw sx="100000" sy="100000" kx="0" ky="0" algn="bl" rotWithShape="0" blurRad="76200" dist="25400" dir="8100000">
              <a:srgbClr val="000000">
                <a:alpha val="22000"/>
              </a:srgbClr>
            </a:outerShdw>
          </a:effectLst>
        </p:spPr>
      </p:sp>
      <p:sp>
        <p:nvSpPr>
          <p:cNvPr id="41" name="Shape 39"/>
          <p:cNvSpPr/>
          <p:nvPr/>
        </p:nvSpPr>
        <p:spPr>
          <a:xfrm>
            <a:off x="3730752" y="2359152"/>
            <a:ext cx="1627632" cy="45720"/>
          </a:xfrm>
          <a:prstGeom prst="rect">
            <a:avLst/>
          </a:prstGeom>
          <a:solidFill>
            <a:srgbClr val="F472B6"/>
          </a:solidFill>
          <a:ln/>
        </p:spPr>
      </p:sp>
      <p:sp>
        <p:nvSpPr>
          <p:cNvPr id="42" name="Text 40"/>
          <p:cNvSpPr/>
          <p:nvPr/>
        </p:nvSpPr>
        <p:spPr>
          <a:xfrm>
            <a:off x="3794760" y="2432304"/>
            <a:ext cx="594360" cy="420624"/>
          </a:xfrm>
          <a:prstGeom prst="rect">
            <a:avLst/>
          </a:prstGeom>
          <a:noFill/>
          <a:ln/>
        </p:spPr>
        <p:txBody>
          <a:bodyPr wrap="square" rtlCol="0" anchor="ctr"/>
          <a:lstStyle/>
          <a:p>
            <a:pPr indent="0" marL="0">
              <a:buNone/>
            </a:pPr>
            <a:r>
              <a:rPr lang="en-US" sz="1500" b="1" dirty="0">
                <a:solidFill>
                  <a:srgbClr val="F472B6"/>
                </a:solidFill>
                <a:latin typeface="Calibri" pitchFamily="34" charset="0"/>
                <a:ea typeface="Calibri" pitchFamily="34" charset="-122"/>
                <a:cs typeface="Calibri" pitchFamily="34" charset="-120"/>
              </a:rPr>
              <a:t>P7</a:t>
            </a:r>
            <a:endParaRPr lang="en-US" sz="1500" dirty="0"/>
          </a:p>
        </p:txBody>
      </p:sp>
      <p:sp>
        <p:nvSpPr>
          <p:cNvPr id="43" name="Text 41"/>
          <p:cNvSpPr/>
          <p:nvPr/>
        </p:nvSpPr>
        <p:spPr>
          <a:xfrm>
            <a:off x="3822192" y="2880360"/>
            <a:ext cx="1463040" cy="420624"/>
          </a:xfrm>
          <a:prstGeom prst="rect">
            <a:avLst/>
          </a:prstGeom>
          <a:noFill/>
          <a:ln/>
        </p:spPr>
        <p:txBody>
          <a:bodyPr wrap="square" rtlCol="0" anchor="ctr"/>
          <a:lstStyle/>
          <a:p>
            <a:pPr indent="0" marL="0">
              <a:buNone/>
            </a:pPr>
            <a:r>
              <a:rPr lang="en-US" sz="1050" b="1" dirty="0">
                <a:solidFill>
                  <a:srgbClr val="F1F5F9"/>
                </a:solidFill>
                <a:latin typeface="Calibri" pitchFamily="34" charset="0"/>
                <a:ea typeface="Calibri" pitchFamily="34" charset="-122"/>
                <a:cs typeface="Calibri" pitchFamily="34" charset="-120"/>
              </a:rPr>
              <a:t>Daily Challenge</a:t>
            </a:r>
            <a:endParaRPr lang="en-US" sz="1050" dirty="0"/>
          </a:p>
        </p:txBody>
      </p:sp>
      <p:sp>
        <p:nvSpPr>
          <p:cNvPr id="44" name="Text 42"/>
          <p:cNvSpPr/>
          <p:nvPr/>
        </p:nvSpPr>
        <p:spPr>
          <a:xfrm>
            <a:off x="3822192" y="3328416"/>
            <a:ext cx="1463040" cy="246888"/>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Feature</a:t>
            </a:r>
            <a:endParaRPr lang="en-US" sz="900" dirty="0"/>
          </a:p>
        </p:txBody>
      </p:sp>
      <p:sp>
        <p:nvSpPr>
          <p:cNvPr id="45" name="Shape 43"/>
          <p:cNvSpPr/>
          <p:nvPr/>
        </p:nvSpPr>
        <p:spPr>
          <a:xfrm>
            <a:off x="5495544" y="2359152"/>
            <a:ext cx="1627632" cy="1261872"/>
          </a:xfrm>
          <a:prstGeom prst="rect">
            <a:avLst/>
          </a:prstGeom>
          <a:solidFill>
            <a:srgbClr val="1E293B"/>
          </a:solidFill>
          <a:ln w="9525">
            <a:solidFill>
              <a:srgbClr val="2DD4BF"/>
            </a:solidFill>
            <a:prstDash val="solid"/>
          </a:ln>
          <a:effectLst>
            <a:outerShdw sx="100000" sy="100000" kx="0" ky="0" algn="bl" rotWithShape="0" blurRad="76200" dist="25400" dir="8100000">
              <a:srgbClr val="000000">
                <a:alpha val="22000"/>
              </a:srgbClr>
            </a:outerShdw>
          </a:effectLst>
        </p:spPr>
      </p:sp>
      <p:sp>
        <p:nvSpPr>
          <p:cNvPr id="46" name="Shape 44"/>
          <p:cNvSpPr/>
          <p:nvPr/>
        </p:nvSpPr>
        <p:spPr>
          <a:xfrm>
            <a:off x="5495544" y="2359152"/>
            <a:ext cx="1627632" cy="45720"/>
          </a:xfrm>
          <a:prstGeom prst="rect">
            <a:avLst/>
          </a:prstGeom>
          <a:solidFill>
            <a:srgbClr val="2DD4BF"/>
          </a:solidFill>
          <a:ln/>
        </p:spPr>
      </p:sp>
      <p:sp>
        <p:nvSpPr>
          <p:cNvPr id="47" name="Text 45"/>
          <p:cNvSpPr/>
          <p:nvPr/>
        </p:nvSpPr>
        <p:spPr>
          <a:xfrm>
            <a:off x="5559552" y="2432304"/>
            <a:ext cx="594360" cy="420624"/>
          </a:xfrm>
          <a:prstGeom prst="rect">
            <a:avLst/>
          </a:prstGeom>
          <a:noFill/>
          <a:ln/>
        </p:spPr>
        <p:txBody>
          <a:bodyPr wrap="square" rtlCol="0" anchor="ctr"/>
          <a:lstStyle/>
          <a:p>
            <a:pPr indent="0" marL="0">
              <a:buNone/>
            </a:pPr>
            <a:r>
              <a:rPr lang="en-US" sz="1500" b="1" dirty="0">
                <a:solidFill>
                  <a:srgbClr val="2DD4BF"/>
                </a:solidFill>
                <a:latin typeface="Calibri" pitchFamily="34" charset="0"/>
                <a:ea typeface="Calibri" pitchFamily="34" charset="-122"/>
                <a:cs typeface="Calibri" pitchFamily="34" charset="-120"/>
              </a:rPr>
              <a:t>P8</a:t>
            </a:r>
            <a:endParaRPr lang="en-US" sz="1500" dirty="0"/>
          </a:p>
        </p:txBody>
      </p:sp>
      <p:sp>
        <p:nvSpPr>
          <p:cNvPr id="48" name="Text 46"/>
          <p:cNvSpPr/>
          <p:nvPr/>
        </p:nvSpPr>
        <p:spPr>
          <a:xfrm>
            <a:off x="5586984" y="2880360"/>
            <a:ext cx="1463040" cy="420624"/>
          </a:xfrm>
          <a:prstGeom prst="rect">
            <a:avLst/>
          </a:prstGeom>
          <a:noFill/>
          <a:ln/>
        </p:spPr>
        <p:txBody>
          <a:bodyPr wrap="square" rtlCol="0" anchor="ctr"/>
          <a:lstStyle/>
          <a:p>
            <a:pPr indent="0" marL="0">
              <a:buNone/>
            </a:pPr>
            <a:r>
              <a:rPr lang="en-US" sz="1050" b="1" dirty="0">
                <a:solidFill>
                  <a:srgbClr val="F1F5F9"/>
                </a:solidFill>
                <a:latin typeface="Calibri" pitchFamily="34" charset="0"/>
                <a:ea typeface="Calibri" pitchFamily="34" charset="-122"/>
                <a:cs typeface="Calibri" pitchFamily="34" charset="-120"/>
              </a:rPr>
              <a:t>Hint Engine</a:t>
            </a:r>
            <a:endParaRPr lang="en-US" sz="1050" dirty="0"/>
          </a:p>
        </p:txBody>
      </p:sp>
      <p:sp>
        <p:nvSpPr>
          <p:cNvPr id="49" name="Text 47"/>
          <p:cNvSpPr/>
          <p:nvPr/>
        </p:nvSpPr>
        <p:spPr>
          <a:xfrm>
            <a:off x="5586984" y="3328416"/>
            <a:ext cx="1463040" cy="246888"/>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Feature</a:t>
            </a:r>
            <a:endParaRPr lang="en-US" sz="900" dirty="0"/>
          </a:p>
        </p:txBody>
      </p:sp>
      <p:sp>
        <p:nvSpPr>
          <p:cNvPr id="50" name="Shape 48"/>
          <p:cNvSpPr/>
          <p:nvPr/>
        </p:nvSpPr>
        <p:spPr>
          <a:xfrm>
            <a:off x="7260336" y="2359152"/>
            <a:ext cx="1627632" cy="1261872"/>
          </a:xfrm>
          <a:prstGeom prst="rect">
            <a:avLst/>
          </a:prstGeom>
          <a:solidFill>
            <a:srgbClr val="1E293B"/>
          </a:solidFill>
          <a:ln w="9525">
            <a:solidFill>
              <a:srgbClr val="60A5FA"/>
            </a:solidFill>
            <a:prstDash val="solid"/>
          </a:ln>
          <a:effectLst>
            <a:outerShdw sx="100000" sy="100000" kx="0" ky="0" algn="bl" rotWithShape="0" blurRad="76200" dist="25400" dir="8100000">
              <a:srgbClr val="000000">
                <a:alpha val="22000"/>
              </a:srgbClr>
            </a:outerShdw>
          </a:effectLst>
        </p:spPr>
      </p:sp>
      <p:sp>
        <p:nvSpPr>
          <p:cNvPr id="51" name="Shape 49"/>
          <p:cNvSpPr/>
          <p:nvPr/>
        </p:nvSpPr>
        <p:spPr>
          <a:xfrm>
            <a:off x="7260336" y="2359152"/>
            <a:ext cx="1627632" cy="45720"/>
          </a:xfrm>
          <a:prstGeom prst="rect">
            <a:avLst/>
          </a:prstGeom>
          <a:solidFill>
            <a:srgbClr val="60A5FA"/>
          </a:solidFill>
          <a:ln/>
        </p:spPr>
      </p:sp>
      <p:sp>
        <p:nvSpPr>
          <p:cNvPr id="52" name="Text 50"/>
          <p:cNvSpPr/>
          <p:nvPr/>
        </p:nvSpPr>
        <p:spPr>
          <a:xfrm>
            <a:off x="7324344" y="2432304"/>
            <a:ext cx="594360" cy="420624"/>
          </a:xfrm>
          <a:prstGeom prst="rect">
            <a:avLst/>
          </a:prstGeom>
          <a:noFill/>
          <a:ln/>
        </p:spPr>
        <p:txBody>
          <a:bodyPr wrap="square" rtlCol="0" anchor="ctr"/>
          <a:lstStyle/>
          <a:p>
            <a:pPr indent="0" marL="0">
              <a:buNone/>
            </a:pPr>
            <a:r>
              <a:rPr lang="en-US" sz="1500" b="1" dirty="0">
                <a:solidFill>
                  <a:srgbClr val="60A5FA"/>
                </a:solidFill>
                <a:latin typeface="Calibri" pitchFamily="34" charset="0"/>
                <a:ea typeface="Calibri" pitchFamily="34" charset="-122"/>
                <a:cs typeface="Calibri" pitchFamily="34" charset="-120"/>
              </a:rPr>
              <a:t>P9</a:t>
            </a:r>
            <a:endParaRPr lang="en-US" sz="1500" dirty="0"/>
          </a:p>
        </p:txBody>
      </p:sp>
      <p:sp>
        <p:nvSpPr>
          <p:cNvPr id="53" name="Text 51"/>
          <p:cNvSpPr/>
          <p:nvPr/>
        </p:nvSpPr>
        <p:spPr>
          <a:xfrm>
            <a:off x="7351776" y="2880360"/>
            <a:ext cx="1463040" cy="420624"/>
          </a:xfrm>
          <a:prstGeom prst="rect">
            <a:avLst/>
          </a:prstGeom>
          <a:noFill/>
          <a:ln/>
        </p:spPr>
        <p:txBody>
          <a:bodyPr wrap="square" rtlCol="0" anchor="ctr"/>
          <a:lstStyle/>
          <a:p>
            <a:pPr indent="0" marL="0">
              <a:buNone/>
            </a:pPr>
            <a:r>
              <a:rPr lang="en-US" sz="1050" b="1" dirty="0">
                <a:solidFill>
                  <a:srgbClr val="F1F5F9"/>
                </a:solidFill>
                <a:latin typeface="Calibri" pitchFamily="34" charset="0"/>
                <a:ea typeface="Calibri" pitchFamily="34" charset="-122"/>
                <a:cs typeface="Calibri" pitchFamily="34" charset="-120"/>
              </a:rPr>
              <a:t>Frontend Refactor</a:t>
            </a:r>
            <a:endParaRPr lang="en-US" sz="1050" dirty="0"/>
          </a:p>
        </p:txBody>
      </p:sp>
      <p:sp>
        <p:nvSpPr>
          <p:cNvPr id="54" name="Text 52"/>
          <p:cNvSpPr/>
          <p:nvPr/>
        </p:nvSpPr>
        <p:spPr>
          <a:xfrm>
            <a:off x="7351776" y="3328416"/>
            <a:ext cx="1463040" cy="246888"/>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Frontend</a:t>
            </a:r>
            <a:endParaRPr lang="en-US" sz="900" dirty="0"/>
          </a:p>
        </p:txBody>
      </p:sp>
      <p:sp>
        <p:nvSpPr>
          <p:cNvPr id="55" name="Shape 53"/>
          <p:cNvSpPr/>
          <p:nvPr/>
        </p:nvSpPr>
        <p:spPr>
          <a:xfrm>
            <a:off x="201168" y="3749040"/>
            <a:ext cx="1627632" cy="1261872"/>
          </a:xfrm>
          <a:prstGeom prst="rect">
            <a:avLst/>
          </a:prstGeom>
          <a:solidFill>
            <a:srgbClr val="1E293B"/>
          </a:solidFill>
          <a:ln w="9525">
            <a:solidFill>
              <a:srgbClr val="FBBF24"/>
            </a:solidFill>
            <a:prstDash val="solid"/>
          </a:ln>
          <a:effectLst>
            <a:outerShdw sx="100000" sy="100000" kx="0" ky="0" algn="bl" rotWithShape="0" blurRad="76200" dist="25400" dir="8100000">
              <a:srgbClr val="000000">
                <a:alpha val="22000"/>
              </a:srgbClr>
            </a:outerShdw>
          </a:effectLst>
        </p:spPr>
      </p:sp>
      <p:sp>
        <p:nvSpPr>
          <p:cNvPr id="56" name="Shape 54"/>
          <p:cNvSpPr/>
          <p:nvPr/>
        </p:nvSpPr>
        <p:spPr>
          <a:xfrm>
            <a:off x="201168" y="3749040"/>
            <a:ext cx="1627632" cy="45720"/>
          </a:xfrm>
          <a:prstGeom prst="rect">
            <a:avLst/>
          </a:prstGeom>
          <a:solidFill>
            <a:srgbClr val="FBBF24"/>
          </a:solidFill>
          <a:ln/>
        </p:spPr>
      </p:sp>
      <p:sp>
        <p:nvSpPr>
          <p:cNvPr id="57" name="Text 55"/>
          <p:cNvSpPr/>
          <p:nvPr/>
        </p:nvSpPr>
        <p:spPr>
          <a:xfrm>
            <a:off x="265176" y="3822192"/>
            <a:ext cx="594360" cy="420624"/>
          </a:xfrm>
          <a:prstGeom prst="rect">
            <a:avLst/>
          </a:prstGeom>
          <a:noFill/>
          <a:ln/>
        </p:spPr>
        <p:txBody>
          <a:bodyPr wrap="square" rtlCol="0" anchor="ctr"/>
          <a:lstStyle/>
          <a:p>
            <a:pPr indent="0" marL="0">
              <a:buNone/>
            </a:pPr>
            <a:r>
              <a:rPr lang="en-US" sz="1500" b="1" dirty="0">
                <a:solidFill>
                  <a:srgbClr val="FBBF24"/>
                </a:solidFill>
                <a:latin typeface="Calibri" pitchFamily="34" charset="0"/>
                <a:ea typeface="Calibri" pitchFamily="34" charset="-122"/>
                <a:cs typeface="Calibri" pitchFamily="34" charset="-120"/>
              </a:rPr>
              <a:t>P10</a:t>
            </a:r>
            <a:endParaRPr lang="en-US" sz="1500" dirty="0"/>
          </a:p>
        </p:txBody>
      </p:sp>
      <p:sp>
        <p:nvSpPr>
          <p:cNvPr id="58" name="Text 56"/>
          <p:cNvSpPr/>
          <p:nvPr/>
        </p:nvSpPr>
        <p:spPr>
          <a:xfrm>
            <a:off x="292608" y="4270248"/>
            <a:ext cx="1463040" cy="420624"/>
          </a:xfrm>
          <a:prstGeom prst="rect">
            <a:avLst/>
          </a:prstGeom>
          <a:noFill/>
          <a:ln/>
        </p:spPr>
        <p:txBody>
          <a:bodyPr wrap="square" rtlCol="0" anchor="ctr"/>
          <a:lstStyle/>
          <a:p>
            <a:pPr indent="0" marL="0">
              <a:buNone/>
            </a:pPr>
            <a:r>
              <a:rPr lang="en-US" sz="1050" b="1" dirty="0">
                <a:solidFill>
                  <a:srgbClr val="F1F5F9"/>
                </a:solidFill>
                <a:latin typeface="Calibri" pitchFamily="34" charset="0"/>
                <a:ea typeface="Calibri" pitchFamily="34" charset="-122"/>
                <a:cs typeface="Calibri" pitchFamily="34" charset="-120"/>
              </a:rPr>
              <a:t>Testing</a:t>
            </a:r>
            <a:endParaRPr lang="en-US" sz="1050" dirty="0"/>
          </a:p>
        </p:txBody>
      </p:sp>
      <p:sp>
        <p:nvSpPr>
          <p:cNvPr id="59" name="Text 57"/>
          <p:cNvSpPr/>
          <p:nvPr/>
        </p:nvSpPr>
        <p:spPr>
          <a:xfrm>
            <a:off x="292608" y="4718304"/>
            <a:ext cx="1463040" cy="246888"/>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Quality</a:t>
            </a:r>
            <a:endParaRPr lang="en-US" sz="900" dirty="0"/>
          </a:p>
        </p:txBody>
      </p:sp>
      <p:sp>
        <p:nvSpPr>
          <p:cNvPr id="60" name="Shape 58"/>
          <p:cNvSpPr/>
          <p:nvPr/>
        </p:nvSpPr>
        <p:spPr>
          <a:xfrm>
            <a:off x="1965960" y="3749040"/>
            <a:ext cx="1627632" cy="1261872"/>
          </a:xfrm>
          <a:prstGeom prst="rect">
            <a:avLst/>
          </a:prstGeom>
          <a:solidFill>
            <a:srgbClr val="1E293B"/>
          </a:solidFill>
          <a:ln w="9525">
            <a:solidFill>
              <a:srgbClr val="EF4444"/>
            </a:solidFill>
            <a:prstDash val="solid"/>
          </a:ln>
          <a:effectLst>
            <a:outerShdw sx="100000" sy="100000" kx="0" ky="0" algn="bl" rotWithShape="0" blurRad="76200" dist="25400" dir="8100000">
              <a:srgbClr val="000000">
                <a:alpha val="22000"/>
              </a:srgbClr>
            </a:outerShdw>
          </a:effectLst>
        </p:spPr>
      </p:sp>
      <p:sp>
        <p:nvSpPr>
          <p:cNvPr id="61" name="Shape 59"/>
          <p:cNvSpPr/>
          <p:nvPr/>
        </p:nvSpPr>
        <p:spPr>
          <a:xfrm>
            <a:off x="1965960" y="3749040"/>
            <a:ext cx="1627632" cy="45720"/>
          </a:xfrm>
          <a:prstGeom prst="rect">
            <a:avLst/>
          </a:prstGeom>
          <a:solidFill>
            <a:srgbClr val="EF4444"/>
          </a:solidFill>
          <a:ln/>
        </p:spPr>
      </p:sp>
      <p:sp>
        <p:nvSpPr>
          <p:cNvPr id="62" name="Text 60"/>
          <p:cNvSpPr/>
          <p:nvPr/>
        </p:nvSpPr>
        <p:spPr>
          <a:xfrm>
            <a:off x="2029968" y="3822192"/>
            <a:ext cx="594360" cy="420624"/>
          </a:xfrm>
          <a:prstGeom prst="rect">
            <a:avLst/>
          </a:prstGeom>
          <a:noFill/>
          <a:ln/>
        </p:spPr>
        <p:txBody>
          <a:bodyPr wrap="square" rtlCol="0" anchor="ctr"/>
          <a:lstStyle/>
          <a:p>
            <a:pPr indent="0" marL="0">
              <a:buNone/>
            </a:pPr>
            <a:r>
              <a:rPr lang="en-US" sz="1500" b="1" dirty="0">
                <a:solidFill>
                  <a:srgbClr val="EF4444"/>
                </a:solidFill>
                <a:latin typeface="Calibri" pitchFamily="34" charset="0"/>
                <a:ea typeface="Calibri" pitchFamily="34" charset="-122"/>
                <a:cs typeface="Calibri" pitchFamily="34" charset="-120"/>
              </a:rPr>
              <a:t>P11</a:t>
            </a:r>
            <a:endParaRPr lang="en-US" sz="1500" dirty="0"/>
          </a:p>
        </p:txBody>
      </p:sp>
      <p:sp>
        <p:nvSpPr>
          <p:cNvPr id="63" name="Text 61"/>
          <p:cNvSpPr/>
          <p:nvPr/>
        </p:nvSpPr>
        <p:spPr>
          <a:xfrm>
            <a:off x="2057400" y="4270248"/>
            <a:ext cx="1463040" cy="420624"/>
          </a:xfrm>
          <a:prstGeom prst="rect">
            <a:avLst/>
          </a:prstGeom>
          <a:noFill/>
          <a:ln/>
        </p:spPr>
        <p:txBody>
          <a:bodyPr wrap="square" rtlCol="0" anchor="ctr"/>
          <a:lstStyle/>
          <a:p>
            <a:pPr indent="0" marL="0">
              <a:buNone/>
            </a:pPr>
            <a:r>
              <a:rPr lang="en-US" sz="1050" b="1" dirty="0">
                <a:solidFill>
                  <a:srgbClr val="F1F5F9"/>
                </a:solidFill>
                <a:latin typeface="Calibri" pitchFamily="34" charset="0"/>
                <a:ea typeface="Calibri" pitchFamily="34" charset="-122"/>
                <a:cs typeface="Calibri" pitchFamily="34" charset="-120"/>
              </a:rPr>
              <a:t>Load Testing</a:t>
            </a:r>
            <a:endParaRPr lang="en-US" sz="1050" dirty="0"/>
          </a:p>
        </p:txBody>
      </p:sp>
      <p:sp>
        <p:nvSpPr>
          <p:cNvPr id="64" name="Text 62"/>
          <p:cNvSpPr/>
          <p:nvPr/>
        </p:nvSpPr>
        <p:spPr>
          <a:xfrm>
            <a:off x="2057400" y="4718304"/>
            <a:ext cx="1463040" cy="246888"/>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Quality</a:t>
            </a:r>
            <a:endParaRPr lang="en-US" sz="900" dirty="0"/>
          </a:p>
        </p:txBody>
      </p:sp>
      <p:sp>
        <p:nvSpPr>
          <p:cNvPr id="65" name="Shape 63"/>
          <p:cNvSpPr/>
          <p:nvPr/>
        </p:nvSpPr>
        <p:spPr>
          <a:xfrm>
            <a:off x="3730752" y="3749040"/>
            <a:ext cx="1627632" cy="1261872"/>
          </a:xfrm>
          <a:prstGeom prst="rect">
            <a:avLst/>
          </a:prstGeom>
          <a:solidFill>
            <a:srgbClr val="1E293B"/>
          </a:solidFill>
          <a:ln w="9525">
            <a:solidFill>
              <a:srgbClr val="8B5CF6"/>
            </a:solidFill>
            <a:prstDash val="solid"/>
          </a:ln>
          <a:effectLst>
            <a:outerShdw sx="100000" sy="100000" kx="0" ky="0" algn="bl" rotWithShape="0" blurRad="76200" dist="25400" dir="8100000">
              <a:srgbClr val="000000">
                <a:alpha val="22000"/>
              </a:srgbClr>
            </a:outerShdw>
          </a:effectLst>
        </p:spPr>
      </p:sp>
      <p:sp>
        <p:nvSpPr>
          <p:cNvPr id="66" name="Shape 64"/>
          <p:cNvSpPr/>
          <p:nvPr/>
        </p:nvSpPr>
        <p:spPr>
          <a:xfrm>
            <a:off x="3730752" y="3749040"/>
            <a:ext cx="1627632" cy="45720"/>
          </a:xfrm>
          <a:prstGeom prst="rect">
            <a:avLst/>
          </a:prstGeom>
          <a:solidFill>
            <a:srgbClr val="8B5CF6"/>
          </a:solidFill>
          <a:ln/>
        </p:spPr>
      </p:sp>
      <p:sp>
        <p:nvSpPr>
          <p:cNvPr id="67" name="Text 65"/>
          <p:cNvSpPr/>
          <p:nvPr/>
        </p:nvSpPr>
        <p:spPr>
          <a:xfrm>
            <a:off x="3794760" y="3822192"/>
            <a:ext cx="594360" cy="420624"/>
          </a:xfrm>
          <a:prstGeom prst="rect">
            <a:avLst/>
          </a:prstGeom>
          <a:noFill/>
          <a:ln/>
        </p:spPr>
        <p:txBody>
          <a:bodyPr wrap="square" rtlCol="0" anchor="ctr"/>
          <a:lstStyle/>
          <a:p>
            <a:pPr indent="0" marL="0">
              <a:buNone/>
            </a:pPr>
            <a:r>
              <a:rPr lang="en-US" sz="1500" b="1" dirty="0">
                <a:solidFill>
                  <a:srgbClr val="8B5CF6"/>
                </a:solidFill>
                <a:latin typeface="Calibri" pitchFamily="34" charset="0"/>
                <a:ea typeface="Calibri" pitchFamily="34" charset="-122"/>
                <a:cs typeface="Calibri" pitchFamily="34" charset="-120"/>
              </a:rPr>
              <a:t>P12</a:t>
            </a:r>
            <a:endParaRPr lang="en-US" sz="1500" dirty="0"/>
          </a:p>
        </p:txBody>
      </p:sp>
      <p:sp>
        <p:nvSpPr>
          <p:cNvPr id="68" name="Text 66"/>
          <p:cNvSpPr/>
          <p:nvPr/>
        </p:nvSpPr>
        <p:spPr>
          <a:xfrm>
            <a:off x="3822192" y="4270248"/>
            <a:ext cx="1463040" cy="420624"/>
          </a:xfrm>
          <a:prstGeom prst="rect">
            <a:avLst/>
          </a:prstGeom>
          <a:noFill/>
          <a:ln/>
        </p:spPr>
        <p:txBody>
          <a:bodyPr wrap="square" rtlCol="0" anchor="ctr"/>
          <a:lstStyle/>
          <a:p>
            <a:pPr indent="0" marL="0">
              <a:buNone/>
            </a:pPr>
            <a:r>
              <a:rPr lang="en-US" sz="1050" b="1" dirty="0">
                <a:solidFill>
                  <a:srgbClr val="F1F5F9"/>
                </a:solidFill>
                <a:latin typeface="Calibri" pitchFamily="34" charset="0"/>
                <a:ea typeface="Calibri" pitchFamily="34" charset="-122"/>
                <a:cs typeface="Calibri" pitchFamily="34" charset="-120"/>
              </a:rPr>
              <a:t>Observability</a:t>
            </a:r>
            <a:endParaRPr lang="en-US" sz="1050" dirty="0"/>
          </a:p>
        </p:txBody>
      </p:sp>
      <p:sp>
        <p:nvSpPr>
          <p:cNvPr id="69" name="Text 67"/>
          <p:cNvSpPr/>
          <p:nvPr/>
        </p:nvSpPr>
        <p:spPr>
          <a:xfrm>
            <a:off x="3822192" y="4718304"/>
            <a:ext cx="1463040" cy="246888"/>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Prod</a:t>
            </a:r>
            <a:endParaRPr lang="en-US" sz="900" dirty="0"/>
          </a:p>
        </p:txBody>
      </p:sp>
      <p:sp>
        <p:nvSpPr>
          <p:cNvPr id="70" name="Shape 68"/>
          <p:cNvSpPr/>
          <p:nvPr/>
        </p:nvSpPr>
        <p:spPr>
          <a:xfrm>
            <a:off x="5495544" y="3749040"/>
            <a:ext cx="1627632" cy="1261872"/>
          </a:xfrm>
          <a:prstGeom prst="rect">
            <a:avLst/>
          </a:prstGeom>
          <a:solidFill>
            <a:srgbClr val="1E293B"/>
          </a:solidFill>
          <a:ln w="9525">
            <a:solidFill>
              <a:srgbClr val="14B8A6"/>
            </a:solidFill>
            <a:prstDash val="solid"/>
          </a:ln>
          <a:effectLst>
            <a:outerShdw sx="100000" sy="100000" kx="0" ky="0" algn="bl" rotWithShape="0" blurRad="76200" dist="25400" dir="8100000">
              <a:srgbClr val="000000">
                <a:alpha val="22000"/>
              </a:srgbClr>
            </a:outerShdw>
          </a:effectLst>
        </p:spPr>
      </p:sp>
      <p:sp>
        <p:nvSpPr>
          <p:cNvPr id="71" name="Shape 69"/>
          <p:cNvSpPr/>
          <p:nvPr/>
        </p:nvSpPr>
        <p:spPr>
          <a:xfrm>
            <a:off x="5495544" y="3749040"/>
            <a:ext cx="1627632" cy="45720"/>
          </a:xfrm>
          <a:prstGeom prst="rect">
            <a:avLst/>
          </a:prstGeom>
          <a:solidFill>
            <a:srgbClr val="14B8A6"/>
          </a:solidFill>
          <a:ln/>
        </p:spPr>
      </p:sp>
      <p:sp>
        <p:nvSpPr>
          <p:cNvPr id="72" name="Text 70"/>
          <p:cNvSpPr/>
          <p:nvPr/>
        </p:nvSpPr>
        <p:spPr>
          <a:xfrm>
            <a:off x="5559552" y="3822192"/>
            <a:ext cx="594360" cy="420624"/>
          </a:xfrm>
          <a:prstGeom prst="rect">
            <a:avLst/>
          </a:prstGeom>
          <a:noFill/>
          <a:ln/>
        </p:spPr>
        <p:txBody>
          <a:bodyPr wrap="square" rtlCol="0" anchor="ctr"/>
          <a:lstStyle/>
          <a:p>
            <a:pPr indent="0" marL="0">
              <a:buNone/>
            </a:pPr>
            <a:r>
              <a:rPr lang="en-US" sz="1500" b="1" dirty="0">
                <a:solidFill>
                  <a:srgbClr val="14B8A6"/>
                </a:solidFill>
                <a:latin typeface="Calibri" pitchFamily="34" charset="0"/>
                <a:ea typeface="Calibri" pitchFamily="34" charset="-122"/>
                <a:cs typeface="Calibri" pitchFamily="34" charset="-120"/>
              </a:rPr>
              <a:t>P13</a:t>
            </a:r>
            <a:endParaRPr lang="en-US" sz="1500" dirty="0"/>
          </a:p>
        </p:txBody>
      </p:sp>
      <p:sp>
        <p:nvSpPr>
          <p:cNvPr id="73" name="Text 71"/>
          <p:cNvSpPr/>
          <p:nvPr/>
        </p:nvSpPr>
        <p:spPr>
          <a:xfrm>
            <a:off x="5586984" y="4270248"/>
            <a:ext cx="1463040" cy="420624"/>
          </a:xfrm>
          <a:prstGeom prst="rect">
            <a:avLst/>
          </a:prstGeom>
          <a:noFill/>
          <a:ln/>
        </p:spPr>
        <p:txBody>
          <a:bodyPr wrap="square" rtlCol="0" anchor="ctr"/>
          <a:lstStyle/>
          <a:p>
            <a:pPr indent="0" marL="0">
              <a:buNone/>
            </a:pPr>
            <a:r>
              <a:rPr lang="en-US" sz="1050" b="1" dirty="0">
                <a:solidFill>
                  <a:srgbClr val="F1F5F9"/>
                </a:solidFill>
                <a:latin typeface="Calibri" pitchFamily="34" charset="0"/>
                <a:ea typeface="Calibri" pitchFamily="34" charset="-122"/>
                <a:cs typeface="Calibri" pitchFamily="34" charset="-120"/>
              </a:rPr>
              <a:t>DevOps + CI/CD</a:t>
            </a:r>
            <a:endParaRPr lang="en-US" sz="1050" dirty="0"/>
          </a:p>
        </p:txBody>
      </p:sp>
      <p:sp>
        <p:nvSpPr>
          <p:cNvPr id="74" name="Text 72"/>
          <p:cNvSpPr/>
          <p:nvPr/>
        </p:nvSpPr>
        <p:spPr>
          <a:xfrm>
            <a:off x="5586984" y="4718304"/>
            <a:ext cx="1463040" cy="246888"/>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Prod</a:t>
            </a:r>
            <a:endParaRPr lang="en-US" sz="900" dirty="0"/>
          </a:p>
        </p:txBody>
      </p:sp>
      <p:sp>
        <p:nvSpPr>
          <p:cNvPr id="75" name="Shape 73"/>
          <p:cNvSpPr/>
          <p:nvPr/>
        </p:nvSpPr>
        <p:spPr>
          <a:xfrm>
            <a:off x="7260336" y="3749040"/>
            <a:ext cx="1627632" cy="1261872"/>
          </a:xfrm>
          <a:prstGeom prst="rect">
            <a:avLst/>
          </a:prstGeom>
          <a:solidFill>
            <a:srgbClr val="1E293B"/>
          </a:solidFill>
          <a:ln w="9525">
            <a:solidFill>
              <a:srgbClr val="EC4899"/>
            </a:solidFill>
            <a:prstDash val="solid"/>
          </a:ln>
          <a:effectLst>
            <a:outerShdw sx="100000" sy="100000" kx="0" ky="0" algn="bl" rotWithShape="0" blurRad="76200" dist="25400" dir="8100000">
              <a:srgbClr val="000000">
                <a:alpha val="22000"/>
              </a:srgbClr>
            </a:outerShdw>
          </a:effectLst>
        </p:spPr>
      </p:sp>
      <p:sp>
        <p:nvSpPr>
          <p:cNvPr id="76" name="Shape 74"/>
          <p:cNvSpPr/>
          <p:nvPr/>
        </p:nvSpPr>
        <p:spPr>
          <a:xfrm>
            <a:off x="7260336" y="3749040"/>
            <a:ext cx="1627632" cy="45720"/>
          </a:xfrm>
          <a:prstGeom prst="rect">
            <a:avLst/>
          </a:prstGeom>
          <a:solidFill>
            <a:srgbClr val="EC4899"/>
          </a:solidFill>
          <a:ln/>
        </p:spPr>
      </p:sp>
      <p:sp>
        <p:nvSpPr>
          <p:cNvPr id="77" name="Text 75"/>
          <p:cNvSpPr/>
          <p:nvPr/>
        </p:nvSpPr>
        <p:spPr>
          <a:xfrm>
            <a:off x="7324344" y="3822192"/>
            <a:ext cx="594360" cy="420624"/>
          </a:xfrm>
          <a:prstGeom prst="rect">
            <a:avLst/>
          </a:prstGeom>
          <a:noFill/>
          <a:ln/>
        </p:spPr>
        <p:txBody>
          <a:bodyPr wrap="square" rtlCol="0" anchor="ctr"/>
          <a:lstStyle/>
          <a:p>
            <a:pPr indent="0" marL="0">
              <a:buNone/>
            </a:pPr>
            <a:r>
              <a:rPr lang="en-US" sz="1500" b="1" dirty="0">
                <a:solidFill>
                  <a:srgbClr val="EC4899"/>
                </a:solidFill>
                <a:latin typeface="Calibri" pitchFamily="34" charset="0"/>
                <a:ea typeface="Calibri" pitchFamily="34" charset="-122"/>
                <a:cs typeface="Calibri" pitchFamily="34" charset="-120"/>
              </a:rPr>
              <a:t>P14</a:t>
            </a:r>
            <a:endParaRPr lang="en-US" sz="1500" dirty="0"/>
          </a:p>
        </p:txBody>
      </p:sp>
      <p:sp>
        <p:nvSpPr>
          <p:cNvPr id="78" name="Text 76"/>
          <p:cNvSpPr/>
          <p:nvPr/>
        </p:nvSpPr>
        <p:spPr>
          <a:xfrm>
            <a:off x="7351776" y="4270248"/>
            <a:ext cx="1463040" cy="420624"/>
          </a:xfrm>
          <a:prstGeom prst="rect">
            <a:avLst/>
          </a:prstGeom>
          <a:noFill/>
          <a:ln/>
        </p:spPr>
        <p:txBody>
          <a:bodyPr wrap="square" rtlCol="0" anchor="ctr"/>
          <a:lstStyle/>
          <a:p>
            <a:pPr indent="0" marL="0">
              <a:buNone/>
            </a:pPr>
            <a:r>
              <a:rPr lang="en-US" sz="1050" b="1" dirty="0">
                <a:solidFill>
                  <a:srgbClr val="F1F5F9"/>
                </a:solidFill>
                <a:latin typeface="Calibri" pitchFamily="34" charset="0"/>
                <a:ea typeface="Calibri" pitchFamily="34" charset="-122"/>
                <a:cs typeface="Calibri" pitchFamily="34" charset="-120"/>
              </a:rPr>
              <a:t>Docs + Demo</a:t>
            </a:r>
            <a:endParaRPr lang="en-US" sz="1050" dirty="0"/>
          </a:p>
        </p:txBody>
      </p:sp>
      <p:sp>
        <p:nvSpPr>
          <p:cNvPr id="79" name="Text 77"/>
          <p:cNvSpPr/>
          <p:nvPr/>
        </p:nvSpPr>
        <p:spPr>
          <a:xfrm>
            <a:off x="7351776" y="4718304"/>
            <a:ext cx="1463040" cy="246888"/>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Placement</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6366F1"/>
          </a:solidFill>
          <a:ln/>
        </p:spPr>
      </p:sp>
      <p:sp>
        <p:nvSpPr>
          <p:cNvPr id="3" name="Shape 1"/>
          <p:cNvSpPr/>
          <p:nvPr/>
        </p:nvSpPr>
        <p:spPr>
          <a:xfrm>
            <a:off x="274320" y="128016"/>
            <a:ext cx="804672" cy="512064"/>
          </a:xfrm>
          <a:prstGeom prst="rect">
            <a:avLst/>
          </a:prstGeom>
          <a:solidFill>
            <a:srgbClr val="6366F1"/>
          </a:solidFill>
          <a:ln/>
        </p:spPr>
      </p:sp>
      <p:sp>
        <p:nvSpPr>
          <p:cNvPr id="4" name="Text 2"/>
          <p:cNvSpPr/>
          <p:nvPr/>
        </p:nvSpPr>
        <p:spPr>
          <a:xfrm>
            <a:off x="274320" y="128016"/>
            <a:ext cx="804672" cy="512064"/>
          </a:xfrm>
          <a:prstGeom prst="rect">
            <a:avLst/>
          </a:prstGeom>
          <a:noFill/>
          <a:ln/>
        </p:spPr>
        <p:txBody>
          <a:bodyPr wrap="square" rtlCol="0" anchor="ctr"/>
          <a:lstStyle/>
          <a:p>
            <a:pPr algn="ctr" indent="0" marL="0">
              <a:buNone/>
            </a:pPr>
            <a:r>
              <a:rPr lang="en-US" sz="2000" b="1" dirty="0">
                <a:solidFill>
                  <a:srgbClr val="0F172A"/>
                </a:solidFill>
                <a:latin typeface="Calibri" pitchFamily="34" charset="0"/>
                <a:ea typeface="Calibri" pitchFamily="34" charset="-122"/>
                <a:cs typeface="Calibri" pitchFamily="34" charset="-120"/>
              </a:rPr>
              <a:t>P0</a:t>
            </a:r>
            <a:endParaRPr lang="en-US" sz="2000" dirty="0"/>
          </a:p>
        </p:txBody>
      </p:sp>
      <p:sp>
        <p:nvSpPr>
          <p:cNvPr id="5" name="Text 3"/>
          <p:cNvSpPr/>
          <p:nvPr/>
        </p:nvSpPr>
        <p:spPr>
          <a:xfrm>
            <a:off x="1216152" y="155448"/>
            <a:ext cx="7653528" cy="457200"/>
          </a:xfrm>
          <a:prstGeom prst="rect">
            <a:avLst/>
          </a:prstGeom>
          <a:noFill/>
          <a:ln/>
        </p:spPr>
        <p:txBody>
          <a:bodyPr wrap="square" rtlCol="0" anchor="ctr"/>
          <a:lstStyle/>
          <a:p>
            <a:pPr indent="0" marL="0">
              <a:buNone/>
            </a:pPr>
            <a:r>
              <a:rPr lang="en-US" sz="2100" b="1" dirty="0">
                <a:solidFill>
                  <a:srgbClr val="F1F5F9"/>
                </a:solidFill>
                <a:latin typeface="Calibri" pitchFamily="34" charset="0"/>
                <a:ea typeface="Calibri" pitchFamily="34" charset="-122"/>
                <a:cs typeface="Calibri" pitchFamily="34" charset="-120"/>
              </a:rPr>
              <a:t>Phase 0 — System Audit + Cleanup</a:t>
            </a:r>
            <a:endParaRPr lang="en-US" sz="2100" dirty="0"/>
          </a:p>
        </p:txBody>
      </p:sp>
      <p:sp>
        <p:nvSpPr>
          <p:cNvPr id="6" name="Text 4"/>
          <p:cNvSpPr/>
          <p:nvPr/>
        </p:nvSpPr>
        <p:spPr>
          <a:xfrm>
            <a:off x="274320" y="704088"/>
            <a:ext cx="8595360" cy="246888"/>
          </a:xfrm>
          <a:prstGeom prst="rect">
            <a:avLst/>
          </a:prstGeom>
          <a:noFill/>
          <a:ln/>
        </p:spPr>
        <p:txBody>
          <a:bodyPr wrap="square" rtlCol="0" anchor="ctr"/>
          <a:lstStyle/>
          <a:p>
            <a:pPr indent="0" marL="0">
              <a:buNone/>
            </a:pPr>
            <a:r>
              <a:rPr lang="en-US" sz="1100" i="1" dirty="0">
                <a:solidFill>
                  <a:srgbClr val="94A3B8"/>
                </a:solidFill>
                <a:latin typeface="Calibri" pitchFamily="34" charset="0"/>
                <a:ea typeface="Calibri" pitchFamily="34" charset="-122"/>
                <a:cs typeface="Calibri" pitchFamily="34" charset="-120"/>
              </a:rPr>
              <a:t>You cannot refactor what you don't fully understand</a:t>
            </a:r>
            <a:endParaRPr lang="en-US" sz="1100" dirty="0"/>
          </a:p>
        </p:txBody>
      </p:sp>
      <p:sp>
        <p:nvSpPr>
          <p:cNvPr id="7" name="Shape 5"/>
          <p:cNvSpPr/>
          <p:nvPr/>
        </p:nvSpPr>
        <p:spPr>
          <a:xfrm>
            <a:off x="274320" y="1005840"/>
            <a:ext cx="8595360" cy="420624"/>
          </a:xfrm>
          <a:prstGeom prst="rect">
            <a:avLst/>
          </a:prstGeom>
          <a:solidFill>
            <a:srgbClr val="0D1929"/>
          </a:solidFill>
          <a:ln w="9525">
            <a:solidFill>
              <a:srgbClr val="6366F1"/>
            </a:solidFill>
            <a:prstDash val="solid"/>
          </a:ln>
        </p:spPr>
      </p:sp>
      <p:sp>
        <p:nvSpPr>
          <p:cNvPr id="8" name="Text 6"/>
          <p:cNvSpPr/>
          <p:nvPr/>
        </p:nvSpPr>
        <p:spPr>
          <a:xfrm>
            <a:off x="411480" y="1005840"/>
            <a:ext cx="8321040" cy="420624"/>
          </a:xfrm>
          <a:prstGeom prst="rect">
            <a:avLst/>
          </a:prstGeom>
          <a:noFill/>
          <a:ln/>
        </p:spPr>
        <p:txBody>
          <a:bodyPr wrap="square" rtlCol="0" anchor="ctr"/>
          <a:lstStyle/>
          <a:p>
            <a:pPr indent="0" marL="0">
              <a:buNone/>
            </a:pPr>
            <a:r>
              <a:rPr lang="en-US" sz="1150" b="1" dirty="0">
                <a:solidFill>
                  <a:srgbClr val="6366F1"/>
                </a:solidFill>
                <a:latin typeface="Calibri" pitchFamily="34" charset="0"/>
                <a:ea typeface="Calibri" pitchFamily="34" charset="-122"/>
                <a:cs typeface="Calibri" pitchFamily="34" charset="-120"/>
              </a:rPr>
              <a:t>GOAL  ·  Document the exact current state before touching any code</a:t>
            </a:r>
            <a:endParaRPr lang="en-US" sz="1150" dirty="0"/>
          </a:p>
        </p:txBody>
      </p:sp>
      <p:sp>
        <p:nvSpPr>
          <p:cNvPr id="9" name="Shape 7"/>
          <p:cNvSpPr/>
          <p:nvPr/>
        </p:nvSpPr>
        <p:spPr>
          <a:xfrm>
            <a:off x="274320" y="1508760"/>
            <a:ext cx="5029200" cy="3429000"/>
          </a:xfrm>
          <a:prstGeom prst="rect">
            <a:avLst/>
          </a:prstGeom>
          <a:solidFill>
            <a:srgbClr val="1E293B"/>
          </a:solidFill>
          <a:ln w="6350">
            <a:solidFill>
              <a:srgbClr val="334155"/>
            </a:solidFill>
            <a:prstDash val="solid"/>
          </a:ln>
          <a:effectLst>
            <a:outerShdw sx="100000" sy="100000" kx="0" ky="0" algn="bl" rotWithShape="0" blurRad="76200" dist="25400" dir="8100000">
              <a:srgbClr val="000000">
                <a:alpha val="22000"/>
              </a:srgbClr>
            </a:outerShdw>
          </a:effectLst>
        </p:spPr>
      </p:sp>
      <p:sp>
        <p:nvSpPr>
          <p:cNvPr id="10" name="Text 8"/>
          <p:cNvSpPr/>
          <p:nvPr/>
        </p:nvSpPr>
        <p:spPr>
          <a:xfrm>
            <a:off x="411480" y="1581912"/>
            <a:ext cx="4754880" cy="246888"/>
          </a:xfrm>
          <a:prstGeom prst="rect">
            <a:avLst/>
          </a:prstGeom>
          <a:noFill/>
          <a:ln/>
        </p:spPr>
        <p:txBody>
          <a:bodyPr wrap="square" rtlCol="0" anchor="ctr"/>
          <a:lstStyle/>
          <a:p>
            <a:pPr indent="0" marL="0">
              <a:buNone/>
            </a:pPr>
            <a:r>
              <a:rPr lang="en-US" sz="950" b="1" spc="200" kern="0" dirty="0">
                <a:solidFill>
                  <a:srgbClr val="94A3B8"/>
                </a:solidFill>
                <a:latin typeface="Calibri" pitchFamily="34" charset="0"/>
                <a:ea typeface="Calibri" pitchFamily="34" charset="-122"/>
                <a:cs typeface="Calibri" pitchFamily="34" charset="-120"/>
              </a:rPr>
              <a:t>TASKS</a:t>
            </a:r>
            <a:endParaRPr lang="en-US" sz="950" dirty="0"/>
          </a:p>
        </p:txBody>
      </p:sp>
      <p:sp>
        <p:nvSpPr>
          <p:cNvPr id="11" name="Text 9"/>
          <p:cNvSpPr/>
          <p:nvPr/>
        </p:nvSpPr>
        <p:spPr>
          <a:xfrm>
            <a:off x="411480" y="1883664"/>
            <a:ext cx="4754880" cy="2980944"/>
          </a:xfrm>
          <a:prstGeom prst="rect">
            <a:avLst/>
          </a:prstGeom>
          <a:noFill/>
          <a:ln/>
        </p:spPr>
        <p:txBody>
          <a:bodyPr wrap="square" rtlCol="0" anchor="ctr"/>
          <a:lstStyle/>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Remove committed node_modules, fix .gitignore</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Document current HTTP request + response flow</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Document Socket.IO event lifecycle end-to-end</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Map in-memory state vs MongoDB-persisted state</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Identify all client trust boundary violations</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List all scaling blockers and security gaps</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Draw current architecture diagram</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Produce known-issues document</a:t>
            </a:r>
            <a:endParaRPr lang="en-US" sz="980" dirty="0"/>
          </a:p>
        </p:txBody>
      </p:sp>
      <p:sp>
        <p:nvSpPr>
          <p:cNvPr id="12" name="Shape 10"/>
          <p:cNvSpPr/>
          <p:nvPr/>
        </p:nvSpPr>
        <p:spPr>
          <a:xfrm>
            <a:off x="5486400" y="1508760"/>
            <a:ext cx="3383280" cy="1664208"/>
          </a:xfrm>
          <a:prstGeom prst="rect">
            <a:avLst/>
          </a:prstGeom>
          <a:solidFill>
            <a:srgbClr val="1E293B"/>
          </a:solidFill>
          <a:ln w="9525">
            <a:solidFill>
              <a:srgbClr val="4ADE80"/>
            </a:solidFill>
            <a:prstDash val="solid"/>
          </a:ln>
          <a:effectLst>
            <a:outerShdw sx="100000" sy="100000" kx="0" ky="0" algn="bl" rotWithShape="0" blurRad="76200" dist="25400" dir="8100000">
              <a:srgbClr val="000000">
                <a:alpha val="22000"/>
              </a:srgbClr>
            </a:outerShdw>
          </a:effectLst>
        </p:spPr>
      </p:sp>
      <p:sp>
        <p:nvSpPr>
          <p:cNvPr id="13" name="Text 11"/>
          <p:cNvSpPr/>
          <p:nvPr/>
        </p:nvSpPr>
        <p:spPr>
          <a:xfrm>
            <a:off x="5623560" y="1581912"/>
            <a:ext cx="3108960" cy="246888"/>
          </a:xfrm>
          <a:prstGeom prst="rect">
            <a:avLst/>
          </a:prstGeom>
          <a:noFill/>
          <a:ln/>
        </p:spPr>
        <p:txBody>
          <a:bodyPr wrap="square" rtlCol="0" anchor="ctr"/>
          <a:lstStyle/>
          <a:p>
            <a:pPr indent="0" marL="0">
              <a:buNone/>
            </a:pPr>
            <a:r>
              <a:rPr lang="en-US" sz="950" b="1" spc="200" kern="0" dirty="0">
                <a:solidFill>
                  <a:srgbClr val="4ADE80"/>
                </a:solidFill>
                <a:latin typeface="Calibri" pitchFamily="34" charset="0"/>
                <a:ea typeface="Calibri" pitchFamily="34" charset="-122"/>
                <a:cs typeface="Calibri" pitchFamily="34" charset="-120"/>
              </a:rPr>
              <a:t>OUTPUT</a:t>
            </a:r>
            <a:endParaRPr lang="en-US" sz="950" dirty="0"/>
          </a:p>
        </p:txBody>
      </p:sp>
      <p:sp>
        <p:nvSpPr>
          <p:cNvPr id="14" name="Text 12"/>
          <p:cNvSpPr/>
          <p:nvPr/>
        </p:nvSpPr>
        <p:spPr>
          <a:xfrm>
            <a:off x="5623560" y="1883664"/>
            <a:ext cx="3108960" cy="1234440"/>
          </a:xfrm>
          <a:prstGeom prst="rect">
            <a:avLst/>
          </a:prstGeom>
          <a:noFill/>
          <a:ln/>
        </p:spPr>
        <p:txBody>
          <a:bodyPr wrap="square" rtlCol="0" anchor="ctr"/>
          <a:lstStyle/>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Clean repository baseline</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Architecture flow document</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Known-issues list</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Audit report</a:t>
            </a:r>
            <a:endParaRPr lang="en-US" sz="980" dirty="0"/>
          </a:p>
        </p:txBody>
      </p:sp>
      <p:sp>
        <p:nvSpPr>
          <p:cNvPr id="15" name="Shape 13"/>
          <p:cNvSpPr/>
          <p:nvPr/>
        </p:nvSpPr>
        <p:spPr>
          <a:xfrm>
            <a:off x="5486400" y="3291840"/>
            <a:ext cx="3383280" cy="1645920"/>
          </a:xfrm>
          <a:prstGeom prst="rect">
            <a:avLst/>
          </a:prstGeom>
          <a:solidFill>
            <a:srgbClr val="1E293B"/>
          </a:solidFill>
          <a:ln w="9525">
            <a:solidFill>
              <a:srgbClr val="6366F1"/>
            </a:solidFill>
            <a:prstDash val="solid"/>
          </a:ln>
          <a:effectLst>
            <a:outerShdw sx="100000" sy="100000" kx="0" ky="0" algn="bl" rotWithShape="0" blurRad="76200" dist="25400" dir="8100000">
              <a:srgbClr val="000000">
                <a:alpha val="22000"/>
              </a:srgbClr>
            </a:outerShdw>
          </a:effectLst>
        </p:spPr>
      </p:sp>
      <p:sp>
        <p:nvSpPr>
          <p:cNvPr id="16" name="Text 14"/>
          <p:cNvSpPr/>
          <p:nvPr/>
        </p:nvSpPr>
        <p:spPr>
          <a:xfrm>
            <a:off x="5623560" y="3364992"/>
            <a:ext cx="3108960" cy="246888"/>
          </a:xfrm>
          <a:prstGeom prst="rect">
            <a:avLst/>
          </a:prstGeom>
          <a:noFill/>
          <a:ln/>
        </p:spPr>
        <p:txBody>
          <a:bodyPr wrap="square" rtlCol="0" anchor="ctr"/>
          <a:lstStyle/>
          <a:p>
            <a:pPr indent="0" marL="0">
              <a:buNone/>
            </a:pPr>
            <a:r>
              <a:rPr lang="en-US" sz="900" b="1" spc="100" kern="0" dirty="0">
                <a:solidFill>
                  <a:srgbClr val="6366F1"/>
                </a:solidFill>
                <a:latin typeface="Calibri" pitchFamily="34" charset="0"/>
                <a:ea typeface="Calibri" pitchFamily="34" charset="-122"/>
                <a:cs typeface="Calibri" pitchFamily="34" charset="-120"/>
              </a:rPr>
              <a:t>WHY THIS PHASE EXISTS</a:t>
            </a:r>
            <a:endParaRPr lang="en-US" sz="900" dirty="0"/>
          </a:p>
        </p:txBody>
      </p:sp>
      <p:sp>
        <p:nvSpPr>
          <p:cNvPr id="17" name="Text 15"/>
          <p:cNvSpPr/>
          <p:nvPr/>
        </p:nvSpPr>
        <p:spPr>
          <a:xfrm>
            <a:off x="5623560" y="3648456"/>
            <a:ext cx="3108960" cy="1216152"/>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Jumping into refactoring without mapping the system guarantees reproducing the same bugs in a new folder. Every phase after this depends on what Phase 0 reveals.</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22D3EE"/>
          </a:solidFill>
          <a:ln/>
        </p:spPr>
      </p:sp>
      <p:sp>
        <p:nvSpPr>
          <p:cNvPr id="3" name="Shape 1"/>
          <p:cNvSpPr/>
          <p:nvPr/>
        </p:nvSpPr>
        <p:spPr>
          <a:xfrm>
            <a:off x="274320" y="128016"/>
            <a:ext cx="804672" cy="512064"/>
          </a:xfrm>
          <a:prstGeom prst="rect">
            <a:avLst/>
          </a:prstGeom>
          <a:solidFill>
            <a:srgbClr val="22D3EE"/>
          </a:solidFill>
          <a:ln/>
        </p:spPr>
      </p:sp>
      <p:sp>
        <p:nvSpPr>
          <p:cNvPr id="4" name="Text 2"/>
          <p:cNvSpPr/>
          <p:nvPr/>
        </p:nvSpPr>
        <p:spPr>
          <a:xfrm>
            <a:off x="274320" y="128016"/>
            <a:ext cx="804672" cy="512064"/>
          </a:xfrm>
          <a:prstGeom prst="rect">
            <a:avLst/>
          </a:prstGeom>
          <a:noFill/>
          <a:ln/>
        </p:spPr>
        <p:txBody>
          <a:bodyPr wrap="square" rtlCol="0" anchor="ctr"/>
          <a:lstStyle/>
          <a:p>
            <a:pPr algn="ctr" indent="0" marL="0">
              <a:buNone/>
            </a:pPr>
            <a:r>
              <a:rPr lang="en-US" sz="2000" b="1" dirty="0">
                <a:solidFill>
                  <a:srgbClr val="0F172A"/>
                </a:solidFill>
                <a:latin typeface="Calibri" pitchFamily="34" charset="0"/>
                <a:ea typeface="Calibri" pitchFamily="34" charset="-122"/>
                <a:cs typeface="Calibri" pitchFamily="34" charset="-120"/>
              </a:rPr>
              <a:t>P1</a:t>
            </a:r>
            <a:endParaRPr lang="en-US" sz="2000" dirty="0"/>
          </a:p>
        </p:txBody>
      </p:sp>
      <p:sp>
        <p:nvSpPr>
          <p:cNvPr id="5" name="Text 3"/>
          <p:cNvSpPr/>
          <p:nvPr/>
        </p:nvSpPr>
        <p:spPr>
          <a:xfrm>
            <a:off x="1216152" y="155448"/>
            <a:ext cx="7653528" cy="457200"/>
          </a:xfrm>
          <a:prstGeom prst="rect">
            <a:avLst/>
          </a:prstGeom>
          <a:noFill/>
          <a:ln/>
        </p:spPr>
        <p:txBody>
          <a:bodyPr wrap="square" rtlCol="0" anchor="ctr"/>
          <a:lstStyle/>
          <a:p>
            <a:pPr indent="0" marL="0">
              <a:buNone/>
            </a:pPr>
            <a:r>
              <a:rPr lang="en-US" sz="2100" b="1" dirty="0">
                <a:solidFill>
                  <a:srgbClr val="F1F5F9"/>
                </a:solidFill>
                <a:latin typeface="Calibri" pitchFamily="34" charset="0"/>
                <a:ea typeface="Calibri" pitchFamily="34" charset="-122"/>
                <a:cs typeface="Calibri" pitchFamily="34" charset="-120"/>
              </a:rPr>
              <a:t>Phase 1 — TypeScript Foundation</a:t>
            </a:r>
            <a:endParaRPr lang="en-US" sz="2100" dirty="0"/>
          </a:p>
        </p:txBody>
      </p:sp>
      <p:sp>
        <p:nvSpPr>
          <p:cNvPr id="6" name="Text 4"/>
          <p:cNvSpPr/>
          <p:nvPr/>
        </p:nvSpPr>
        <p:spPr>
          <a:xfrm>
            <a:off x="274320" y="704088"/>
            <a:ext cx="8595360" cy="246888"/>
          </a:xfrm>
          <a:prstGeom prst="rect">
            <a:avLst/>
          </a:prstGeom>
          <a:noFill/>
          <a:ln/>
        </p:spPr>
        <p:txBody>
          <a:bodyPr wrap="square" rtlCol="0" anchor="ctr"/>
          <a:lstStyle/>
          <a:p>
            <a:pPr indent="0" marL="0">
              <a:buNone/>
            </a:pPr>
            <a:r>
              <a:rPr lang="en-US" sz="1100" i="1" dirty="0">
                <a:solidFill>
                  <a:srgbClr val="94A3B8"/>
                </a:solidFill>
                <a:latin typeface="Calibri" pitchFamily="34" charset="0"/>
                <a:ea typeface="Calibri" pitchFamily="34" charset="-122"/>
                <a:cs typeface="Calibri" pitchFamily="34" charset="-120"/>
              </a:rPr>
              <a:t>Type safety is the safety net you need before a large-scale refactor</a:t>
            </a:r>
            <a:endParaRPr lang="en-US" sz="1100" dirty="0"/>
          </a:p>
        </p:txBody>
      </p:sp>
      <p:sp>
        <p:nvSpPr>
          <p:cNvPr id="7" name="Shape 5"/>
          <p:cNvSpPr/>
          <p:nvPr/>
        </p:nvSpPr>
        <p:spPr>
          <a:xfrm>
            <a:off x="274320" y="1005840"/>
            <a:ext cx="8595360" cy="420624"/>
          </a:xfrm>
          <a:prstGeom prst="rect">
            <a:avLst/>
          </a:prstGeom>
          <a:solidFill>
            <a:srgbClr val="0D1929"/>
          </a:solidFill>
          <a:ln w="9525">
            <a:solidFill>
              <a:srgbClr val="22D3EE"/>
            </a:solidFill>
            <a:prstDash val="solid"/>
          </a:ln>
        </p:spPr>
      </p:sp>
      <p:sp>
        <p:nvSpPr>
          <p:cNvPr id="8" name="Text 6"/>
          <p:cNvSpPr/>
          <p:nvPr/>
        </p:nvSpPr>
        <p:spPr>
          <a:xfrm>
            <a:off x="411480" y="1005840"/>
            <a:ext cx="8321040" cy="420624"/>
          </a:xfrm>
          <a:prstGeom prst="rect">
            <a:avLst/>
          </a:prstGeom>
          <a:noFill/>
          <a:ln/>
        </p:spPr>
        <p:txBody>
          <a:bodyPr wrap="square" rtlCol="0" anchor="ctr"/>
          <a:lstStyle/>
          <a:p>
            <a:pPr indent="0" marL="0">
              <a:buNone/>
            </a:pPr>
            <a:r>
              <a:rPr lang="en-US" sz="1150" b="1" dirty="0">
                <a:solidFill>
                  <a:srgbClr val="22D3EE"/>
                </a:solidFill>
                <a:latin typeface="Calibri" pitchFamily="34" charset="0"/>
                <a:ea typeface="Calibri" pitchFamily="34" charset="-122"/>
                <a:cs typeface="Calibri" pitchFamily="34" charset="-120"/>
              </a:rPr>
              <a:t>GOAL  ·  Introduce TypeScript across frontend and backend before any structural changes</a:t>
            </a:r>
            <a:endParaRPr lang="en-US" sz="1150" dirty="0"/>
          </a:p>
        </p:txBody>
      </p:sp>
      <p:sp>
        <p:nvSpPr>
          <p:cNvPr id="9" name="Shape 7"/>
          <p:cNvSpPr/>
          <p:nvPr/>
        </p:nvSpPr>
        <p:spPr>
          <a:xfrm>
            <a:off x="274320" y="1508760"/>
            <a:ext cx="5029200" cy="3429000"/>
          </a:xfrm>
          <a:prstGeom prst="rect">
            <a:avLst/>
          </a:prstGeom>
          <a:solidFill>
            <a:srgbClr val="1E293B"/>
          </a:solidFill>
          <a:ln w="6350">
            <a:solidFill>
              <a:srgbClr val="334155"/>
            </a:solidFill>
            <a:prstDash val="solid"/>
          </a:ln>
          <a:effectLst>
            <a:outerShdw sx="100000" sy="100000" kx="0" ky="0" algn="bl" rotWithShape="0" blurRad="76200" dist="25400" dir="8100000">
              <a:srgbClr val="000000">
                <a:alpha val="22000"/>
              </a:srgbClr>
            </a:outerShdw>
          </a:effectLst>
        </p:spPr>
      </p:sp>
      <p:sp>
        <p:nvSpPr>
          <p:cNvPr id="10" name="Text 8"/>
          <p:cNvSpPr/>
          <p:nvPr/>
        </p:nvSpPr>
        <p:spPr>
          <a:xfrm>
            <a:off x="411480" y="1581912"/>
            <a:ext cx="4754880" cy="246888"/>
          </a:xfrm>
          <a:prstGeom prst="rect">
            <a:avLst/>
          </a:prstGeom>
          <a:noFill/>
          <a:ln/>
        </p:spPr>
        <p:txBody>
          <a:bodyPr wrap="square" rtlCol="0" anchor="ctr"/>
          <a:lstStyle/>
          <a:p>
            <a:pPr indent="0" marL="0">
              <a:buNone/>
            </a:pPr>
            <a:r>
              <a:rPr lang="en-US" sz="950" b="1" spc="200" kern="0" dirty="0">
                <a:solidFill>
                  <a:srgbClr val="94A3B8"/>
                </a:solidFill>
                <a:latin typeface="Calibri" pitchFamily="34" charset="0"/>
                <a:ea typeface="Calibri" pitchFamily="34" charset="-122"/>
                <a:cs typeface="Calibri" pitchFamily="34" charset="-120"/>
              </a:rPr>
              <a:t>TASKS</a:t>
            </a:r>
            <a:endParaRPr lang="en-US" sz="950" dirty="0"/>
          </a:p>
        </p:txBody>
      </p:sp>
      <p:sp>
        <p:nvSpPr>
          <p:cNvPr id="11" name="Text 9"/>
          <p:cNvSpPr/>
          <p:nvPr/>
        </p:nvSpPr>
        <p:spPr>
          <a:xfrm>
            <a:off x="411480" y="1883664"/>
            <a:ext cx="4754880" cy="2980944"/>
          </a:xfrm>
          <a:prstGeom prst="rect">
            <a:avLst/>
          </a:prstGeom>
          <a:noFill/>
          <a:ln/>
        </p:spPr>
        <p:txBody>
          <a:bodyPr wrap="square" rtlCol="0" anchor="ctr"/>
          <a:lstStyle/>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Install typescript, ts-node, tsconfig.json for backend</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Add @types/node, @types/express, @types/socket.io</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Convert backend .js files to .ts incrementally</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Convert frontend .jsx to .tsx</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Create shared/types/ for socket payload definitions</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Define API response, room, and game state types</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Enforce noImplicitAny in tsconfig strict mode</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Add ts build step to CI pipeline</a:t>
            </a:r>
            <a:endParaRPr lang="en-US" sz="980" dirty="0"/>
          </a:p>
        </p:txBody>
      </p:sp>
      <p:sp>
        <p:nvSpPr>
          <p:cNvPr id="12" name="Shape 10"/>
          <p:cNvSpPr/>
          <p:nvPr/>
        </p:nvSpPr>
        <p:spPr>
          <a:xfrm>
            <a:off x="5486400" y="1508760"/>
            <a:ext cx="3383280" cy="1664208"/>
          </a:xfrm>
          <a:prstGeom prst="rect">
            <a:avLst/>
          </a:prstGeom>
          <a:solidFill>
            <a:srgbClr val="1E293B"/>
          </a:solidFill>
          <a:ln w="9525">
            <a:solidFill>
              <a:srgbClr val="4ADE80"/>
            </a:solidFill>
            <a:prstDash val="solid"/>
          </a:ln>
          <a:effectLst>
            <a:outerShdw sx="100000" sy="100000" kx="0" ky="0" algn="bl" rotWithShape="0" blurRad="76200" dist="25400" dir="8100000">
              <a:srgbClr val="000000">
                <a:alpha val="22000"/>
              </a:srgbClr>
            </a:outerShdw>
          </a:effectLst>
        </p:spPr>
      </p:sp>
      <p:sp>
        <p:nvSpPr>
          <p:cNvPr id="13" name="Text 11"/>
          <p:cNvSpPr/>
          <p:nvPr/>
        </p:nvSpPr>
        <p:spPr>
          <a:xfrm>
            <a:off x="5623560" y="1581912"/>
            <a:ext cx="3108960" cy="246888"/>
          </a:xfrm>
          <a:prstGeom prst="rect">
            <a:avLst/>
          </a:prstGeom>
          <a:noFill/>
          <a:ln/>
        </p:spPr>
        <p:txBody>
          <a:bodyPr wrap="square" rtlCol="0" anchor="ctr"/>
          <a:lstStyle/>
          <a:p>
            <a:pPr indent="0" marL="0">
              <a:buNone/>
            </a:pPr>
            <a:r>
              <a:rPr lang="en-US" sz="950" b="1" spc="200" kern="0" dirty="0">
                <a:solidFill>
                  <a:srgbClr val="4ADE80"/>
                </a:solidFill>
                <a:latin typeface="Calibri" pitchFamily="34" charset="0"/>
                <a:ea typeface="Calibri" pitchFamily="34" charset="-122"/>
                <a:cs typeface="Calibri" pitchFamily="34" charset="-120"/>
              </a:rPr>
              <a:t>OUTPUT</a:t>
            </a:r>
            <a:endParaRPr lang="en-US" sz="950" dirty="0"/>
          </a:p>
        </p:txBody>
      </p:sp>
      <p:sp>
        <p:nvSpPr>
          <p:cNvPr id="14" name="Text 12"/>
          <p:cNvSpPr/>
          <p:nvPr/>
        </p:nvSpPr>
        <p:spPr>
          <a:xfrm>
            <a:off x="5623560" y="1883664"/>
            <a:ext cx="3108960" cy="1234440"/>
          </a:xfrm>
          <a:prstGeom prst="rect">
            <a:avLst/>
          </a:prstGeom>
          <a:noFill/>
          <a:ln/>
        </p:spPr>
        <p:txBody>
          <a:bodyPr wrap="square" rtlCol="0" anchor="ctr"/>
          <a:lstStyle/>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Typed backend</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Typed frontend</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Shared socket contracts</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Type-safe refactoring baseline</a:t>
            </a:r>
            <a:endParaRPr lang="en-US" sz="980" dirty="0"/>
          </a:p>
        </p:txBody>
      </p:sp>
      <p:sp>
        <p:nvSpPr>
          <p:cNvPr id="15" name="Shape 13"/>
          <p:cNvSpPr/>
          <p:nvPr/>
        </p:nvSpPr>
        <p:spPr>
          <a:xfrm>
            <a:off x="5486400" y="3291840"/>
            <a:ext cx="3383280" cy="1645920"/>
          </a:xfrm>
          <a:prstGeom prst="rect">
            <a:avLst/>
          </a:prstGeom>
          <a:solidFill>
            <a:srgbClr val="1E293B"/>
          </a:solidFill>
          <a:ln w="9525">
            <a:solidFill>
              <a:srgbClr val="22D3EE"/>
            </a:solidFill>
            <a:prstDash val="solid"/>
          </a:ln>
          <a:effectLst>
            <a:outerShdw sx="100000" sy="100000" kx="0" ky="0" algn="bl" rotWithShape="0" blurRad="76200" dist="25400" dir="8100000">
              <a:srgbClr val="000000">
                <a:alpha val="22000"/>
              </a:srgbClr>
            </a:outerShdw>
          </a:effectLst>
        </p:spPr>
      </p:sp>
      <p:sp>
        <p:nvSpPr>
          <p:cNvPr id="16" name="Text 14"/>
          <p:cNvSpPr/>
          <p:nvPr/>
        </p:nvSpPr>
        <p:spPr>
          <a:xfrm>
            <a:off x="5623560" y="3364992"/>
            <a:ext cx="3108960" cy="246888"/>
          </a:xfrm>
          <a:prstGeom prst="rect">
            <a:avLst/>
          </a:prstGeom>
          <a:noFill/>
          <a:ln/>
        </p:spPr>
        <p:txBody>
          <a:bodyPr wrap="square" rtlCol="0" anchor="ctr"/>
          <a:lstStyle/>
          <a:p>
            <a:pPr indent="0" marL="0">
              <a:buNone/>
            </a:pPr>
            <a:r>
              <a:rPr lang="en-US" sz="900" b="1" spc="100" kern="0" dirty="0">
                <a:solidFill>
                  <a:srgbClr val="22D3EE"/>
                </a:solidFill>
                <a:latin typeface="Calibri" pitchFamily="34" charset="0"/>
                <a:ea typeface="Calibri" pitchFamily="34" charset="-122"/>
                <a:cs typeface="Calibri" pitchFamily="34" charset="-120"/>
              </a:rPr>
              <a:t>WHY THIS PHASE EXISTS</a:t>
            </a:r>
            <a:endParaRPr lang="en-US" sz="900" dirty="0"/>
          </a:p>
        </p:txBody>
      </p:sp>
      <p:sp>
        <p:nvSpPr>
          <p:cNvPr id="17" name="Text 15"/>
          <p:cNvSpPr/>
          <p:nvPr/>
        </p:nvSpPr>
        <p:spPr>
          <a:xfrm>
            <a:off x="5623560" y="3648456"/>
            <a:ext cx="3108960" cy="1216152"/>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TypeScript catches the bugs most likely in a large refactor: wrong payload shapes, undefined properties, mismatched socket event names. Without it, Phases 2–5 are much more dangerous.</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4ADE80"/>
          </a:solidFill>
          <a:ln/>
        </p:spPr>
      </p:sp>
      <p:sp>
        <p:nvSpPr>
          <p:cNvPr id="3" name="Shape 1"/>
          <p:cNvSpPr/>
          <p:nvPr/>
        </p:nvSpPr>
        <p:spPr>
          <a:xfrm>
            <a:off x="274320" y="128016"/>
            <a:ext cx="804672" cy="512064"/>
          </a:xfrm>
          <a:prstGeom prst="rect">
            <a:avLst/>
          </a:prstGeom>
          <a:solidFill>
            <a:srgbClr val="4ADE80"/>
          </a:solidFill>
          <a:ln/>
        </p:spPr>
      </p:sp>
      <p:sp>
        <p:nvSpPr>
          <p:cNvPr id="4" name="Text 2"/>
          <p:cNvSpPr/>
          <p:nvPr/>
        </p:nvSpPr>
        <p:spPr>
          <a:xfrm>
            <a:off x="274320" y="128016"/>
            <a:ext cx="804672" cy="512064"/>
          </a:xfrm>
          <a:prstGeom prst="rect">
            <a:avLst/>
          </a:prstGeom>
          <a:noFill/>
          <a:ln/>
        </p:spPr>
        <p:txBody>
          <a:bodyPr wrap="square" rtlCol="0" anchor="ctr"/>
          <a:lstStyle/>
          <a:p>
            <a:pPr algn="ctr" indent="0" marL="0">
              <a:buNone/>
            </a:pPr>
            <a:r>
              <a:rPr lang="en-US" sz="2000" b="1" dirty="0">
                <a:solidFill>
                  <a:srgbClr val="0F172A"/>
                </a:solidFill>
                <a:latin typeface="Calibri" pitchFamily="34" charset="0"/>
                <a:ea typeface="Calibri" pitchFamily="34" charset="-122"/>
                <a:cs typeface="Calibri" pitchFamily="34" charset="-120"/>
              </a:rPr>
              <a:t>P2</a:t>
            </a:r>
            <a:endParaRPr lang="en-US" sz="2000" dirty="0"/>
          </a:p>
        </p:txBody>
      </p:sp>
      <p:sp>
        <p:nvSpPr>
          <p:cNvPr id="5" name="Text 3"/>
          <p:cNvSpPr/>
          <p:nvPr/>
        </p:nvSpPr>
        <p:spPr>
          <a:xfrm>
            <a:off x="1216152" y="155448"/>
            <a:ext cx="7653528" cy="457200"/>
          </a:xfrm>
          <a:prstGeom prst="rect">
            <a:avLst/>
          </a:prstGeom>
          <a:noFill/>
          <a:ln/>
        </p:spPr>
        <p:txBody>
          <a:bodyPr wrap="square" rtlCol="0" anchor="ctr"/>
          <a:lstStyle/>
          <a:p>
            <a:pPr indent="0" marL="0">
              <a:buNone/>
            </a:pPr>
            <a:r>
              <a:rPr lang="en-US" sz="2100" b="1" dirty="0">
                <a:solidFill>
                  <a:srgbClr val="F1F5F9"/>
                </a:solidFill>
                <a:latin typeface="Calibri" pitchFamily="34" charset="0"/>
                <a:ea typeface="Calibri" pitchFamily="34" charset="-122"/>
                <a:cs typeface="Calibri" pitchFamily="34" charset="-120"/>
              </a:rPr>
              <a:t>Phase 2 — Modular Monolith Refactor</a:t>
            </a:r>
            <a:endParaRPr lang="en-US" sz="2100" dirty="0"/>
          </a:p>
        </p:txBody>
      </p:sp>
      <p:sp>
        <p:nvSpPr>
          <p:cNvPr id="6" name="Text 4"/>
          <p:cNvSpPr/>
          <p:nvPr/>
        </p:nvSpPr>
        <p:spPr>
          <a:xfrm>
            <a:off x="274320" y="704088"/>
            <a:ext cx="8595360" cy="246888"/>
          </a:xfrm>
          <a:prstGeom prst="rect">
            <a:avLst/>
          </a:prstGeom>
          <a:noFill/>
          <a:ln/>
        </p:spPr>
        <p:txBody>
          <a:bodyPr wrap="square" rtlCol="0" anchor="ctr"/>
          <a:lstStyle/>
          <a:p>
            <a:pPr indent="0" marL="0">
              <a:buNone/>
            </a:pPr>
            <a:r>
              <a:rPr lang="en-US" sz="1100" i="1" dirty="0">
                <a:solidFill>
                  <a:srgbClr val="94A3B8"/>
                </a:solidFill>
                <a:latin typeface="Calibri" pitchFamily="34" charset="0"/>
                <a:ea typeface="Calibri" pitchFamily="34" charset="-122"/>
                <a:cs typeface="Calibri" pitchFamily="34" charset="-120"/>
              </a:rPr>
              <a:t>Turn a chaotic codebase into clean, domain-driven architecture</a:t>
            </a:r>
            <a:endParaRPr lang="en-US" sz="1100" dirty="0"/>
          </a:p>
        </p:txBody>
      </p:sp>
      <p:sp>
        <p:nvSpPr>
          <p:cNvPr id="7" name="Shape 5"/>
          <p:cNvSpPr/>
          <p:nvPr/>
        </p:nvSpPr>
        <p:spPr>
          <a:xfrm>
            <a:off x="274320" y="1005840"/>
            <a:ext cx="8595360" cy="420624"/>
          </a:xfrm>
          <a:prstGeom prst="rect">
            <a:avLst/>
          </a:prstGeom>
          <a:solidFill>
            <a:srgbClr val="0D1929"/>
          </a:solidFill>
          <a:ln w="9525">
            <a:solidFill>
              <a:srgbClr val="4ADE80"/>
            </a:solidFill>
            <a:prstDash val="solid"/>
          </a:ln>
        </p:spPr>
      </p:sp>
      <p:sp>
        <p:nvSpPr>
          <p:cNvPr id="8" name="Text 6"/>
          <p:cNvSpPr/>
          <p:nvPr/>
        </p:nvSpPr>
        <p:spPr>
          <a:xfrm>
            <a:off x="411480" y="1005840"/>
            <a:ext cx="8321040" cy="420624"/>
          </a:xfrm>
          <a:prstGeom prst="rect">
            <a:avLst/>
          </a:prstGeom>
          <a:noFill/>
          <a:ln/>
        </p:spPr>
        <p:txBody>
          <a:bodyPr wrap="square" rtlCol="0" anchor="ctr"/>
          <a:lstStyle/>
          <a:p>
            <a:pPr indent="0" marL="0">
              <a:buNone/>
            </a:pPr>
            <a:r>
              <a:rPr lang="en-US" sz="1150" b="1" dirty="0">
                <a:solidFill>
                  <a:srgbClr val="4ADE80"/>
                </a:solidFill>
                <a:latin typeface="Calibri" pitchFamily="34" charset="0"/>
                <a:ea typeface="Calibri" pitchFamily="34" charset="-122"/>
                <a:cs typeface="Calibri" pitchFamily="34" charset="-120"/>
              </a:rPr>
              <a:t>GOAL  ·  Decompose the God Object into ownable domain modules</a:t>
            </a:r>
            <a:endParaRPr lang="en-US" sz="1150" dirty="0"/>
          </a:p>
        </p:txBody>
      </p:sp>
      <p:sp>
        <p:nvSpPr>
          <p:cNvPr id="9" name="Shape 7"/>
          <p:cNvSpPr/>
          <p:nvPr/>
        </p:nvSpPr>
        <p:spPr>
          <a:xfrm>
            <a:off x="274320" y="1508760"/>
            <a:ext cx="5029200" cy="3429000"/>
          </a:xfrm>
          <a:prstGeom prst="rect">
            <a:avLst/>
          </a:prstGeom>
          <a:solidFill>
            <a:srgbClr val="1E293B"/>
          </a:solidFill>
          <a:ln w="6350">
            <a:solidFill>
              <a:srgbClr val="334155"/>
            </a:solidFill>
            <a:prstDash val="solid"/>
          </a:ln>
          <a:effectLst>
            <a:outerShdw sx="100000" sy="100000" kx="0" ky="0" algn="bl" rotWithShape="0" blurRad="76200" dist="25400" dir="8100000">
              <a:srgbClr val="000000">
                <a:alpha val="22000"/>
              </a:srgbClr>
            </a:outerShdw>
          </a:effectLst>
        </p:spPr>
      </p:sp>
      <p:sp>
        <p:nvSpPr>
          <p:cNvPr id="10" name="Text 8"/>
          <p:cNvSpPr/>
          <p:nvPr/>
        </p:nvSpPr>
        <p:spPr>
          <a:xfrm>
            <a:off x="411480" y="1581912"/>
            <a:ext cx="4754880" cy="246888"/>
          </a:xfrm>
          <a:prstGeom prst="rect">
            <a:avLst/>
          </a:prstGeom>
          <a:noFill/>
          <a:ln/>
        </p:spPr>
        <p:txBody>
          <a:bodyPr wrap="square" rtlCol="0" anchor="ctr"/>
          <a:lstStyle/>
          <a:p>
            <a:pPr indent="0" marL="0">
              <a:buNone/>
            </a:pPr>
            <a:r>
              <a:rPr lang="en-US" sz="950" b="1" spc="200" kern="0" dirty="0">
                <a:solidFill>
                  <a:srgbClr val="94A3B8"/>
                </a:solidFill>
                <a:latin typeface="Calibri" pitchFamily="34" charset="0"/>
                <a:ea typeface="Calibri" pitchFamily="34" charset="-122"/>
                <a:cs typeface="Calibri" pitchFamily="34" charset="-120"/>
              </a:rPr>
              <a:t>TASKS</a:t>
            </a:r>
            <a:endParaRPr lang="en-US" sz="950" dirty="0"/>
          </a:p>
        </p:txBody>
      </p:sp>
      <p:sp>
        <p:nvSpPr>
          <p:cNvPr id="11" name="Text 9"/>
          <p:cNvSpPr/>
          <p:nvPr/>
        </p:nvSpPr>
        <p:spPr>
          <a:xfrm>
            <a:off x="411480" y="1883664"/>
            <a:ext cx="4754880" cy="2980944"/>
          </a:xfrm>
          <a:prstGeom prst="rect">
            <a:avLst/>
          </a:prstGeom>
          <a:noFill/>
          <a:ln/>
        </p:spPr>
        <p:txBody>
          <a:bodyPr wrap="square" rtlCol="0" anchor="ctr"/>
          <a:lstStyle/>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Create src/ directory structure and migrate all files</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Create modules/auth/ (controller, service, repository)</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Create modules/game/ (engine, validator, service)</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Create modules/matchmaking/ (queue, pairing logic)</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Create modules/leaderboard/ (aggregation, stats)</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Create modules/daily-challenge/ (pipeline, scheduler)</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Split gameSocket.js into game.socket + matchmaking.socket</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Create infrastructure/ for db, redis, sockets, logger</a:t>
            </a:r>
            <a:endParaRPr lang="en-US" sz="980" dirty="0"/>
          </a:p>
        </p:txBody>
      </p:sp>
      <p:sp>
        <p:nvSpPr>
          <p:cNvPr id="12" name="Shape 10"/>
          <p:cNvSpPr/>
          <p:nvPr/>
        </p:nvSpPr>
        <p:spPr>
          <a:xfrm>
            <a:off x="5486400" y="1508760"/>
            <a:ext cx="3383280" cy="1664208"/>
          </a:xfrm>
          <a:prstGeom prst="rect">
            <a:avLst/>
          </a:prstGeom>
          <a:solidFill>
            <a:srgbClr val="1E293B"/>
          </a:solidFill>
          <a:ln w="9525">
            <a:solidFill>
              <a:srgbClr val="4ADE80"/>
            </a:solidFill>
            <a:prstDash val="solid"/>
          </a:ln>
          <a:effectLst>
            <a:outerShdw sx="100000" sy="100000" kx="0" ky="0" algn="bl" rotWithShape="0" blurRad="76200" dist="25400" dir="8100000">
              <a:srgbClr val="000000">
                <a:alpha val="22000"/>
              </a:srgbClr>
            </a:outerShdw>
          </a:effectLst>
        </p:spPr>
      </p:sp>
      <p:sp>
        <p:nvSpPr>
          <p:cNvPr id="13" name="Text 11"/>
          <p:cNvSpPr/>
          <p:nvPr/>
        </p:nvSpPr>
        <p:spPr>
          <a:xfrm>
            <a:off x="5623560" y="1581912"/>
            <a:ext cx="3108960" cy="246888"/>
          </a:xfrm>
          <a:prstGeom prst="rect">
            <a:avLst/>
          </a:prstGeom>
          <a:noFill/>
          <a:ln/>
        </p:spPr>
        <p:txBody>
          <a:bodyPr wrap="square" rtlCol="0" anchor="ctr"/>
          <a:lstStyle/>
          <a:p>
            <a:pPr indent="0" marL="0">
              <a:buNone/>
            </a:pPr>
            <a:r>
              <a:rPr lang="en-US" sz="950" b="1" spc="200" kern="0" dirty="0">
                <a:solidFill>
                  <a:srgbClr val="4ADE80"/>
                </a:solidFill>
                <a:latin typeface="Calibri" pitchFamily="34" charset="0"/>
                <a:ea typeface="Calibri" pitchFamily="34" charset="-122"/>
                <a:cs typeface="Calibri" pitchFamily="34" charset="-120"/>
              </a:rPr>
              <a:t>OUTPUT</a:t>
            </a:r>
            <a:endParaRPr lang="en-US" sz="950" dirty="0"/>
          </a:p>
        </p:txBody>
      </p:sp>
      <p:sp>
        <p:nvSpPr>
          <p:cNvPr id="14" name="Text 12"/>
          <p:cNvSpPr/>
          <p:nvPr/>
        </p:nvSpPr>
        <p:spPr>
          <a:xfrm>
            <a:off x="5623560" y="1883664"/>
            <a:ext cx="3108960" cy="1234440"/>
          </a:xfrm>
          <a:prstGeom prst="rect">
            <a:avLst/>
          </a:prstGeom>
          <a:noFill/>
          <a:ln/>
        </p:spPr>
        <p:txBody>
          <a:bodyPr wrap="square" rtlCol="0" anchor="ctr"/>
          <a:lstStyle/>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Clean domain ownership</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Modular testable services</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Separated socket concerns</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Scalable folder structure</a:t>
            </a:r>
            <a:endParaRPr lang="en-US" sz="980" dirty="0"/>
          </a:p>
        </p:txBody>
      </p:sp>
      <p:sp>
        <p:nvSpPr>
          <p:cNvPr id="15" name="Shape 13"/>
          <p:cNvSpPr/>
          <p:nvPr/>
        </p:nvSpPr>
        <p:spPr>
          <a:xfrm>
            <a:off x="5486400" y="3291840"/>
            <a:ext cx="3383280" cy="1645920"/>
          </a:xfrm>
          <a:prstGeom prst="rect">
            <a:avLst/>
          </a:prstGeom>
          <a:solidFill>
            <a:srgbClr val="1E293B"/>
          </a:solidFill>
          <a:ln w="9525">
            <a:solidFill>
              <a:srgbClr val="4ADE80"/>
            </a:solidFill>
            <a:prstDash val="solid"/>
          </a:ln>
          <a:effectLst>
            <a:outerShdw sx="100000" sy="100000" kx="0" ky="0" algn="bl" rotWithShape="0" blurRad="76200" dist="25400" dir="8100000">
              <a:srgbClr val="000000">
                <a:alpha val="22000"/>
              </a:srgbClr>
            </a:outerShdw>
          </a:effectLst>
        </p:spPr>
      </p:sp>
      <p:sp>
        <p:nvSpPr>
          <p:cNvPr id="16" name="Text 14"/>
          <p:cNvSpPr/>
          <p:nvPr/>
        </p:nvSpPr>
        <p:spPr>
          <a:xfrm>
            <a:off x="5623560" y="3364992"/>
            <a:ext cx="3108960" cy="246888"/>
          </a:xfrm>
          <a:prstGeom prst="rect">
            <a:avLst/>
          </a:prstGeom>
          <a:noFill/>
          <a:ln/>
        </p:spPr>
        <p:txBody>
          <a:bodyPr wrap="square" rtlCol="0" anchor="ctr"/>
          <a:lstStyle/>
          <a:p>
            <a:pPr indent="0" marL="0">
              <a:buNone/>
            </a:pPr>
            <a:r>
              <a:rPr lang="en-US" sz="900" b="1" spc="100" kern="0" dirty="0">
                <a:solidFill>
                  <a:srgbClr val="4ADE80"/>
                </a:solidFill>
                <a:latin typeface="Calibri" pitchFamily="34" charset="0"/>
                <a:ea typeface="Calibri" pitchFamily="34" charset="-122"/>
                <a:cs typeface="Calibri" pitchFamily="34" charset="-120"/>
              </a:rPr>
              <a:t>WHY THIS PHASE EXISTS</a:t>
            </a:r>
            <a:endParaRPr lang="en-US" sz="900" dirty="0"/>
          </a:p>
        </p:txBody>
      </p:sp>
      <p:sp>
        <p:nvSpPr>
          <p:cNvPr id="17" name="Text 15"/>
          <p:cNvSpPr/>
          <p:nvPr/>
        </p:nvSpPr>
        <p:spPr>
          <a:xfrm>
            <a:off x="5623560" y="3648456"/>
            <a:ext cx="3108960" cy="1216152"/>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The God Object means one change can break unrelated flows. Domain modules give each concern a single owner — the foundational requirement before adding Redis, PostgreSQL, or any new feature safely.</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F87171"/>
          </a:solidFill>
          <a:ln/>
        </p:spPr>
      </p:sp>
      <p:sp>
        <p:nvSpPr>
          <p:cNvPr id="3" name="Shape 1"/>
          <p:cNvSpPr/>
          <p:nvPr/>
        </p:nvSpPr>
        <p:spPr>
          <a:xfrm>
            <a:off x="274320" y="128016"/>
            <a:ext cx="804672" cy="512064"/>
          </a:xfrm>
          <a:prstGeom prst="rect">
            <a:avLst/>
          </a:prstGeom>
          <a:solidFill>
            <a:srgbClr val="F87171"/>
          </a:solidFill>
          <a:ln/>
        </p:spPr>
      </p:sp>
      <p:sp>
        <p:nvSpPr>
          <p:cNvPr id="4" name="Text 2"/>
          <p:cNvSpPr/>
          <p:nvPr/>
        </p:nvSpPr>
        <p:spPr>
          <a:xfrm>
            <a:off x="274320" y="128016"/>
            <a:ext cx="804672" cy="512064"/>
          </a:xfrm>
          <a:prstGeom prst="rect">
            <a:avLst/>
          </a:prstGeom>
          <a:noFill/>
          <a:ln/>
        </p:spPr>
        <p:txBody>
          <a:bodyPr wrap="square" rtlCol="0" anchor="ctr"/>
          <a:lstStyle/>
          <a:p>
            <a:pPr algn="ctr" indent="0" marL="0">
              <a:buNone/>
            </a:pPr>
            <a:r>
              <a:rPr lang="en-US" sz="2000" b="1" dirty="0">
                <a:solidFill>
                  <a:srgbClr val="0F172A"/>
                </a:solidFill>
                <a:latin typeface="Calibri" pitchFamily="34" charset="0"/>
                <a:ea typeface="Calibri" pitchFamily="34" charset="-122"/>
                <a:cs typeface="Calibri" pitchFamily="34" charset="-120"/>
              </a:rPr>
              <a:t>P3</a:t>
            </a:r>
            <a:endParaRPr lang="en-US" sz="2000" dirty="0"/>
          </a:p>
        </p:txBody>
      </p:sp>
      <p:sp>
        <p:nvSpPr>
          <p:cNvPr id="5" name="Text 3"/>
          <p:cNvSpPr/>
          <p:nvPr/>
        </p:nvSpPr>
        <p:spPr>
          <a:xfrm>
            <a:off x="1216152" y="155448"/>
            <a:ext cx="7653528" cy="457200"/>
          </a:xfrm>
          <a:prstGeom prst="rect">
            <a:avLst/>
          </a:prstGeom>
          <a:noFill/>
          <a:ln/>
        </p:spPr>
        <p:txBody>
          <a:bodyPr wrap="square" rtlCol="0" anchor="ctr"/>
          <a:lstStyle/>
          <a:p>
            <a:pPr indent="0" marL="0">
              <a:buNone/>
            </a:pPr>
            <a:r>
              <a:rPr lang="en-US" sz="2100" b="1" dirty="0">
                <a:solidFill>
                  <a:srgbClr val="F1F5F9"/>
                </a:solidFill>
                <a:latin typeface="Calibri" pitchFamily="34" charset="0"/>
                <a:ea typeface="Calibri" pitchFamily="34" charset="-122"/>
                <a:cs typeface="Calibri" pitchFamily="34" charset="-120"/>
              </a:rPr>
              <a:t>Phase 3 — Security Hardening</a:t>
            </a:r>
            <a:endParaRPr lang="en-US" sz="2100" dirty="0"/>
          </a:p>
        </p:txBody>
      </p:sp>
      <p:sp>
        <p:nvSpPr>
          <p:cNvPr id="6" name="Text 4"/>
          <p:cNvSpPr/>
          <p:nvPr/>
        </p:nvSpPr>
        <p:spPr>
          <a:xfrm>
            <a:off x="274320" y="704088"/>
            <a:ext cx="8595360" cy="246888"/>
          </a:xfrm>
          <a:prstGeom prst="rect">
            <a:avLst/>
          </a:prstGeom>
          <a:noFill/>
          <a:ln/>
        </p:spPr>
        <p:txBody>
          <a:bodyPr wrap="square" rtlCol="0" anchor="ctr"/>
          <a:lstStyle/>
          <a:p>
            <a:pPr indent="0" marL="0">
              <a:buNone/>
            </a:pPr>
            <a:r>
              <a:rPr lang="en-US" sz="1100" i="1" dirty="0">
                <a:solidFill>
                  <a:srgbClr val="94A3B8"/>
                </a:solidFill>
                <a:latin typeface="Calibri" pitchFamily="34" charset="0"/>
                <a:ea typeface="Calibri" pitchFamily="34" charset="-122"/>
                <a:cs typeface="Calibri" pitchFamily="34" charset="-120"/>
              </a:rPr>
              <a:t>Fix trust boundaries — the single most critical production requirement</a:t>
            </a:r>
            <a:endParaRPr lang="en-US" sz="1100" dirty="0"/>
          </a:p>
        </p:txBody>
      </p:sp>
      <p:sp>
        <p:nvSpPr>
          <p:cNvPr id="7" name="Shape 5"/>
          <p:cNvSpPr/>
          <p:nvPr/>
        </p:nvSpPr>
        <p:spPr>
          <a:xfrm>
            <a:off x="274320" y="1005840"/>
            <a:ext cx="8595360" cy="420624"/>
          </a:xfrm>
          <a:prstGeom prst="rect">
            <a:avLst/>
          </a:prstGeom>
          <a:solidFill>
            <a:srgbClr val="0D1929"/>
          </a:solidFill>
          <a:ln w="9525">
            <a:solidFill>
              <a:srgbClr val="F87171"/>
            </a:solidFill>
            <a:prstDash val="solid"/>
          </a:ln>
        </p:spPr>
      </p:sp>
      <p:sp>
        <p:nvSpPr>
          <p:cNvPr id="8" name="Text 6"/>
          <p:cNvSpPr/>
          <p:nvPr/>
        </p:nvSpPr>
        <p:spPr>
          <a:xfrm>
            <a:off x="411480" y="1005840"/>
            <a:ext cx="8321040" cy="420624"/>
          </a:xfrm>
          <a:prstGeom prst="rect">
            <a:avLst/>
          </a:prstGeom>
          <a:noFill/>
          <a:ln/>
        </p:spPr>
        <p:txBody>
          <a:bodyPr wrap="square" rtlCol="0" anchor="ctr"/>
          <a:lstStyle/>
          <a:p>
            <a:pPr indent="0" marL="0">
              <a:buNone/>
            </a:pPr>
            <a:r>
              <a:rPr lang="en-US" sz="1150" b="1" dirty="0">
                <a:solidFill>
                  <a:srgbClr val="F87171"/>
                </a:solidFill>
                <a:latin typeface="Calibri" pitchFamily="34" charset="0"/>
                <a:ea typeface="Calibri" pitchFamily="34" charset="-122"/>
                <a:cs typeface="Calibri" pitchFamily="34" charset="-120"/>
              </a:rPr>
              <a:t>GOAL  ·  Stop trusting the client for anything security-critical</a:t>
            </a:r>
            <a:endParaRPr lang="en-US" sz="1150" dirty="0"/>
          </a:p>
        </p:txBody>
      </p:sp>
      <p:sp>
        <p:nvSpPr>
          <p:cNvPr id="9" name="Shape 7"/>
          <p:cNvSpPr/>
          <p:nvPr/>
        </p:nvSpPr>
        <p:spPr>
          <a:xfrm>
            <a:off x="274320" y="1508760"/>
            <a:ext cx="5029200" cy="3429000"/>
          </a:xfrm>
          <a:prstGeom prst="rect">
            <a:avLst/>
          </a:prstGeom>
          <a:solidFill>
            <a:srgbClr val="1E293B"/>
          </a:solidFill>
          <a:ln w="6350">
            <a:solidFill>
              <a:srgbClr val="334155"/>
            </a:solidFill>
            <a:prstDash val="solid"/>
          </a:ln>
          <a:effectLst>
            <a:outerShdw sx="100000" sy="100000" kx="0" ky="0" algn="bl" rotWithShape="0" blurRad="76200" dist="25400" dir="8100000">
              <a:srgbClr val="000000">
                <a:alpha val="22000"/>
              </a:srgbClr>
            </a:outerShdw>
          </a:effectLst>
        </p:spPr>
      </p:sp>
      <p:sp>
        <p:nvSpPr>
          <p:cNvPr id="10" name="Text 8"/>
          <p:cNvSpPr/>
          <p:nvPr/>
        </p:nvSpPr>
        <p:spPr>
          <a:xfrm>
            <a:off x="411480" y="1581912"/>
            <a:ext cx="4754880" cy="246888"/>
          </a:xfrm>
          <a:prstGeom prst="rect">
            <a:avLst/>
          </a:prstGeom>
          <a:noFill/>
          <a:ln/>
        </p:spPr>
        <p:txBody>
          <a:bodyPr wrap="square" rtlCol="0" anchor="ctr"/>
          <a:lstStyle/>
          <a:p>
            <a:pPr indent="0" marL="0">
              <a:buNone/>
            </a:pPr>
            <a:r>
              <a:rPr lang="en-US" sz="950" b="1" spc="200" kern="0" dirty="0">
                <a:solidFill>
                  <a:srgbClr val="94A3B8"/>
                </a:solidFill>
                <a:latin typeface="Calibri" pitchFamily="34" charset="0"/>
                <a:ea typeface="Calibri" pitchFamily="34" charset="-122"/>
                <a:cs typeface="Calibri" pitchFamily="34" charset="-120"/>
              </a:rPr>
              <a:t>TASKS</a:t>
            </a:r>
            <a:endParaRPr lang="en-US" sz="950" dirty="0"/>
          </a:p>
        </p:txBody>
      </p:sp>
      <p:sp>
        <p:nvSpPr>
          <p:cNvPr id="11" name="Text 9"/>
          <p:cNvSpPr/>
          <p:nvPr/>
        </p:nvSpPr>
        <p:spPr>
          <a:xfrm>
            <a:off x="411480" y="1883664"/>
            <a:ext cx="4754880" cy="2980944"/>
          </a:xfrm>
          <a:prstGeom prst="rect">
            <a:avLst/>
          </a:prstGeom>
          <a:noFill/>
          <a:ln/>
        </p:spPr>
        <p:txBody>
          <a:bodyPr wrap="square" rtlCol="0" anchor="ctr"/>
          <a:lstStyle/>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Remove userId from all socket event payloads</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Add socket auth middleware — verify JWT at connect time</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Store verified identity in socket.data.userId</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Move JWT to httpOnly secure cookies</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Implement refresh token endpoint and rotation logic</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Add Zod validation on every socket event payload</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Add Zod validation on every HTTP API route</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Implement rate limiting on auth endpoints and socket events</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Fix user._id vs user.id inconsistency across codebase</a:t>
            </a:r>
            <a:endParaRPr lang="en-US" sz="980" dirty="0"/>
          </a:p>
        </p:txBody>
      </p:sp>
      <p:sp>
        <p:nvSpPr>
          <p:cNvPr id="12" name="Shape 10"/>
          <p:cNvSpPr/>
          <p:nvPr/>
        </p:nvSpPr>
        <p:spPr>
          <a:xfrm>
            <a:off x="5486400" y="1508760"/>
            <a:ext cx="3383280" cy="1664208"/>
          </a:xfrm>
          <a:prstGeom prst="rect">
            <a:avLst/>
          </a:prstGeom>
          <a:solidFill>
            <a:srgbClr val="1E293B"/>
          </a:solidFill>
          <a:ln w="9525">
            <a:solidFill>
              <a:srgbClr val="4ADE80"/>
            </a:solidFill>
            <a:prstDash val="solid"/>
          </a:ln>
          <a:effectLst>
            <a:outerShdw sx="100000" sy="100000" kx="0" ky="0" algn="bl" rotWithShape="0" blurRad="76200" dist="25400" dir="8100000">
              <a:srgbClr val="000000">
                <a:alpha val="22000"/>
              </a:srgbClr>
            </a:outerShdw>
          </a:effectLst>
        </p:spPr>
      </p:sp>
      <p:sp>
        <p:nvSpPr>
          <p:cNvPr id="13" name="Text 11"/>
          <p:cNvSpPr/>
          <p:nvPr/>
        </p:nvSpPr>
        <p:spPr>
          <a:xfrm>
            <a:off x="5623560" y="1581912"/>
            <a:ext cx="3108960" cy="246888"/>
          </a:xfrm>
          <a:prstGeom prst="rect">
            <a:avLst/>
          </a:prstGeom>
          <a:noFill/>
          <a:ln/>
        </p:spPr>
        <p:txBody>
          <a:bodyPr wrap="square" rtlCol="0" anchor="ctr"/>
          <a:lstStyle/>
          <a:p>
            <a:pPr indent="0" marL="0">
              <a:buNone/>
            </a:pPr>
            <a:r>
              <a:rPr lang="en-US" sz="950" b="1" spc="200" kern="0" dirty="0">
                <a:solidFill>
                  <a:srgbClr val="4ADE80"/>
                </a:solidFill>
                <a:latin typeface="Calibri" pitchFamily="34" charset="0"/>
                <a:ea typeface="Calibri" pitchFamily="34" charset="-122"/>
                <a:cs typeface="Calibri" pitchFamily="34" charset="-120"/>
              </a:rPr>
              <a:t>OUTPUT</a:t>
            </a:r>
            <a:endParaRPr lang="en-US" sz="950" dirty="0"/>
          </a:p>
        </p:txBody>
      </p:sp>
      <p:sp>
        <p:nvSpPr>
          <p:cNvPr id="14" name="Text 12"/>
          <p:cNvSpPr/>
          <p:nvPr/>
        </p:nvSpPr>
        <p:spPr>
          <a:xfrm>
            <a:off x="5623560" y="1883664"/>
            <a:ext cx="3108960" cy="1234440"/>
          </a:xfrm>
          <a:prstGeom prst="rect">
            <a:avLst/>
          </a:prstGeom>
          <a:noFill/>
          <a:ln/>
        </p:spPr>
        <p:txBody>
          <a:bodyPr wrap="square" rtlCol="0" anchor="ctr"/>
          <a:lstStyle/>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Server-derived identity</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Validated payloads</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Secure httpOnly auth</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Rate-limited endpoints</a:t>
            </a:r>
            <a:endParaRPr lang="en-US" sz="980" dirty="0"/>
          </a:p>
        </p:txBody>
      </p:sp>
      <p:sp>
        <p:nvSpPr>
          <p:cNvPr id="15" name="Shape 13"/>
          <p:cNvSpPr/>
          <p:nvPr/>
        </p:nvSpPr>
        <p:spPr>
          <a:xfrm>
            <a:off x="5486400" y="3291840"/>
            <a:ext cx="3383280" cy="1645920"/>
          </a:xfrm>
          <a:prstGeom prst="rect">
            <a:avLst/>
          </a:prstGeom>
          <a:solidFill>
            <a:srgbClr val="1E293B"/>
          </a:solidFill>
          <a:ln w="9525">
            <a:solidFill>
              <a:srgbClr val="F87171"/>
            </a:solidFill>
            <a:prstDash val="solid"/>
          </a:ln>
          <a:effectLst>
            <a:outerShdw sx="100000" sy="100000" kx="0" ky="0" algn="bl" rotWithShape="0" blurRad="76200" dist="25400" dir="8100000">
              <a:srgbClr val="000000">
                <a:alpha val="22000"/>
              </a:srgbClr>
            </a:outerShdw>
          </a:effectLst>
        </p:spPr>
      </p:sp>
      <p:sp>
        <p:nvSpPr>
          <p:cNvPr id="16" name="Text 14"/>
          <p:cNvSpPr/>
          <p:nvPr/>
        </p:nvSpPr>
        <p:spPr>
          <a:xfrm>
            <a:off x="5623560" y="3364992"/>
            <a:ext cx="3108960" cy="246888"/>
          </a:xfrm>
          <a:prstGeom prst="rect">
            <a:avLst/>
          </a:prstGeom>
          <a:noFill/>
          <a:ln/>
        </p:spPr>
        <p:txBody>
          <a:bodyPr wrap="square" rtlCol="0" anchor="ctr"/>
          <a:lstStyle/>
          <a:p>
            <a:pPr indent="0" marL="0">
              <a:buNone/>
            </a:pPr>
            <a:r>
              <a:rPr lang="en-US" sz="900" b="1" spc="100" kern="0" dirty="0">
                <a:solidFill>
                  <a:srgbClr val="F87171"/>
                </a:solidFill>
                <a:latin typeface="Calibri" pitchFamily="34" charset="0"/>
                <a:ea typeface="Calibri" pitchFamily="34" charset="-122"/>
                <a:cs typeface="Calibri" pitchFamily="34" charset="-120"/>
              </a:rPr>
              <a:t>WHY THIS PHASE EXISTS</a:t>
            </a:r>
            <a:endParaRPr lang="en-US" sz="900" dirty="0"/>
          </a:p>
        </p:txBody>
      </p:sp>
      <p:sp>
        <p:nvSpPr>
          <p:cNvPr id="17" name="Text 15"/>
          <p:cNvSpPr/>
          <p:nvPr/>
        </p:nvSpPr>
        <p:spPr>
          <a:xfrm>
            <a:off x="5623560" y="3648456"/>
            <a:ext cx="3108960" cy="1216152"/>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In any competitive multiplayer system, the client is adversarial. Fake identity in socket payloads can corrupt leaderboards, claim false wins, and hijack rooms. This phase removes that entire attack surface.</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FB923C"/>
          </a:solidFill>
          <a:ln/>
        </p:spPr>
      </p:sp>
      <p:sp>
        <p:nvSpPr>
          <p:cNvPr id="3" name="Shape 1"/>
          <p:cNvSpPr/>
          <p:nvPr/>
        </p:nvSpPr>
        <p:spPr>
          <a:xfrm>
            <a:off x="274320" y="128016"/>
            <a:ext cx="804672" cy="512064"/>
          </a:xfrm>
          <a:prstGeom prst="rect">
            <a:avLst/>
          </a:prstGeom>
          <a:solidFill>
            <a:srgbClr val="FB923C"/>
          </a:solidFill>
          <a:ln/>
        </p:spPr>
      </p:sp>
      <p:sp>
        <p:nvSpPr>
          <p:cNvPr id="4" name="Text 2"/>
          <p:cNvSpPr/>
          <p:nvPr/>
        </p:nvSpPr>
        <p:spPr>
          <a:xfrm>
            <a:off x="274320" y="128016"/>
            <a:ext cx="804672" cy="512064"/>
          </a:xfrm>
          <a:prstGeom prst="rect">
            <a:avLst/>
          </a:prstGeom>
          <a:noFill/>
          <a:ln/>
        </p:spPr>
        <p:txBody>
          <a:bodyPr wrap="square" rtlCol="0" anchor="ctr"/>
          <a:lstStyle/>
          <a:p>
            <a:pPr algn="ctr" indent="0" marL="0">
              <a:buNone/>
            </a:pPr>
            <a:r>
              <a:rPr lang="en-US" sz="2000" b="1" dirty="0">
                <a:solidFill>
                  <a:srgbClr val="0F172A"/>
                </a:solidFill>
                <a:latin typeface="Calibri" pitchFamily="34" charset="0"/>
                <a:ea typeface="Calibri" pitchFamily="34" charset="-122"/>
                <a:cs typeface="Calibri" pitchFamily="34" charset="-120"/>
              </a:rPr>
              <a:t>P4</a:t>
            </a:r>
            <a:endParaRPr lang="en-US" sz="2000" dirty="0"/>
          </a:p>
        </p:txBody>
      </p:sp>
      <p:sp>
        <p:nvSpPr>
          <p:cNvPr id="5" name="Text 3"/>
          <p:cNvSpPr/>
          <p:nvPr/>
        </p:nvSpPr>
        <p:spPr>
          <a:xfrm>
            <a:off x="1216152" y="155448"/>
            <a:ext cx="7653528" cy="457200"/>
          </a:xfrm>
          <a:prstGeom prst="rect">
            <a:avLst/>
          </a:prstGeom>
          <a:noFill/>
          <a:ln/>
        </p:spPr>
        <p:txBody>
          <a:bodyPr wrap="square" rtlCol="0" anchor="ctr"/>
          <a:lstStyle/>
          <a:p>
            <a:pPr indent="0" marL="0">
              <a:buNone/>
            </a:pPr>
            <a:r>
              <a:rPr lang="en-US" sz="2100" b="1" dirty="0">
                <a:solidFill>
                  <a:srgbClr val="F1F5F9"/>
                </a:solidFill>
                <a:latin typeface="Calibri" pitchFamily="34" charset="0"/>
                <a:ea typeface="Calibri" pitchFamily="34" charset="-122"/>
                <a:cs typeface="Calibri" pitchFamily="34" charset="-120"/>
              </a:rPr>
              <a:t>Phase 4 — PostgreSQL + Prisma Migration</a:t>
            </a:r>
            <a:endParaRPr lang="en-US" sz="2100" dirty="0"/>
          </a:p>
        </p:txBody>
      </p:sp>
      <p:sp>
        <p:nvSpPr>
          <p:cNvPr id="6" name="Text 4"/>
          <p:cNvSpPr/>
          <p:nvPr/>
        </p:nvSpPr>
        <p:spPr>
          <a:xfrm>
            <a:off x="274320" y="704088"/>
            <a:ext cx="8595360" cy="246888"/>
          </a:xfrm>
          <a:prstGeom prst="rect">
            <a:avLst/>
          </a:prstGeom>
          <a:noFill/>
          <a:ln/>
        </p:spPr>
        <p:txBody>
          <a:bodyPr wrap="square" rtlCol="0" anchor="ctr"/>
          <a:lstStyle/>
          <a:p>
            <a:pPr indent="0" marL="0">
              <a:buNone/>
            </a:pPr>
            <a:r>
              <a:rPr lang="en-US" sz="1100" i="1" dirty="0">
                <a:solidFill>
                  <a:srgbClr val="94A3B8"/>
                </a:solidFill>
                <a:latin typeface="Calibri" pitchFamily="34" charset="0"/>
                <a:ea typeface="Calibri" pitchFamily="34" charset="-122"/>
                <a:cs typeface="Calibri" pitchFamily="34" charset="-120"/>
              </a:rPr>
              <a:t>Game data is relational — stop using the wrong database</a:t>
            </a:r>
            <a:endParaRPr lang="en-US" sz="1100" dirty="0"/>
          </a:p>
        </p:txBody>
      </p:sp>
      <p:sp>
        <p:nvSpPr>
          <p:cNvPr id="7" name="Shape 5"/>
          <p:cNvSpPr/>
          <p:nvPr/>
        </p:nvSpPr>
        <p:spPr>
          <a:xfrm>
            <a:off x="274320" y="1005840"/>
            <a:ext cx="8595360" cy="420624"/>
          </a:xfrm>
          <a:prstGeom prst="rect">
            <a:avLst/>
          </a:prstGeom>
          <a:solidFill>
            <a:srgbClr val="0D1929"/>
          </a:solidFill>
          <a:ln w="9525">
            <a:solidFill>
              <a:srgbClr val="FB923C"/>
            </a:solidFill>
            <a:prstDash val="solid"/>
          </a:ln>
        </p:spPr>
      </p:sp>
      <p:sp>
        <p:nvSpPr>
          <p:cNvPr id="8" name="Text 6"/>
          <p:cNvSpPr/>
          <p:nvPr/>
        </p:nvSpPr>
        <p:spPr>
          <a:xfrm>
            <a:off x="411480" y="1005840"/>
            <a:ext cx="8321040" cy="420624"/>
          </a:xfrm>
          <a:prstGeom prst="rect">
            <a:avLst/>
          </a:prstGeom>
          <a:noFill/>
          <a:ln/>
        </p:spPr>
        <p:txBody>
          <a:bodyPr wrap="square" rtlCol="0" anchor="ctr"/>
          <a:lstStyle/>
          <a:p>
            <a:pPr indent="0" marL="0">
              <a:buNone/>
            </a:pPr>
            <a:r>
              <a:rPr lang="en-US" sz="1150" b="1" dirty="0">
                <a:solidFill>
                  <a:srgbClr val="FB923C"/>
                </a:solidFill>
                <a:latin typeface="Calibri" pitchFamily="34" charset="0"/>
                <a:ea typeface="Calibri" pitchFamily="34" charset="-122"/>
                <a:cs typeface="Calibri" pitchFamily="34" charset="-120"/>
              </a:rPr>
              <a:t>GOAL  ·  Replace MongoDB with PostgreSQL for all durable structured data</a:t>
            </a:r>
            <a:endParaRPr lang="en-US" sz="1150" dirty="0"/>
          </a:p>
        </p:txBody>
      </p:sp>
      <p:sp>
        <p:nvSpPr>
          <p:cNvPr id="9" name="Shape 7"/>
          <p:cNvSpPr/>
          <p:nvPr/>
        </p:nvSpPr>
        <p:spPr>
          <a:xfrm>
            <a:off x="274320" y="1508760"/>
            <a:ext cx="5029200" cy="3429000"/>
          </a:xfrm>
          <a:prstGeom prst="rect">
            <a:avLst/>
          </a:prstGeom>
          <a:solidFill>
            <a:srgbClr val="1E293B"/>
          </a:solidFill>
          <a:ln w="6350">
            <a:solidFill>
              <a:srgbClr val="334155"/>
            </a:solidFill>
            <a:prstDash val="solid"/>
          </a:ln>
          <a:effectLst>
            <a:outerShdw sx="100000" sy="100000" kx="0" ky="0" algn="bl" rotWithShape="0" blurRad="76200" dist="25400" dir="8100000">
              <a:srgbClr val="000000">
                <a:alpha val="22000"/>
              </a:srgbClr>
            </a:outerShdw>
          </a:effectLst>
        </p:spPr>
      </p:sp>
      <p:sp>
        <p:nvSpPr>
          <p:cNvPr id="10" name="Text 8"/>
          <p:cNvSpPr/>
          <p:nvPr/>
        </p:nvSpPr>
        <p:spPr>
          <a:xfrm>
            <a:off x="411480" y="1581912"/>
            <a:ext cx="4754880" cy="246888"/>
          </a:xfrm>
          <a:prstGeom prst="rect">
            <a:avLst/>
          </a:prstGeom>
          <a:noFill/>
          <a:ln/>
        </p:spPr>
        <p:txBody>
          <a:bodyPr wrap="square" rtlCol="0" anchor="ctr"/>
          <a:lstStyle/>
          <a:p>
            <a:pPr indent="0" marL="0">
              <a:buNone/>
            </a:pPr>
            <a:r>
              <a:rPr lang="en-US" sz="950" b="1" spc="200" kern="0" dirty="0">
                <a:solidFill>
                  <a:srgbClr val="94A3B8"/>
                </a:solidFill>
                <a:latin typeface="Calibri" pitchFamily="34" charset="0"/>
                <a:ea typeface="Calibri" pitchFamily="34" charset="-122"/>
                <a:cs typeface="Calibri" pitchFamily="34" charset="-120"/>
              </a:rPr>
              <a:t>TASKS</a:t>
            </a:r>
            <a:endParaRPr lang="en-US" sz="950" dirty="0"/>
          </a:p>
        </p:txBody>
      </p:sp>
      <p:sp>
        <p:nvSpPr>
          <p:cNvPr id="11" name="Text 9"/>
          <p:cNvSpPr/>
          <p:nvPr/>
        </p:nvSpPr>
        <p:spPr>
          <a:xfrm>
            <a:off x="411480" y="1883664"/>
            <a:ext cx="4754880" cy="2980944"/>
          </a:xfrm>
          <a:prstGeom prst="rect">
            <a:avLst/>
          </a:prstGeom>
          <a:noFill/>
          <a:ln/>
        </p:spPr>
        <p:txBody>
          <a:bodyPr wrap="square" rtlCol="0" anchor="ctr"/>
          <a:lstStyle/>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Provision PostgreSQL via Docker compose</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Install Prisma and initialise the schema</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Design tables: users, matches, rooms, moves</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Design tables: daily_challenges, ratings, leaderboard_entries</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Add foreign keys and indexes on all query paths</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Add transactions for match completion + stats updates</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Migrate existing User and Leaderboard data</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Update all repositories to use Prisma client</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Add connection pooling configuration</a:t>
            </a:r>
            <a:endParaRPr lang="en-US" sz="980" dirty="0"/>
          </a:p>
        </p:txBody>
      </p:sp>
      <p:sp>
        <p:nvSpPr>
          <p:cNvPr id="12" name="Shape 10"/>
          <p:cNvSpPr/>
          <p:nvPr/>
        </p:nvSpPr>
        <p:spPr>
          <a:xfrm>
            <a:off x="5486400" y="1508760"/>
            <a:ext cx="3383280" cy="1664208"/>
          </a:xfrm>
          <a:prstGeom prst="rect">
            <a:avLst/>
          </a:prstGeom>
          <a:solidFill>
            <a:srgbClr val="1E293B"/>
          </a:solidFill>
          <a:ln w="9525">
            <a:solidFill>
              <a:srgbClr val="4ADE80"/>
            </a:solidFill>
            <a:prstDash val="solid"/>
          </a:ln>
          <a:effectLst>
            <a:outerShdw sx="100000" sy="100000" kx="0" ky="0" algn="bl" rotWithShape="0" blurRad="76200" dist="25400" dir="8100000">
              <a:srgbClr val="000000">
                <a:alpha val="22000"/>
              </a:srgbClr>
            </a:outerShdw>
          </a:effectLst>
        </p:spPr>
      </p:sp>
      <p:sp>
        <p:nvSpPr>
          <p:cNvPr id="13" name="Text 11"/>
          <p:cNvSpPr/>
          <p:nvPr/>
        </p:nvSpPr>
        <p:spPr>
          <a:xfrm>
            <a:off x="5623560" y="1581912"/>
            <a:ext cx="3108960" cy="246888"/>
          </a:xfrm>
          <a:prstGeom prst="rect">
            <a:avLst/>
          </a:prstGeom>
          <a:noFill/>
          <a:ln/>
        </p:spPr>
        <p:txBody>
          <a:bodyPr wrap="square" rtlCol="0" anchor="ctr"/>
          <a:lstStyle/>
          <a:p>
            <a:pPr indent="0" marL="0">
              <a:buNone/>
            </a:pPr>
            <a:r>
              <a:rPr lang="en-US" sz="950" b="1" spc="200" kern="0" dirty="0">
                <a:solidFill>
                  <a:srgbClr val="4ADE80"/>
                </a:solidFill>
                <a:latin typeface="Calibri" pitchFamily="34" charset="0"/>
                <a:ea typeface="Calibri" pitchFamily="34" charset="-122"/>
                <a:cs typeface="Calibri" pitchFamily="34" charset="-120"/>
              </a:rPr>
              <a:t>OUTPUT</a:t>
            </a:r>
            <a:endParaRPr lang="en-US" sz="950" dirty="0"/>
          </a:p>
        </p:txBody>
      </p:sp>
      <p:sp>
        <p:nvSpPr>
          <p:cNvPr id="14" name="Text 12"/>
          <p:cNvSpPr/>
          <p:nvPr/>
        </p:nvSpPr>
        <p:spPr>
          <a:xfrm>
            <a:off x="5623560" y="1883664"/>
            <a:ext cx="3108960" cy="1234440"/>
          </a:xfrm>
          <a:prstGeom prst="rect">
            <a:avLst/>
          </a:prstGeom>
          <a:noFill/>
          <a:ln/>
        </p:spPr>
        <p:txBody>
          <a:bodyPr wrap="square" rtlCol="0" anchor="ctr"/>
          <a:lstStyle/>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Relational data model</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Transactional integrity</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Indexed query paths</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Type-safe Prisma client</a:t>
            </a:r>
            <a:endParaRPr lang="en-US" sz="980" dirty="0"/>
          </a:p>
        </p:txBody>
      </p:sp>
      <p:sp>
        <p:nvSpPr>
          <p:cNvPr id="15" name="Shape 13"/>
          <p:cNvSpPr/>
          <p:nvPr/>
        </p:nvSpPr>
        <p:spPr>
          <a:xfrm>
            <a:off x="5486400" y="3291840"/>
            <a:ext cx="3383280" cy="1645920"/>
          </a:xfrm>
          <a:prstGeom prst="rect">
            <a:avLst/>
          </a:prstGeom>
          <a:solidFill>
            <a:srgbClr val="1E293B"/>
          </a:solidFill>
          <a:ln w="9525">
            <a:solidFill>
              <a:srgbClr val="FB923C"/>
            </a:solidFill>
            <a:prstDash val="solid"/>
          </a:ln>
          <a:effectLst>
            <a:outerShdw sx="100000" sy="100000" kx="0" ky="0" algn="bl" rotWithShape="0" blurRad="76200" dist="25400" dir="8100000">
              <a:srgbClr val="000000">
                <a:alpha val="22000"/>
              </a:srgbClr>
            </a:outerShdw>
          </a:effectLst>
        </p:spPr>
      </p:sp>
      <p:sp>
        <p:nvSpPr>
          <p:cNvPr id="16" name="Text 14"/>
          <p:cNvSpPr/>
          <p:nvPr/>
        </p:nvSpPr>
        <p:spPr>
          <a:xfrm>
            <a:off x="5623560" y="3364992"/>
            <a:ext cx="3108960" cy="246888"/>
          </a:xfrm>
          <a:prstGeom prst="rect">
            <a:avLst/>
          </a:prstGeom>
          <a:noFill/>
          <a:ln/>
        </p:spPr>
        <p:txBody>
          <a:bodyPr wrap="square" rtlCol="0" anchor="ctr"/>
          <a:lstStyle/>
          <a:p>
            <a:pPr indent="0" marL="0">
              <a:buNone/>
            </a:pPr>
            <a:r>
              <a:rPr lang="en-US" sz="900" b="1" spc="100" kern="0" dirty="0">
                <a:solidFill>
                  <a:srgbClr val="FB923C"/>
                </a:solidFill>
                <a:latin typeface="Calibri" pitchFamily="34" charset="0"/>
                <a:ea typeface="Calibri" pitchFamily="34" charset="-122"/>
                <a:cs typeface="Calibri" pitchFamily="34" charset="-120"/>
              </a:rPr>
              <a:t>WHY THIS PHASE EXISTS</a:t>
            </a:r>
            <a:endParaRPr lang="en-US" sz="900" dirty="0"/>
          </a:p>
        </p:txBody>
      </p:sp>
      <p:sp>
        <p:nvSpPr>
          <p:cNvPr id="17" name="Text 15"/>
          <p:cNvSpPr/>
          <p:nvPr/>
        </p:nvSpPr>
        <p:spPr>
          <a:xfrm>
            <a:off x="5623560" y="3648456"/>
            <a:ext cx="3108960" cy="1216152"/>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Match history, ratings, leaderboards, and daily puzzles form a naturally relational graph. MongoDB's flexibility was never needed — only its downsides remain: no joins, no transactions. PostgreSQL fixes both.</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FCD34D"/>
          </a:solidFill>
          <a:ln/>
        </p:spPr>
      </p:sp>
      <p:sp>
        <p:nvSpPr>
          <p:cNvPr id="3" name="Shape 1"/>
          <p:cNvSpPr/>
          <p:nvPr/>
        </p:nvSpPr>
        <p:spPr>
          <a:xfrm>
            <a:off x="274320" y="128016"/>
            <a:ext cx="804672" cy="512064"/>
          </a:xfrm>
          <a:prstGeom prst="rect">
            <a:avLst/>
          </a:prstGeom>
          <a:solidFill>
            <a:srgbClr val="FCD34D"/>
          </a:solidFill>
          <a:ln/>
        </p:spPr>
      </p:sp>
      <p:sp>
        <p:nvSpPr>
          <p:cNvPr id="4" name="Text 2"/>
          <p:cNvSpPr/>
          <p:nvPr/>
        </p:nvSpPr>
        <p:spPr>
          <a:xfrm>
            <a:off x="274320" y="128016"/>
            <a:ext cx="804672" cy="512064"/>
          </a:xfrm>
          <a:prstGeom prst="rect">
            <a:avLst/>
          </a:prstGeom>
          <a:noFill/>
          <a:ln/>
        </p:spPr>
        <p:txBody>
          <a:bodyPr wrap="square" rtlCol="0" anchor="ctr"/>
          <a:lstStyle/>
          <a:p>
            <a:pPr algn="ctr" indent="0" marL="0">
              <a:buNone/>
            </a:pPr>
            <a:r>
              <a:rPr lang="en-US" sz="2000" b="1" dirty="0">
                <a:solidFill>
                  <a:srgbClr val="0F172A"/>
                </a:solidFill>
                <a:latin typeface="Calibri" pitchFamily="34" charset="0"/>
                <a:ea typeface="Calibri" pitchFamily="34" charset="-122"/>
                <a:cs typeface="Calibri" pitchFamily="34" charset="-120"/>
              </a:rPr>
              <a:t>P5</a:t>
            </a:r>
            <a:endParaRPr lang="en-US" sz="2000" dirty="0"/>
          </a:p>
        </p:txBody>
      </p:sp>
      <p:sp>
        <p:nvSpPr>
          <p:cNvPr id="5" name="Text 3"/>
          <p:cNvSpPr/>
          <p:nvPr/>
        </p:nvSpPr>
        <p:spPr>
          <a:xfrm>
            <a:off x="1216152" y="155448"/>
            <a:ext cx="7653528" cy="457200"/>
          </a:xfrm>
          <a:prstGeom prst="rect">
            <a:avLst/>
          </a:prstGeom>
          <a:noFill/>
          <a:ln/>
        </p:spPr>
        <p:txBody>
          <a:bodyPr wrap="square" rtlCol="0" anchor="ctr"/>
          <a:lstStyle/>
          <a:p>
            <a:pPr indent="0" marL="0">
              <a:buNone/>
            </a:pPr>
            <a:r>
              <a:rPr lang="en-US" sz="2100" b="1" dirty="0">
                <a:solidFill>
                  <a:srgbClr val="F1F5F9"/>
                </a:solidFill>
                <a:latin typeface="Calibri" pitchFamily="34" charset="0"/>
                <a:ea typeface="Calibri" pitchFamily="34" charset="-122"/>
                <a:cs typeface="Calibri" pitchFamily="34" charset="-120"/>
              </a:rPr>
              <a:t>Phase 5 — Redis Integration</a:t>
            </a:r>
            <a:endParaRPr lang="en-US" sz="2100" dirty="0"/>
          </a:p>
        </p:txBody>
      </p:sp>
      <p:sp>
        <p:nvSpPr>
          <p:cNvPr id="6" name="Text 4"/>
          <p:cNvSpPr/>
          <p:nvPr/>
        </p:nvSpPr>
        <p:spPr>
          <a:xfrm>
            <a:off x="274320" y="704088"/>
            <a:ext cx="8595360" cy="246888"/>
          </a:xfrm>
          <a:prstGeom prst="rect">
            <a:avLst/>
          </a:prstGeom>
          <a:noFill/>
          <a:ln/>
        </p:spPr>
        <p:txBody>
          <a:bodyPr wrap="square" rtlCol="0" anchor="ctr"/>
          <a:lstStyle/>
          <a:p>
            <a:pPr indent="0" marL="0">
              <a:buNone/>
            </a:pPr>
            <a:r>
              <a:rPr lang="en-US" sz="1100" i="1" dirty="0">
                <a:solidFill>
                  <a:srgbClr val="94A3B8"/>
                </a:solidFill>
                <a:latin typeface="Calibri" pitchFamily="34" charset="0"/>
                <a:ea typeface="Calibri" pitchFamily="34" charset="-122"/>
                <a:cs typeface="Calibri" pitchFamily="34" charset="-120"/>
              </a:rPr>
              <a:t>Move all shared transient state out of process memory</a:t>
            </a:r>
            <a:endParaRPr lang="en-US" sz="1100" dirty="0"/>
          </a:p>
        </p:txBody>
      </p:sp>
      <p:sp>
        <p:nvSpPr>
          <p:cNvPr id="7" name="Shape 5"/>
          <p:cNvSpPr/>
          <p:nvPr/>
        </p:nvSpPr>
        <p:spPr>
          <a:xfrm>
            <a:off x="274320" y="1005840"/>
            <a:ext cx="8595360" cy="420624"/>
          </a:xfrm>
          <a:prstGeom prst="rect">
            <a:avLst/>
          </a:prstGeom>
          <a:solidFill>
            <a:srgbClr val="0D1929"/>
          </a:solidFill>
          <a:ln w="9525">
            <a:solidFill>
              <a:srgbClr val="FCD34D"/>
            </a:solidFill>
            <a:prstDash val="solid"/>
          </a:ln>
        </p:spPr>
      </p:sp>
      <p:sp>
        <p:nvSpPr>
          <p:cNvPr id="8" name="Text 6"/>
          <p:cNvSpPr/>
          <p:nvPr/>
        </p:nvSpPr>
        <p:spPr>
          <a:xfrm>
            <a:off x="411480" y="1005840"/>
            <a:ext cx="8321040" cy="420624"/>
          </a:xfrm>
          <a:prstGeom prst="rect">
            <a:avLst/>
          </a:prstGeom>
          <a:noFill/>
          <a:ln/>
        </p:spPr>
        <p:txBody>
          <a:bodyPr wrap="square" rtlCol="0" anchor="ctr"/>
          <a:lstStyle/>
          <a:p>
            <a:pPr indent="0" marL="0">
              <a:buNone/>
            </a:pPr>
            <a:r>
              <a:rPr lang="en-US" sz="1150" b="1" dirty="0">
                <a:solidFill>
                  <a:srgbClr val="FCD34D"/>
                </a:solidFill>
                <a:latin typeface="Calibri" pitchFamily="34" charset="0"/>
                <a:ea typeface="Calibri" pitchFamily="34" charset="-122"/>
                <a:cs typeface="Calibri" pitchFamily="34" charset="-120"/>
              </a:rPr>
              <a:t>GOAL  ·  Externalise realtime state to enable true horizontal scaling</a:t>
            </a:r>
            <a:endParaRPr lang="en-US" sz="1150" dirty="0"/>
          </a:p>
        </p:txBody>
      </p:sp>
      <p:sp>
        <p:nvSpPr>
          <p:cNvPr id="9" name="Shape 7"/>
          <p:cNvSpPr/>
          <p:nvPr/>
        </p:nvSpPr>
        <p:spPr>
          <a:xfrm>
            <a:off x="274320" y="1508760"/>
            <a:ext cx="5029200" cy="3429000"/>
          </a:xfrm>
          <a:prstGeom prst="rect">
            <a:avLst/>
          </a:prstGeom>
          <a:solidFill>
            <a:srgbClr val="1E293B"/>
          </a:solidFill>
          <a:ln w="6350">
            <a:solidFill>
              <a:srgbClr val="334155"/>
            </a:solidFill>
            <a:prstDash val="solid"/>
          </a:ln>
          <a:effectLst>
            <a:outerShdw sx="100000" sy="100000" kx="0" ky="0" algn="bl" rotWithShape="0" blurRad="76200" dist="25400" dir="8100000">
              <a:srgbClr val="000000">
                <a:alpha val="22000"/>
              </a:srgbClr>
            </a:outerShdw>
          </a:effectLst>
        </p:spPr>
      </p:sp>
      <p:sp>
        <p:nvSpPr>
          <p:cNvPr id="10" name="Text 8"/>
          <p:cNvSpPr/>
          <p:nvPr/>
        </p:nvSpPr>
        <p:spPr>
          <a:xfrm>
            <a:off x="411480" y="1581912"/>
            <a:ext cx="4754880" cy="246888"/>
          </a:xfrm>
          <a:prstGeom prst="rect">
            <a:avLst/>
          </a:prstGeom>
          <a:noFill/>
          <a:ln/>
        </p:spPr>
        <p:txBody>
          <a:bodyPr wrap="square" rtlCol="0" anchor="ctr"/>
          <a:lstStyle/>
          <a:p>
            <a:pPr indent="0" marL="0">
              <a:buNone/>
            </a:pPr>
            <a:r>
              <a:rPr lang="en-US" sz="950" b="1" spc="200" kern="0" dirty="0">
                <a:solidFill>
                  <a:srgbClr val="94A3B8"/>
                </a:solidFill>
                <a:latin typeface="Calibri" pitchFamily="34" charset="0"/>
                <a:ea typeface="Calibri" pitchFamily="34" charset="-122"/>
                <a:cs typeface="Calibri" pitchFamily="34" charset="-120"/>
              </a:rPr>
              <a:t>TASKS</a:t>
            </a:r>
            <a:endParaRPr lang="en-US" sz="950" dirty="0"/>
          </a:p>
        </p:txBody>
      </p:sp>
      <p:sp>
        <p:nvSpPr>
          <p:cNvPr id="11" name="Text 9"/>
          <p:cNvSpPr/>
          <p:nvPr/>
        </p:nvSpPr>
        <p:spPr>
          <a:xfrm>
            <a:off x="411480" y="1883664"/>
            <a:ext cx="4754880" cy="2980944"/>
          </a:xfrm>
          <a:prstGeom prst="rect">
            <a:avLst/>
          </a:prstGeom>
          <a:noFill/>
          <a:ln/>
        </p:spPr>
        <p:txBody>
          <a:bodyPr wrap="square" rtlCol="0" anchor="ctr"/>
          <a:lstStyle/>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Set up Redis via Docker compose</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Move matchmaking queue to Redis sorted set</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Move active room snapshots to Redis hashes</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Move online presence and heartbeat to Redis</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Move rate-limit counters to Redis</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Install and configure @socket.io/redis-adapter</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Add Redis Pub/Sub for cross-instance event broadcasts</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Add leaderboard cache with TTL-based invalidation</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Add game timer synchronisation across instances</a:t>
            </a:r>
            <a:endParaRPr lang="en-US" sz="980" dirty="0"/>
          </a:p>
        </p:txBody>
      </p:sp>
      <p:sp>
        <p:nvSpPr>
          <p:cNvPr id="12" name="Shape 10"/>
          <p:cNvSpPr/>
          <p:nvPr/>
        </p:nvSpPr>
        <p:spPr>
          <a:xfrm>
            <a:off x="5486400" y="1508760"/>
            <a:ext cx="3383280" cy="1664208"/>
          </a:xfrm>
          <a:prstGeom prst="rect">
            <a:avLst/>
          </a:prstGeom>
          <a:solidFill>
            <a:srgbClr val="1E293B"/>
          </a:solidFill>
          <a:ln w="9525">
            <a:solidFill>
              <a:srgbClr val="4ADE80"/>
            </a:solidFill>
            <a:prstDash val="solid"/>
          </a:ln>
          <a:effectLst>
            <a:outerShdw sx="100000" sy="100000" kx="0" ky="0" algn="bl" rotWithShape="0" blurRad="76200" dist="25400" dir="8100000">
              <a:srgbClr val="000000">
                <a:alpha val="22000"/>
              </a:srgbClr>
            </a:outerShdw>
          </a:effectLst>
        </p:spPr>
      </p:sp>
      <p:sp>
        <p:nvSpPr>
          <p:cNvPr id="13" name="Text 11"/>
          <p:cNvSpPr/>
          <p:nvPr/>
        </p:nvSpPr>
        <p:spPr>
          <a:xfrm>
            <a:off x="5623560" y="1581912"/>
            <a:ext cx="3108960" cy="246888"/>
          </a:xfrm>
          <a:prstGeom prst="rect">
            <a:avLst/>
          </a:prstGeom>
          <a:noFill/>
          <a:ln/>
        </p:spPr>
        <p:txBody>
          <a:bodyPr wrap="square" rtlCol="0" anchor="ctr"/>
          <a:lstStyle/>
          <a:p>
            <a:pPr indent="0" marL="0">
              <a:buNone/>
            </a:pPr>
            <a:r>
              <a:rPr lang="en-US" sz="950" b="1" spc="200" kern="0" dirty="0">
                <a:solidFill>
                  <a:srgbClr val="4ADE80"/>
                </a:solidFill>
                <a:latin typeface="Calibri" pitchFamily="34" charset="0"/>
                <a:ea typeface="Calibri" pitchFamily="34" charset="-122"/>
                <a:cs typeface="Calibri" pitchFamily="34" charset="-120"/>
              </a:rPr>
              <a:t>OUTPUT</a:t>
            </a:r>
            <a:endParaRPr lang="en-US" sz="950" dirty="0"/>
          </a:p>
        </p:txBody>
      </p:sp>
      <p:sp>
        <p:nvSpPr>
          <p:cNvPr id="14" name="Text 12"/>
          <p:cNvSpPr/>
          <p:nvPr/>
        </p:nvSpPr>
        <p:spPr>
          <a:xfrm>
            <a:off x="5623560" y="1883664"/>
            <a:ext cx="3108960" cy="1234440"/>
          </a:xfrm>
          <a:prstGeom prst="rect">
            <a:avLst/>
          </a:prstGeom>
          <a:noFill/>
          <a:ln/>
        </p:spPr>
        <p:txBody>
          <a:bodyPr wrap="square" rtlCol="0" anchor="ctr"/>
          <a:lstStyle/>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Shared matchmaking queue</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Distributed room state</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Cross-instance Socket.IO</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Cached leaderboard reads</a:t>
            </a:r>
            <a:endParaRPr lang="en-US" sz="980" dirty="0"/>
          </a:p>
        </p:txBody>
      </p:sp>
      <p:sp>
        <p:nvSpPr>
          <p:cNvPr id="15" name="Shape 13"/>
          <p:cNvSpPr/>
          <p:nvPr/>
        </p:nvSpPr>
        <p:spPr>
          <a:xfrm>
            <a:off x="5486400" y="3291840"/>
            <a:ext cx="3383280" cy="1645920"/>
          </a:xfrm>
          <a:prstGeom prst="rect">
            <a:avLst/>
          </a:prstGeom>
          <a:solidFill>
            <a:srgbClr val="1E293B"/>
          </a:solidFill>
          <a:ln w="9525">
            <a:solidFill>
              <a:srgbClr val="FCD34D"/>
            </a:solidFill>
            <a:prstDash val="solid"/>
          </a:ln>
          <a:effectLst>
            <a:outerShdw sx="100000" sy="100000" kx="0" ky="0" algn="bl" rotWithShape="0" blurRad="76200" dist="25400" dir="8100000">
              <a:srgbClr val="000000">
                <a:alpha val="22000"/>
              </a:srgbClr>
            </a:outerShdw>
          </a:effectLst>
        </p:spPr>
      </p:sp>
      <p:sp>
        <p:nvSpPr>
          <p:cNvPr id="16" name="Text 14"/>
          <p:cNvSpPr/>
          <p:nvPr/>
        </p:nvSpPr>
        <p:spPr>
          <a:xfrm>
            <a:off x="5623560" y="3364992"/>
            <a:ext cx="3108960" cy="246888"/>
          </a:xfrm>
          <a:prstGeom prst="rect">
            <a:avLst/>
          </a:prstGeom>
          <a:noFill/>
          <a:ln/>
        </p:spPr>
        <p:txBody>
          <a:bodyPr wrap="square" rtlCol="0" anchor="ctr"/>
          <a:lstStyle/>
          <a:p>
            <a:pPr indent="0" marL="0">
              <a:buNone/>
            </a:pPr>
            <a:r>
              <a:rPr lang="en-US" sz="900" b="1" spc="100" kern="0" dirty="0">
                <a:solidFill>
                  <a:srgbClr val="FCD34D"/>
                </a:solidFill>
                <a:latin typeface="Calibri" pitchFamily="34" charset="0"/>
                <a:ea typeface="Calibri" pitchFamily="34" charset="-122"/>
                <a:cs typeface="Calibri" pitchFamily="34" charset="-120"/>
              </a:rPr>
              <a:t>WHY THIS PHASE EXISTS</a:t>
            </a:r>
            <a:endParaRPr lang="en-US" sz="900" dirty="0"/>
          </a:p>
        </p:txBody>
      </p:sp>
      <p:sp>
        <p:nvSpPr>
          <p:cNvPr id="17" name="Text 15"/>
          <p:cNvSpPr/>
          <p:nvPr/>
        </p:nvSpPr>
        <p:spPr>
          <a:xfrm>
            <a:off x="5623560" y="3648456"/>
            <a:ext cx="3108960" cy="1216152"/>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This is the phase that makes horizontal scaling possible. Without Redis, adding a second server immediately breaks matchmaking. With it, every server instance sees the same queue and the same active rooms.</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A78BFA"/>
          </a:solidFill>
          <a:ln/>
        </p:spPr>
      </p:sp>
      <p:sp>
        <p:nvSpPr>
          <p:cNvPr id="3" name="Shape 1"/>
          <p:cNvSpPr/>
          <p:nvPr/>
        </p:nvSpPr>
        <p:spPr>
          <a:xfrm>
            <a:off x="274320" y="128016"/>
            <a:ext cx="804672" cy="512064"/>
          </a:xfrm>
          <a:prstGeom prst="rect">
            <a:avLst/>
          </a:prstGeom>
          <a:solidFill>
            <a:srgbClr val="A78BFA"/>
          </a:solidFill>
          <a:ln/>
        </p:spPr>
      </p:sp>
      <p:sp>
        <p:nvSpPr>
          <p:cNvPr id="4" name="Text 2"/>
          <p:cNvSpPr/>
          <p:nvPr/>
        </p:nvSpPr>
        <p:spPr>
          <a:xfrm>
            <a:off x="274320" y="128016"/>
            <a:ext cx="804672" cy="512064"/>
          </a:xfrm>
          <a:prstGeom prst="rect">
            <a:avLst/>
          </a:prstGeom>
          <a:noFill/>
          <a:ln/>
        </p:spPr>
        <p:txBody>
          <a:bodyPr wrap="square" rtlCol="0" anchor="ctr"/>
          <a:lstStyle/>
          <a:p>
            <a:pPr algn="ctr" indent="0" marL="0">
              <a:buNone/>
            </a:pPr>
            <a:r>
              <a:rPr lang="en-US" sz="2000" b="1" dirty="0">
                <a:solidFill>
                  <a:srgbClr val="0F172A"/>
                </a:solidFill>
                <a:latin typeface="Calibri" pitchFamily="34" charset="0"/>
                <a:ea typeface="Calibri" pitchFamily="34" charset="-122"/>
                <a:cs typeface="Calibri" pitchFamily="34" charset="-120"/>
              </a:rPr>
              <a:t>P6</a:t>
            </a:r>
            <a:endParaRPr lang="en-US" sz="2000" dirty="0"/>
          </a:p>
        </p:txBody>
      </p:sp>
      <p:sp>
        <p:nvSpPr>
          <p:cNvPr id="5" name="Text 3"/>
          <p:cNvSpPr/>
          <p:nvPr/>
        </p:nvSpPr>
        <p:spPr>
          <a:xfrm>
            <a:off x="1216152" y="155448"/>
            <a:ext cx="7653528" cy="457200"/>
          </a:xfrm>
          <a:prstGeom prst="rect">
            <a:avLst/>
          </a:prstGeom>
          <a:noFill/>
          <a:ln/>
        </p:spPr>
        <p:txBody>
          <a:bodyPr wrap="square" rtlCol="0" anchor="ctr"/>
          <a:lstStyle/>
          <a:p>
            <a:pPr indent="0" marL="0">
              <a:buNone/>
            </a:pPr>
            <a:r>
              <a:rPr lang="en-US" sz="2100" b="1" dirty="0">
                <a:solidFill>
                  <a:srgbClr val="F1F5F9"/>
                </a:solidFill>
                <a:latin typeface="Calibri" pitchFamily="34" charset="0"/>
                <a:ea typeface="Calibri" pitchFamily="34" charset="-122"/>
                <a:cs typeface="Calibri" pitchFamily="34" charset="-120"/>
              </a:rPr>
              <a:t>Phase 6 — Server-Authoritative Game Engine</a:t>
            </a:r>
            <a:endParaRPr lang="en-US" sz="2100" dirty="0"/>
          </a:p>
        </p:txBody>
      </p:sp>
      <p:sp>
        <p:nvSpPr>
          <p:cNvPr id="6" name="Text 4"/>
          <p:cNvSpPr/>
          <p:nvPr/>
        </p:nvSpPr>
        <p:spPr>
          <a:xfrm>
            <a:off x="274320" y="704088"/>
            <a:ext cx="8595360" cy="246888"/>
          </a:xfrm>
          <a:prstGeom prst="rect">
            <a:avLst/>
          </a:prstGeom>
          <a:noFill/>
          <a:ln/>
        </p:spPr>
        <p:txBody>
          <a:bodyPr wrap="square" rtlCol="0" anchor="ctr"/>
          <a:lstStyle/>
          <a:p>
            <a:pPr indent="0" marL="0">
              <a:buNone/>
            </a:pPr>
            <a:r>
              <a:rPr lang="en-US" sz="1100" i="1" dirty="0">
                <a:solidFill>
                  <a:srgbClr val="94A3B8"/>
                </a:solidFill>
                <a:latin typeface="Calibri" pitchFamily="34" charset="0"/>
                <a:ea typeface="Calibri" pitchFamily="34" charset="-122"/>
                <a:cs typeface="Calibri" pitchFamily="34" charset="-120"/>
              </a:rPr>
              <a:t>The server owns the board. The client only renders and sends actions.</a:t>
            </a:r>
            <a:endParaRPr lang="en-US" sz="1100" dirty="0"/>
          </a:p>
        </p:txBody>
      </p:sp>
      <p:sp>
        <p:nvSpPr>
          <p:cNvPr id="7" name="Shape 5"/>
          <p:cNvSpPr/>
          <p:nvPr/>
        </p:nvSpPr>
        <p:spPr>
          <a:xfrm>
            <a:off x="274320" y="1005840"/>
            <a:ext cx="8595360" cy="420624"/>
          </a:xfrm>
          <a:prstGeom prst="rect">
            <a:avLst/>
          </a:prstGeom>
          <a:solidFill>
            <a:srgbClr val="0D1929"/>
          </a:solidFill>
          <a:ln w="9525">
            <a:solidFill>
              <a:srgbClr val="A78BFA"/>
            </a:solidFill>
            <a:prstDash val="solid"/>
          </a:ln>
        </p:spPr>
      </p:sp>
      <p:sp>
        <p:nvSpPr>
          <p:cNvPr id="8" name="Text 6"/>
          <p:cNvSpPr/>
          <p:nvPr/>
        </p:nvSpPr>
        <p:spPr>
          <a:xfrm>
            <a:off x="411480" y="1005840"/>
            <a:ext cx="8321040" cy="420624"/>
          </a:xfrm>
          <a:prstGeom prst="rect">
            <a:avLst/>
          </a:prstGeom>
          <a:noFill/>
          <a:ln/>
        </p:spPr>
        <p:txBody>
          <a:bodyPr wrap="square" rtlCol="0" anchor="ctr"/>
          <a:lstStyle/>
          <a:p>
            <a:pPr indent="0" marL="0">
              <a:buNone/>
            </a:pPr>
            <a:r>
              <a:rPr lang="en-US" sz="1150" b="1" dirty="0">
                <a:solidFill>
                  <a:srgbClr val="A78BFA"/>
                </a:solidFill>
                <a:latin typeface="Calibri" pitchFamily="34" charset="0"/>
                <a:ea typeface="Calibri" pitchFamily="34" charset="-122"/>
                <a:cs typeface="Calibri" pitchFamily="34" charset="-120"/>
              </a:rPr>
              <a:t>GOAL  ·  Centralise all game truth on the server and structurally prevent cheating</a:t>
            </a:r>
            <a:endParaRPr lang="en-US" sz="1150" dirty="0"/>
          </a:p>
        </p:txBody>
      </p:sp>
      <p:sp>
        <p:nvSpPr>
          <p:cNvPr id="9" name="Shape 7"/>
          <p:cNvSpPr/>
          <p:nvPr/>
        </p:nvSpPr>
        <p:spPr>
          <a:xfrm>
            <a:off x="274320" y="1508760"/>
            <a:ext cx="5029200" cy="3429000"/>
          </a:xfrm>
          <a:prstGeom prst="rect">
            <a:avLst/>
          </a:prstGeom>
          <a:solidFill>
            <a:srgbClr val="1E293B"/>
          </a:solidFill>
          <a:ln w="6350">
            <a:solidFill>
              <a:srgbClr val="334155"/>
            </a:solidFill>
            <a:prstDash val="solid"/>
          </a:ln>
          <a:effectLst>
            <a:outerShdw sx="100000" sy="100000" kx="0" ky="0" algn="bl" rotWithShape="0" blurRad="76200" dist="25400" dir="8100000">
              <a:srgbClr val="000000">
                <a:alpha val="22000"/>
              </a:srgbClr>
            </a:outerShdw>
          </a:effectLst>
        </p:spPr>
      </p:sp>
      <p:sp>
        <p:nvSpPr>
          <p:cNvPr id="10" name="Text 8"/>
          <p:cNvSpPr/>
          <p:nvPr/>
        </p:nvSpPr>
        <p:spPr>
          <a:xfrm>
            <a:off x="411480" y="1581912"/>
            <a:ext cx="4754880" cy="246888"/>
          </a:xfrm>
          <a:prstGeom prst="rect">
            <a:avLst/>
          </a:prstGeom>
          <a:noFill/>
          <a:ln/>
        </p:spPr>
        <p:txBody>
          <a:bodyPr wrap="square" rtlCol="0" anchor="ctr"/>
          <a:lstStyle/>
          <a:p>
            <a:pPr indent="0" marL="0">
              <a:buNone/>
            </a:pPr>
            <a:r>
              <a:rPr lang="en-US" sz="950" b="1" spc="200" kern="0" dirty="0">
                <a:solidFill>
                  <a:srgbClr val="94A3B8"/>
                </a:solidFill>
                <a:latin typeface="Calibri" pitchFamily="34" charset="0"/>
                <a:ea typeface="Calibri" pitchFamily="34" charset="-122"/>
                <a:cs typeface="Calibri" pitchFamily="34" charset="-120"/>
              </a:rPr>
              <a:t>TASKS</a:t>
            </a:r>
            <a:endParaRPr lang="en-US" sz="950" dirty="0"/>
          </a:p>
        </p:txBody>
      </p:sp>
      <p:sp>
        <p:nvSpPr>
          <p:cNvPr id="11" name="Text 9"/>
          <p:cNvSpPr/>
          <p:nvPr/>
        </p:nvSpPr>
        <p:spPr>
          <a:xfrm>
            <a:off x="411480" y="1883664"/>
            <a:ext cx="4754880" cy="2980944"/>
          </a:xfrm>
          <a:prstGeom prst="rect">
            <a:avLst/>
          </a:prstGeom>
          <a:noFill/>
          <a:ln/>
        </p:spPr>
        <p:txBody>
          <a:bodyPr wrap="square" rtlCol="0" anchor="ctr"/>
          <a:lstStyle/>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Create GameEngine class with full board ownership</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Server generates, stores, and validates all board state</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Server rejects invalid moves before applying them</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Server owns and broadcasts game timer to clients</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Server detects completion and calculates penalties</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Frontend becomes a read-only view of server events</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Add reconnect recovery — restore board and timer state</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Add forfeit logic on disconnect timeout</a:t>
            </a:r>
            <a:endParaRPr lang="en-US" sz="980" dirty="0"/>
          </a:p>
        </p:txBody>
      </p:sp>
      <p:sp>
        <p:nvSpPr>
          <p:cNvPr id="12" name="Shape 10"/>
          <p:cNvSpPr/>
          <p:nvPr/>
        </p:nvSpPr>
        <p:spPr>
          <a:xfrm>
            <a:off x="5486400" y="1508760"/>
            <a:ext cx="3383280" cy="1664208"/>
          </a:xfrm>
          <a:prstGeom prst="rect">
            <a:avLst/>
          </a:prstGeom>
          <a:solidFill>
            <a:srgbClr val="1E293B"/>
          </a:solidFill>
          <a:ln w="9525">
            <a:solidFill>
              <a:srgbClr val="4ADE80"/>
            </a:solidFill>
            <a:prstDash val="solid"/>
          </a:ln>
          <a:effectLst>
            <a:outerShdw sx="100000" sy="100000" kx="0" ky="0" algn="bl" rotWithShape="0" blurRad="76200" dist="25400" dir="8100000">
              <a:srgbClr val="000000">
                <a:alpha val="22000"/>
              </a:srgbClr>
            </a:outerShdw>
          </a:effectLst>
        </p:spPr>
      </p:sp>
      <p:sp>
        <p:nvSpPr>
          <p:cNvPr id="13" name="Text 11"/>
          <p:cNvSpPr/>
          <p:nvPr/>
        </p:nvSpPr>
        <p:spPr>
          <a:xfrm>
            <a:off x="5623560" y="1581912"/>
            <a:ext cx="3108960" cy="246888"/>
          </a:xfrm>
          <a:prstGeom prst="rect">
            <a:avLst/>
          </a:prstGeom>
          <a:noFill/>
          <a:ln/>
        </p:spPr>
        <p:txBody>
          <a:bodyPr wrap="square" rtlCol="0" anchor="ctr"/>
          <a:lstStyle/>
          <a:p>
            <a:pPr indent="0" marL="0">
              <a:buNone/>
            </a:pPr>
            <a:r>
              <a:rPr lang="en-US" sz="950" b="1" spc="200" kern="0" dirty="0">
                <a:solidFill>
                  <a:srgbClr val="4ADE80"/>
                </a:solidFill>
                <a:latin typeface="Calibri" pitchFamily="34" charset="0"/>
                <a:ea typeface="Calibri" pitchFamily="34" charset="-122"/>
                <a:cs typeface="Calibri" pitchFamily="34" charset="-120"/>
              </a:rPr>
              <a:t>OUTPUT</a:t>
            </a:r>
            <a:endParaRPr lang="en-US" sz="950" dirty="0"/>
          </a:p>
        </p:txBody>
      </p:sp>
      <p:sp>
        <p:nvSpPr>
          <p:cNvPr id="14" name="Text 12"/>
          <p:cNvSpPr/>
          <p:nvPr/>
        </p:nvSpPr>
        <p:spPr>
          <a:xfrm>
            <a:off x="5623560" y="1883664"/>
            <a:ext cx="3108960" cy="1234440"/>
          </a:xfrm>
          <a:prstGeom prst="rect">
            <a:avLst/>
          </a:prstGeom>
          <a:noFill/>
          <a:ln/>
        </p:spPr>
        <p:txBody>
          <a:bodyPr wrap="square" rtlCol="0" anchor="ctr"/>
          <a:lstStyle/>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Cheat-proof game state</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Server-owned timers</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Reconnect recovery</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Authoritative outcomes</a:t>
            </a:r>
            <a:endParaRPr lang="en-US" sz="980" dirty="0"/>
          </a:p>
        </p:txBody>
      </p:sp>
      <p:sp>
        <p:nvSpPr>
          <p:cNvPr id="15" name="Shape 13"/>
          <p:cNvSpPr/>
          <p:nvPr/>
        </p:nvSpPr>
        <p:spPr>
          <a:xfrm>
            <a:off x="5486400" y="3291840"/>
            <a:ext cx="3383280" cy="1645920"/>
          </a:xfrm>
          <a:prstGeom prst="rect">
            <a:avLst/>
          </a:prstGeom>
          <a:solidFill>
            <a:srgbClr val="1E293B"/>
          </a:solidFill>
          <a:ln w="9525">
            <a:solidFill>
              <a:srgbClr val="A78BFA"/>
            </a:solidFill>
            <a:prstDash val="solid"/>
          </a:ln>
          <a:effectLst>
            <a:outerShdw sx="100000" sy="100000" kx="0" ky="0" algn="bl" rotWithShape="0" blurRad="76200" dist="25400" dir="8100000">
              <a:srgbClr val="000000">
                <a:alpha val="22000"/>
              </a:srgbClr>
            </a:outerShdw>
          </a:effectLst>
        </p:spPr>
      </p:sp>
      <p:sp>
        <p:nvSpPr>
          <p:cNvPr id="16" name="Text 14"/>
          <p:cNvSpPr/>
          <p:nvPr/>
        </p:nvSpPr>
        <p:spPr>
          <a:xfrm>
            <a:off x="5623560" y="3364992"/>
            <a:ext cx="3108960" cy="246888"/>
          </a:xfrm>
          <a:prstGeom prst="rect">
            <a:avLst/>
          </a:prstGeom>
          <a:noFill/>
          <a:ln/>
        </p:spPr>
        <p:txBody>
          <a:bodyPr wrap="square" rtlCol="0" anchor="ctr"/>
          <a:lstStyle/>
          <a:p>
            <a:pPr indent="0" marL="0">
              <a:buNone/>
            </a:pPr>
            <a:r>
              <a:rPr lang="en-US" sz="900" b="1" spc="100" kern="0" dirty="0">
                <a:solidFill>
                  <a:srgbClr val="A78BFA"/>
                </a:solidFill>
                <a:latin typeface="Calibri" pitchFamily="34" charset="0"/>
                <a:ea typeface="Calibri" pitchFamily="34" charset="-122"/>
                <a:cs typeface="Calibri" pitchFamily="34" charset="-120"/>
              </a:rPr>
              <a:t>WHY THIS PHASE EXISTS</a:t>
            </a:r>
            <a:endParaRPr lang="en-US" sz="900" dirty="0"/>
          </a:p>
        </p:txBody>
      </p:sp>
      <p:sp>
        <p:nvSpPr>
          <p:cNvPr id="17" name="Text 15"/>
          <p:cNvSpPr/>
          <p:nvPr/>
        </p:nvSpPr>
        <p:spPr>
          <a:xfrm>
            <a:off x="5623560" y="3648456"/>
            <a:ext cx="3108960" cy="1216152"/>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If the client owns game state, any player with browser devtools can fake a completed board. A server-authoritative engine makes cheating structurally impossible — there is nothing in client state to manipulate.</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F472B6"/>
          </a:solidFill>
          <a:ln/>
        </p:spPr>
      </p:sp>
      <p:sp>
        <p:nvSpPr>
          <p:cNvPr id="3" name="Shape 1"/>
          <p:cNvSpPr/>
          <p:nvPr/>
        </p:nvSpPr>
        <p:spPr>
          <a:xfrm>
            <a:off x="274320" y="128016"/>
            <a:ext cx="804672" cy="512064"/>
          </a:xfrm>
          <a:prstGeom prst="rect">
            <a:avLst/>
          </a:prstGeom>
          <a:solidFill>
            <a:srgbClr val="F472B6"/>
          </a:solidFill>
          <a:ln/>
        </p:spPr>
      </p:sp>
      <p:sp>
        <p:nvSpPr>
          <p:cNvPr id="4" name="Text 2"/>
          <p:cNvSpPr/>
          <p:nvPr/>
        </p:nvSpPr>
        <p:spPr>
          <a:xfrm>
            <a:off x="274320" y="128016"/>
            <a:ext cx="804672" cy="512064"/>
          </a:xfrm>
          <a:prstGeom prst="rect">
            <a:avLst/>
          </a:prstGeom>
          <a:noFill/>
          <a:ln/>
        </p:spPr>
        <p:txBody>
          <a:bodyPr wrap="square" rtlCol="0" anchor="ctr"/>
          <a:lstStyle/>
          <a:p>
            <a:pPr algn="ctr" indent="0" marL="0">
              <a:buNone/>
            </a:pPr>
            <a:r>
              <a:rPr lang="en-US" sz="2000" b="1" dirty="0">
                <a:solidFill>
                  <a:srgbClr val="0F172A"/>
                </a:solidFill>
                <a:latin typeface="Calibri" pitchFamily="34" charset="0"/>
                <a:ea typeface="Calibri" pitchFamily="34" charset="-122"/>
                <a:cs typeface="Calibri" pitchFamily="34" charset="-120"/>
              </a:rPr>
              <a:t>P7</a:t>
            </a:r>
            <a:endParaRPr lang="en-US" sz="2000" dirty="0"/>
          </a:p>
        </p:txBody>
      </p:sp>
      <p:sp>
        <p:nvSpPr>
          <p:cNvPr id="5" name="Text 3"/>
          <p:cNvSpPr/>
          <p:nvPr/>
        </p:nvSpPr>
        <p:spPr>
          <a:xfrm>
            <a:off x="1216152" y="155448"/>
            <a:ext cx="7653528" cy="457200"/>
          </a:xfrm>
          <a:prstGeom prst="rect">
            <a:avLst/>
          </a:prstGeom>
          <a:noFill/>
          <a:ln/>
        </p:spPr>
        <p:txBody>
          <a:bodyPr wrap="square" rtlCol="0" anchor="ctr"/>
          <a:lstStyle/>
          <a:p>
            <a:pPr indent="0" marL="0">
              <a:buNone/>
            </a:pPr>
            <a:r>
              <a:rPr lang="en-US" sz="2100" b="1" dirty="0">
                <a:solidFill>
                  <a:srgbClr val="F1F5F9"/>
                </a:solidFill>
                <a:latin typeface="Calibri" pitchFamily="34" charset="0"/>
                <a:ea typeface="Calibri" pitchFamily="34" charset="-122"/>
                <a:cs typeface="Calibri" pitchFamily="34" charset="-120"/>
              </a:rPr>
              <a:t>Phase 7 — Daily Challenge System</a:t>
            </a:r>
            <a:endParaRPr lang="en-US" sz="2100" dirty="0"/>
          </a:p>
        </p:txBody>
      </p:sp>
      <p:sp>
        <p:nvSpPr>
          <p:cNvPr id="6" name="Text 4"/>
          <p:cNvSpPr/>
          <p:nvPr/>
        </p:nvSpPr>
        <p:spPr>
          <a:xfrm>
            <a:off x="274320" y="704088"/>
            <a:ext cx="8595360" cy="246888"/>
          </a:xfrm>
          <a:prstGeom prst="rect">
            <a:avLst/>
          </a:prstGeom>
          <a:noFill/>
          <a:ln/>
        </p:spPr>
        <p:txBody>
          <a:bodyPr wrap="square" rtlCol="0" anchor="ctr"/>
          <a:lstStyle/>
          <a:p>
            <a:pPr indent="0" marL="0">
              <a:buNone/>
            </a:pPr>
            <a:r>
              <a:rPr lang="en-US" sz="1100" i="1" dirty="0">
                <a:solidFill>
                  <a:srgbClr val="94A3B8"/>
                </a:solidFill>
                <a:latin typeface="Calibri" pitchFamily="34" charset="0"/>
                <a:ea typeface="Calibri" pitchFamily="34" charset="-122"/>
                <a:cs typeface="Calibri" pitchFamily="34" charset="-120"/>
              </a:rPr>
              <a:t>Turn a utility into a competitive platform with daily user retention</a:t>
            </a:r>
            <a:endParaRPr lang="en-US" sz="1100" dirty="0"/>
          </a:p>
        </p:txBody>
      </p:sp>
      <p:sp>
        <p:nvSpPr>
          <p:cNvPr id="7" name="Shape 5"/>
          <p:cNvSpPr/>
          <p:nvPr/>
        </p:nvSpPr>
        <p:spPr>
          <a:xfrm>
            <a:off x="274320" y="1005840"/>
            <a:ext cx="8595360" cy="420624"/>
          </a:xfrm>
          <a:prstGeom prst="rect">
            <a:avLst/>
          </a:prstGeom>
          <a:solidFill>
            <a:srgbClr val="0D1929"/>
          </a:solidFill>
          <a:ln w="9525">
            <a:solidFill>
              <a:srgbClr val="F472B6"/>
            </a:solidFill>
            <a:prstDash val="solid"/>
          </a:ln>
        </p:spPr>
      </p:sp>
      <p:sp>
        <p:nvSpPr>
          <p:cNvPr id="8" name="Text 6"/>
          <p:cNvSpPr/>
          <p:nvPr/>
        </p:nvSpPr>
        <p:spPr>
          <a:xfrm>
            <a:off x="411480" y="1005840"/>
            <a:ext cx="8321040" cy="420624"/>
          </a:xfrm>
          <a:prstGeom prst="rect">
            <a:avLst/>
          </a:prstGeom>
          <a:noFill/>
          <a:ln/>
        </p:spPr>
        <p:txBody>
          <a:bodyPr wrap="square" rtlCol="0" anchor="ctr"/>
          <a:lstStyle/>
          <a:p>
            <a:pPr indent="0" marL="0">
              <a:buNone/>
            </a:pPr>
            <a:r>
              <a:rPr lang="en-US" sz="1150" b="1" dirty="0">
                <a:solidFill>
                  <a:srgbClr val="F472B6"/>
                </a:solidFill>
                <a:latin typeface="Calibri" pitchFamily="34" charset="0"/>
                <a:ea typeface="Calibri" pitchFamily="34" charset="-122"/>
                <a:cs typeface="Calibri" pitchFamily="34" charset="-120"/>
              </a:rPr>
              <a:t>GOAL  ·  One shared puzzle per day, global rankings, and streak tracking</a:t>
            </a:r>
            <a:endParaRPr lang="en-US" sz="1150" dirty="0"/>
          </a:p>
        </p:txBody>
      </p:sp>
      <p:sp>
        <p:nvSpPr>
          <p:cNvPr id="9" name="Shape 7"/>
          <p:cNvSpPr/>
          <p:nvPr/>
        </p:nvSpPr>
        <p:spPr>
          <a:xfrm>
            <a:off x="274320" y="1508760"/>
            <a:ext cx="5029200" cy="3429000"/>
          </a:xfrm>
          <a:prstGeom prst="rect">
            <a:avLst/>
          </a:prstGeom>
          <a:solidFill>
            <a:srgbClr val="1E293B"/>
          </a:solidFill>
          <a:ln w="6350">
            <a:solidFill>
              <a:srgbClr val="334155"/>
            </a:solidFill>
            <a:prstDash val="solid"/>
          </a:ln>
          <a:effectLst>
            <a:outerShdw sx="100000" sy="100000" kx="0" ky="0" algn="bl" rotWithShape="0" blurRad="76200" dist="25400" dir="8100000">
              <a:srgbClr val="000000">
                <a:alpha val="22000"/>
              </a:srgbClr>
            </a:outerShdw>
          </a:effectLst>
        </p:spPr>
      </p:sp>
      <p:sp>
        <p:nvSpPr>
          <p:cNvPr id="10" name="Text 8"/>
          <p:cNvSpPr/>
          <p:nvPr/>
        </p:nvSpPr>
        <p:spPr>
          <a:xfrm>
            <a:off x="411480" y="1581912"/>
            <a:ext cx="4754880" cy="246888"/>
          </a:xfrm>
          <a:prstGeom prst="rect">
            <a:avLst/>
          </a:prstGeom>
          <a:noFill/>
          <a:ln/>
        </p:spPr>
        <p:txBody>
          <a:bodyPr wrap="square" rtlCol="0" anchor="ctr"/>
          <a:lstStyle/>
          <a:p>
            <a:pPr indent="0" marL="0">
              <a:buNone/>
            </a:pPr>
            <a:r>
              <a:rPr lang="en-US" sz="950" b="1" spc="200" kern="0" dirty="0">
                <a:solidFill>
                  <a:srgbClr val="94A3B8"/>
                </a:solidFill>
                <a:latin typeface="Calibri" pitchFamily="34" charset="0"/>
                <a:ea typeface="Calibri" pitchFamily="34" charset="-122"/>
                <a:cs typeface="Calibri" pitchFamily="34" charset="-120"/>
              </a:rPr>
              <a:t>TASKS</a:t>
            </a:r>
            <a:endParaRPr lang="en-US" sz="950" dirty="0"/>
          </a:p>
        </p:txBody>
      </p:sp>
      <p:sp>
        <p:nvSpPr>
          <p:cNvPr id="11" name="Text 9"/>
          <p:cNvSpPr/>
          <p:nvPr/>
        </p:nvSpPr>
        <p:spPr>
          <a:xfrm>
            <a:off x="411480" y="1883664"/>
            <a:ext cx="4754880" cy="2980944"/>
          </a:xfrm>
          <a:prstGeom prst="rect">
            <a:avLst/>
          </a:prstGeom>
          <a:noFill/>
          <a:ln/>
        </p:spPr>
        <p:txBody>
          <a:bodyPr wrap="square" rtlCol="0" anchor="ctr"/>
          <a:lstStyle/>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Build daily puzzle generation or rotation pipeline</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Store daily puzzles in PostgreSQL by date and difficulty</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Create daily leaderboard: time + mistakes + hints used</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Add penalty scoring for mistakes and hint usage</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Implement streak tracking (daily and participation)</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Add cron job for daily puzzle rotation</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Cache current daily puzzle in Redis for fast delivery</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Build daily challenge UI with global rankings page</a:t>
            </a:r>
            <a:endParaRPr lang="en-US" sz="980" dirty="0"/>
          </a:p>
        </p:txBody>
      </p:sp>
      <p:sp>
        <p:nvSpPr>
          <p:cNvPr id="12" name="Shape 10"/>
          <p:cNvSpPr/>
          <p:nvPr/>
        </p:nvSpPr>
        <p:spPr>
          <a:xfrm>
            <a:off x="5486400" y="1508760"/>
            <a:ext cx="3383280" cy="1664208"/>
          </a:xfrm>
          <a:prstGeom prst="rect">
            <a:avLst/>
          </a:prstGeom>
          <a:solidFill>
            <a:srgbClr val="1E293B"/>
          </a:solidFill>
          <a:ln w="9525">
            <a:solidFill>
              <a:srgbClr val="4ADE80"/>
            </a:solidFill>
            <a:prstDash val="solid"/>
          </a:ln>
          <a:effectLst>
            <a:outerShdw sx="100000" sy="100000" kx="0" ky="0" algn="bl" rotWithShape="0" blurRad="76200" dist="25400" dir="8100000">
              <a:srgbClr val="000000">
                <a:alpha val="22000"/>
              </a:srgbClr>
            </a:outerShdw>
          </a:effectLst>
        </p:spPr>
      </p:sp>
      <p:sp>
        <p:nvSpPr>
          <p:cNvPr id="13" name="Text 11"/>
          <p:cNvSpPr/>
          <p:nvPr/>
        </p:nvSpPr>
        <p:spPr>
          <a:xfrm>
            <a:off x="5623560" y="1581912"/>
            <a:ext cx="3108960" cy="246888"/>
          </a:xfrm>
          <a:prstGeom prst="rect">
            <a:avLst/>
          </a:prstGeom>
          <a:noFill/>
          <a:ln/>
        </p:spPr>
        <p:txBody>
          <a:bodyPr wrap="square" rtlCol="0" anchor="ctr"/>
          <a:lstStyle/>
          <a:p>
            <a:pPr indent="0" marL="0">
              <a:buNone/>
            </a:pPr>
            <a:r>
              <a:rPr lang="en-US" sz="950" b="1" spc="200" kern="0" dirty="0">
                <a:solidFill>
                  <a:srgbClr val="4ADE80"/>
                </a:solidFill>
                <a:latin typeface="Calibri" pitchFamily="34" charset="0"/>
                <a:ea typeface="Calibri" pitchFamily="34" charset="-122"/>
                <a:cs typeface="Calibri" pitchFamily="34" charset="-120"/>
              </a:rPr>
              <a:t>OUTPUT</a:t>
            </a:r>
            <a:endParaRPr lang="en-US" sz="950" dirty="0"/>
          </a:p>
        </p:txBody>
      </p:sp>
      <p:sp>
        <p:nvSpPr>
          <p:cNvPr id="14" name="Text 12"/>
          <p:cNvSpPr/>
          <p:nvPr/>
        </p:nvSpPr>
        <p:spPr>
          <a:xfrm>
            <a:off x="5623560" y="1883664"/>
            <a:ext cx="3108960" cy="1234440"/>
          </a:xfrm>
          <a:prstGeom prst="rect">
            <a:avLst/>
          </a:prstGeom>
          <a:noFill/>
          <a:ln/>
        </p:spPr>
        <p:txBody>
          <a:bodyPr wrap="square" rtlCol="0" anchor="ctr"/>
          <a:lstStyle/>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Daily competitive ecosystem</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Streak mechanics</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Global daily rankings</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Scheduled puzzle pipeline</a:t>
            </a:r>
            <a:endParaRPr lang="en-US" sz="980" dirty="0"/>
          </a:p>
        </p:txBody>
      </p:sp>
      <p:sp>
        <p:nvSpPr>
          <p:cNvPr id="15" name="Shape 13"/>
          <p:cNvSpPr/>
          <p:nvPr/>
        </p:nvSpPr>
        <p:spPr>
          <a:xfrm>
            <a:off x="5486400" y="3291840"/>
            <a:ext cx="3383280" cy="1645920"/>
          </a:xfrm>
          <a:prstGeom prst="rect">
            <a:avLst/>
          </a:prstGeom>
          <a:solidFill>
            <a:srgbClr val="1E293B"/>
          </a:solidFill>
          <a:ln w="9525">
            <a:solidFill>
              <a:srgbClr val="F472B6"/>
            </a:solidFill>
            <a:prstDash val="solid"/>
          </a:ln>
          <a:effectLst>
            <a:outerShdw sx="100000" sy="100000" kx="0" ky="0" algn="bl" rotWithShape="0" blurRad="76200" dist="25400" dir="8100000">
              <a:srgbClr val="000000">
                <a:alpha val="22000"/>
              </a:srgbClr>
            </a:outerShdw>
          </a:effectLst>
        </p:spPr>
      </p:sp>
      <p:sp>
        <p:nvSpPr>
          <p:cNvPr id="16" name="Text 14"/>
          <p:cNvSpPr/>
          <p:nvPr/>
        </p:nvSpPr>
        <p:spPr>
          <a:xfrm>
            <a:off x="5623560" y="3364992"/>
            <a:ext cx="3108960" cy="246888"/>
          </a:xfrm>
          <a:prstGeom prst="rect">
            <a:avLst/>
          </a:prstGeom>
          <a:noFill/>
          <a:ln/>
        </p:spPr>
        <p:txBody>
          <a:bodyPr wrap="square" rtlCol="0" anchor="ctr"/>
          <a:lstStyle/>
          <a:p>
            <a:pPr indent="0" marL="0">
              <a:buNone/>
            </a:pPr>
            <a:r>
              <a:rPr lang="en-US" sz="900" b="1" spc="100" kern="0" dirty="0">
                <a:solidFill>
                  <a:srgbClr val="F472B6"/>
                </a:solidFill>
                <a:latin typeface="Calibri" pitchFamily="34" charset="0"/>
                <a:ea typeface="Calibri" pitchFamily="34" charset="-122"/>
                <a:cs typeface="Calibri" pitchFamily="34" charset="-120"/>
              </a:rPr>
              <a:t>WHY THIS PHASE EXISTS</a:t>
            </a:r>
            <a:endParaRPr lang="en-US" sz="900" dirty="0"/>
          </a:p>
        </p:txBody>
      </p:sp>
      <p:sp>
        <p:nvSpPr>
          <p:cNvPr id="17" name="Text 15"/>
          <p:cNvSpPr/>
          <p:nvPr/>
        </p:nvSpPr>
        <p:spPr>
          <a:xfrm>
            <a:off x="5623560" y="3648456"/>
            <a:ext cx="3108960" cy="1216152"/>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Daily challenges give users a reason to return every day. They demonstrate product thinking beyond engineering: retention design, competitive fairness, and the ability to build scheduled, stateful production systems.</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2DD4BF"/>
          </a:solidFill>
          <a:ln/>
        </p:spPr>
      </p:sp>
      <p:sp>
        <p:nvSpPr>
          <p:cNvPr id="3" name="Shape 1"/>
          <p:cNvSpPr/>
          <p:nvPr/>
        </p:nvSpPr>
        <p:spPr>
          <a:xfrm>
            <a:off x="274320" y="128016"/>
            <a:ext cx="804672" cy="512064"/>
          </a:xfrm>
          <a:prstGeom prst="rect">
            <a:avLst/>
          </a:prstGeom>
          <a:solidFill>
            <a:srgbClr val="2DD4BF"/>
          </a:solidFill>
          <a:ln/>
        </p:spPr>
      </p:sp>
      <p:sp>
        <p:nvSpPr>
          <p:cNvPr id="4" name="Text 2"/>
          <p:cNvSpPr/>
          <p:nvPr/>
        </p:nvSpPr>
        <p:spPr>
          <a:xfrm>
            <a:off x="274320" y="128016"/>
            <a:ext cx="804672" cy="512064"/>
          </a:xfrm>
          <a:prstGeom prst="rect">
            <a:avLst/>
          </a:prstGeom>
          <a:noFill/>
          <a:ln/>
        </p:spPr>
        <p:txBody>
          <a:bodyPr wrap="square" rtlCol="0" anchor="ctr"/>
          <a:lstStyle/>
          <a:p>
            <a:pPr algn="ctr" indent="0" marL="0">
              <a:buNone/>
            </a:pPr>
            <a:r>
              <a:rPr lang="en-US" sz="2000" b="1" dirty="0">
                <a:solidFill>
                  <a:srgbClr val="0F172A"/>
                </a:solidFill>
                <a:latin typeface="Calibri" pitchFamily="34" charset="0"/>
                <a:ea typeface="Calibri" pitchFamily="34" charset="-122"/>
                <a:cs typeface="Calibri" pitchFamily="34" charset="-120"/>
              </a:rPr>
              <a:t>P8</a:t>
            </a:r>
            <a:endParaRPr lang="en-US" sz="2000" dirty="0"/>
          </a:p>
        </p:txBody>
      </p:sp>
      <p:sp>
        <p:nvSpPr>
          <p:cNvPr id="5" name="Text 3"/>
          <p:cNvSpPr/>
          <p:nvPr/>
        </p:nvSpPr>
        <p:spPr>
          <a:xfrm>
            <a:off x="1216152" y="155448"/>
            <a:ext cx="7653528" cy="457200"/>
          </a:xfrm>
          <a:prstGeom prst="rect">
            <a:avLst/>
          </a:prstGeom>
          <a:noFill/>
          <a:ln/>
        </p:spPr>
        <p:txBody>
          <a:bodyPr wrap="square" rtlCol="0" anchor="ctr"/>
          <a:lstStyle/>
          <a:p>
            <a:pPr indent="0" marL="0">
              <a:buNone/>
            </a:pPr>
            <a:r>
              <a:rPr lang="en-US" sz="2100" b="1" dirty="0">
                <a:solidFill>
                  <a:srgbClr val="F1F5F9"/>
                </a:solidFill>
                <a:latin typeface="Calibri" pitchFamily="34" charset="0"/>
                <a:ea typeface="Calibri" pitchFamily="34" charset="-122"/>
                <a:cs typeface="Calibri" pitchFamily="34" charset="-120"/>
              </a:rPr>
              <a:t>Phase 8 — Advanced Hint Engine</a:t>
            </a:r>
            <a:endParaRPr lang="en-US" sz="2100" dirty="0"/>
          </a:p>
        </p:txBody>
      </p:sp>
      <p:sp>
        <p:nvSpPr>
          <p:cNvPr id="6" name="Text 4"/>
          <p:cNvSpPr/>
          <p:nvPr/>
        </p:nvSpPr>
        <p:spPr>
          <a:xfrm>
            <a:off x="274320" y="704088"/>
            <a:ext cx="8595360" cy="246888"/>
          </a:xfrm>
          <a:prstGeom prst="rect">
            <a:avLst/>
          </a:prstGeom>
          <a:noFill/>
          <a:ln/>
        </p:spPr>
        <p:txBody>
          <a:bodyPr wrap="square" rtlCol="0" anchor="ctr"/>
          <a:lstStyle/>
          <a:p>
            <a:pPr indent="0" marL="0">
              <a:buNone/>
            </a:pPr>
            <a:r>
              <a:rPr lang="en-US" sz="1100" i="1" dirty="0">
                <a:solidFill>
                  <a:srgbClr val="94A3B8"/>
                </a:solidFill>
                <a:latin typeface="Calibri" pitchFamily="34" charset="0"/>
                <a:ea typeface="Calibri" pitchFamily="34" charset="-122"/>
                <a:cs typeface="Calibri" pitchFamily="34" charset="-120"/>
              </a:rPr>
              <a:t>Make hints intelligent — not just 'reveal a random cell'</a:t>
            </a:r>
            <a:endParaRPr lang="en-US" sz="1100" dirty="0"/>
          </a:p>
        </p:txBody>
      </p:sp>
      <p:sp>
        <p:nvSpPr>
          <p:cNvPr id="7" name="Shape 5"/>
          <p:cNvSpPr/>
          <p:nvPr/>
        </p:nvSpPr>
        <p:spPr>
          <a:xfrm>
            <a:off x="274320" y="1005840"/>
            <a:ext cx="8595360" cy="420624"/>
          </a:xfrm>
          <a:prstGeom prst="rect">
            <a:avLst/>
          </a:prstGeom>
          <a:solidFill>
            <a:srgbClr val="0D1929"/>
          </a:solidFill>
          <a:ln w="9525">
            <a:solidFill>
              <a:srgbClr val="2DD4BF"/>
            </a:solidFill>
            <a:prstDash val="solid"/>
          </a:ln>
        </p:spPr>
      </p:sp>
      <p:sp>
        <p:nvSpPr>
          <p:cNvPr id="8" name="Text 6"/>
          <p:cNvSpPr/>
          <p:nvPr/>
        </p:nvSpPr>
        <p:spPr>
          <a:xfrm>
            <a:off x="411480" y="1005840"/>
            <a:ext cx="8321040" cy="420624"/>
          </a:xfrm>
          <a:prstGeom prst="rect">
            <a:avLst/>
          </a:prstGeom>
          <a:noFill/>
          <a:ln/>
        </p:spPr>
        <p:txBody>
          <a:bodyPr wrap="square" rtlCol="0" anchor="ctr"/>
          <a:lstStyle/>
          <a:p>
            <a:pPr indent="0" marL="0">
              <a:buNone/>
            </a:pPr>
            <a:r>
              <a:rPr lang="en-US" sz="1150" b="1" dirty="0">
                <a:solidFill>
                  <a:srgbClr val="2DD4BF"/>
                </a:solidFill>
                <a:latin typeface="Calibri" pitchFamily="34" charset="0"/>
                <a:ea typeface="Calibri" pitchFamily="34" charset="-122"/>
                <a:cs typeface="Calibri" pitchFamily="34" charset="-120"/>
              </a:rPr>
              <a:t>GOAL  ·  Build a 5-layer hint system that teaches actual solving strategies</a:t>
            </a:r>
            <a:endParaRPr lang="en-US" sz="1150" dirty="0"/>
          </a:p>
        </p:txBody>
      </p:sp>
      <p:sp>
        <p:nvSpPr>
          <p:cNvPr id="9" name="Shape 7"/>
          <p:cNvSpPr/>
          <p:nvPr/>
        </p:nvSpPr>
        <p:spPr>
          <a:xfrm>
            <a:off x="274320" y="1508760"/>
            <a:ext cx="5029200" cy="3429000"/>
          </a:xfrm>
          <a:prstGeom prst="rect">
            <a:avLst/>
          </a:prstGeom>
          <a:solidFill>
            <a:srgbClr val="1E293B"/>
          </a:solidFill>
          <a:ln w="6350">
            <a:solidFill>
              <a:srgbClr val="334155"/>
            </a:solidFill>
            <a:prstDash val="solid"/>
          </a:ln>
          <a:effectLst>
            <a:outerShdw sx="100000" sy="100000" kx="0" ky="0" algn="bl" rotWithShape="0" blurRad="76200" dist="25400" dir="8100000">
              <a:srgbClr val="000000">
                <a:alpha val="22000"/>
              </a:srgbClr>
            </a:outerShdw>
          </a:effectLst>
        </p:spPr>
      </p:sp>
      <p:sp>
        <p:nvSpPr>
          <p:cNvPr id="10" name="Text 8"/>
          <p:cNvSpPr/>
          <p:nvPr/>
        </p:nvSpPr>
        <p:spPr>
          <a:xfrm>
            <a:off x="411480" y="1581912"/>
            <a:ext cx="4754880" cy="246888"/>
          </a:xfrm>
          <a:prstGeom prst="rect">
            <a:avLst/>
          </a:prstGeom>
          <a:noFill/>
          <a:ln/>
        </p:spPr>
        <p:txBody>
          <a:bodyPr wrap="square" rtlCol="0" anchor="ctr"/>
          <a:lstStyle/>
          <a:p>
            <a:pPr indent="0" marL="0">
              <a:buNone/>
            </a:pPr>
            <a:r>
              <a:rPr lang="en-US" sz="950" b="1" spc="200" kern="0" dirty="0">
                <a:solidFill>
                  <a:srgbClr val="94A3B8"/>
                </a:solidFill>
                <a:latin typeface="Calibri" pitchFamily="34" charset="0"/>
                <a:ea typeface="Calibri" pitchFamily="34" charset="-122"/>
                <a:cs typeface="Calibri" pitchFamily="34" charset="-120"/>
              </a:rPr>
              <a:t>TASKS</a:t>
            </a:r>
            <a:endParaRPr lang="en-US" sz="950" dirty="0"/>
          </a:p>
        </p:txBody>
      </p:sp>
      <p:sp>
        <p:nvSpPr>
          <p:cNvPr id="11" name="Text 9"/>
          <p:cNvSpPr/>
          <p:nvPr/>
        </p:nvSpPr>
        <p:spPr>
          <a:xfrm>
            <a:off x="411480" y="1883664"/>
            <a:ext cx="4754880" cy="2980944"/>
          </a:xfrm>
          <a:prstGeom prst="rect">
            <a:avLst/>
          </a:prstGeom>
          <a:noFill/>
          <a:ln/>
        </p:spPr>
        <p:txBody>
          <a:bodyPr wrap="square" rtlCol="0" anchor="ctr"/>
          <a:lstStyle/>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Layer 1: Conflict hint — highlight invalid placements</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Layer 2: Candidate hint — show possible values for a cell</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Layer 3: Elimination hint — explain why candidates are removed</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Layer 4: Technique hint — name the strategy (naked pair, etc.)</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Layer 5: Reveal hint — show correct value with max penalty</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Add penalty scoring per hint layer and difficulty tier</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Track hint usage per match for analytics and leaderboard</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Expose hint stats in player profile and daily challenge</a:t>
            </a:r>
            <a:endParaRPr lang="en-US" sz="980" dirty="0"/>
          </a:p>
        </p:txBody>
      </p:sp>
      <p:sp>
        <p:nvSpPr>
          <p:cNvPr id="12" name="Shape 10"/>
          <p:cNvSpPr/>
          <p:nvPr/>
        </p:nvSpPr>
        <p:spPr>
          <a:xfrm>
            <a:off x="5486400" y="1508760"/>
            <a:ext cx="3383280" cy="1664208"/>
          </a:xfrm>
          <a:prstGeom prst="rect">
            <a:avLst/>
          </a:prstGeom>
          <a:solidFill>
            <a:srgbClr val="1E293B"/>
          </a:solidFill>
          <a:ln w="9525">
            <a:solidFill>
              <a:srgbClr val="4ADE80"/>
            </a:solidFill>
            <a:prstDash val="solid"/>
          </a:ln>
          <a:effectLst>
            <a:outerShdw sx="100000" sy="100000" kx="0" ky="0" algn="bl" rotWithShape="0" blurRad="76200" dist="25400" dir="8100000">
              <a:srgbClr val="000000">
                <a:alpha val="22000"/>
              </a:srgbClr>
            </a:outerShdw>
          </a:effectLst>
        </p:spPr>
      </p:sp>
      <p:sp>
        <p:nvSpPr>
          <p:cNvPr id="13" name="Text 11"/>
          <p:cNvSpPr/>
          <p:nvPr/>
        </p:nvSpPr>
        <p:spPr>
          <a:xfrm>
            <a:off x="5623560" y="1581912"/>
            <a:ext cx="3108960" cy="246888"/>
          </a:xfrm>
          <a:prstGeom prst="rect">
            <a:avLst/>
          </a:prstGeom>
          <a:noFill/>
          <a:ln/>
        </p:spPr>
        <p:txBody>
          <a:bodyPr wrap="square" rtlCol="0" anchor="ctr"/>
          <a:lstStyle/>
          <a:p>
            <a:pPr indent="0" marL="0">
              <a:buNone/>
            </a:pPr>
            <a:r>
              <a:rPr lang="en-US" sz="950" b="1" spc="200" kern="0" dirty="0">
                <a:solidFill>
                  <a:srgbClr val="4ADE80"/>
                </a:solidFill>
                <a:latin typeface="Calibri" pitchFamily="34" charset="0"/>
                <a:ea typeface="Calibri" pitchFamily="34" charset="-122"/>
                <a:cs typeface="Calibri" pitchFamily="34" charset="-120"/>
              </a:rPr>
              <a:t>OUTPUT</a:t>
            </a:r>
            <a:endParaRPr lang="en-US" sz="950" dirty="0"/>
          </a:p>
        </p:txBody>
      </p:sp>
      <p:sp>
        <p:nvSpPr>
          <p:cNvPr id="14" name="Text 12"/>
          <p:cNvSpPr/>
          <p:nvPr/>
        </p:nvSpPr>
        <p:spPr>
          <a:xfrm>
            <a:off x="5623560" y="1883664"/>
            <a:ext cx="3108960" cy="1234440"/>
          </a:xfrm>
          <a:prstGeom prst="rect">
            <a:avLst/>
          </a:prstGeom>
          <a:noFill/>
          <a:ln/>
        </p:spPr>
        <p:txBody>
          <a:bodyPr wrap="square" rtlCol="0" anchor="ctr"/>
          <a:lstStyle/>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5-layer intelligent hints</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Penalty-weighted scoring</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Algorithmic depth</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Hint usage analytics</a:t>
            </a:r>
            <a:endParaRPr lang="en-US" sz="980" dirty="0"/>
          </a:p>
        </p:txBody>
      </p:sp>
      <p:sp>
        <p:nvSpPr>
          <p:cNvPr id="15" name="Shape 13"/>
          <p:cNvSpPr/>
          <p:nvPr/>
        </p:nvSpPr>
        <p:spPr>
          <a:xfrm>
            <a:off x="5486400" y="3291840"/>
            <a:ext cx="3383280" cy="1645920"/>
          </a:xfrm>
          <a:prstGeom prst="rect">
            <a:avLst/>
          </a:prstGeom>
          <a:solidFill>
            <a:srgbClr val="1E293B"/>
          </a:solidFill>
          <a:ln w="9525">
            <a:solidFill>
              <a:srgbClr val="2DD4BF"/>
            </a:solidFill>
            <a:prstDash val="solid"/>
          </a:ln>
          <a:effectLst>
            <a:outerShdw sx="100000" sy="100000" kx="0" ky="0" algn="bl" rotWithShape="0" blurRad="76200" dist="25400" dir="8100000">
              <a:srgbClr val="000000">
                <a:alpha val="22000"/>
              </a:srgbClr>
            </a:outerShdw>
          </a:effectLst>
        </p:spPr>
      </p:sp>
      <p:sp>
        <p:nvSpPr>
          <p:cNvPr id="16" name="Text 14"/>
          <p:cNvSpPr/>
          <p:nvPr/>
        </p:nvSpPr>
        <p:spPr>
          <a:xfrm>
            <a:off x="5623560" y="3364992"/>
            <a:ext cx="3108960" cy="246888"/>
          </a:xfrm>
          <a:prstGeom prst="rect">
            <a:avLst/>
          </a:prstGeom>
          <a:noFill/>
          <a:ln/>
        </p:spPr>
        <p:txBody>
          <a:bodyPr wrap="square" rtlCol="0" anchor="ctr"/>
          <a:lstStyle/>
          <a:p>
            <a:pPr indent="0" marL="0">
              <a:buNone/>
            </a:pPr>
            <a:r>
              <a:rPr lang="en-US" sz="900" b="1" spc="100" kern="0" dirty="0">
                <a:solidFill>
                  <a:srgbClr val="2DD4BF"/>
                </a:solidFill>
                <a:latin typeface="Calibri" pitchFamily="34" charset="0"/>
                <a:ea typeface="Calibri" pitchFamily="34" charset="-122"/>
                <a:cs typeface="Calibri" pitchFamily="34" charset="-120"/>
              </a:rPr>
              <a:t>WHY THIS PHASE EXISTS</a:t>
            </a:r>
            <a:endParaRPr lang="en-US" sz="900" dirty="0"/>
          </a:p>
        </p:txBody>
      </p:sp>
      <p:sp>
        <p:nvSpPr>
          <p:cNvPr id="17" name="Text 15"/>
          <p:cNvSpPr/>
          <p:nvPr/>
        </p:nvSpPr>
        <p:spPr>
          <a:xfrm>
            <a:off x="5623560" y="3648456"/>
            <a:ext cx="3108960" cy="1216152"/>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A hint engine that names solving techniques shows algorithmic depth a simple 'show answer' button never could. It doubles as a learning tool — a product story that demonstrates both engineering and product maturity.</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60A5FA"/>
          </a:solidFill>
          <a:ln/>
        </p:spPr>
      </p:sp>
      <p:sp>
        <p:nvSpPr>
          <p:cNvPr id="3" name="Shape 1"/>
          <p:cNvSpPr/>
          <p:nvPr/>
        </p:nvSpPr>
        <p:spPr>
          <a:xfrm>
            <a:off x="274320" y="128016"/>
            <a:ext cx="804672" cy="512064"/>
          </a:xfrm>
          <a:prstGeom prst="rect">
            <a:avLst/>
          </a:prstGeom>
          <a:solidFill>
            <a:srgbClr val="60A5FA"/>
          </a:solidFill>
          <a:ln/>
        </p:spPr>
      </p:sp>
      <p:sp>
        <p:nvSpPr>
          <p:cNvPr id="4" name="Text 2"/>
          <p:cNvSpPr/>
          <p:nvPr/>
        </p:nvSpPr>
        <p:spPr>
          <a:xfrm>
            <a:off x="274320" y="128016"/>
            <a:ext cx="804672" cy="512064"/>
          </a:xfrm>
          <a:prstGeom prst="rect">
            <a:avLst/>
          </a:prstGeom>
          <a:noFill/>
          <a:ln/>
        </p:spPr>
        <p:txBody>
          <a:bodyPr wrap="square" rtlCol="0" anchor="ctr"/>
          <a:lstStyle/>
          <a:p>
            <a:pPr algn="ctr" indent="0" marL="0">
              <a:buNone/>
            </a:pPr>
            <a:r>
              <a:rPr lang="en-US" sz="2000" b="1" dirty="0">
                <a:solidFill>
                  <a:srgbClr val="0F172A"/>
                </a:solidFill>
                <a:latin typeface="Calibri" pitchFamily="34" charset="0"/>
                <a:ea typeface="Calibri" pitchFamily="34" charset="-122"/>
                <a:cs typeface="Calibri" pitchFamily="34" charset="-120"/>
              </a:rPr>
              <a:t>P9</a:t>
            </a:r>
            <a:endParaRPr lang="en-US" sz="2000" dirty="0"/>
          </a:p>
        </p:txBody>
      </p:sp>
      <p:sp>
        <p:nvSpPr>
          <p:cNvPr id="5" name="Text 3"/>
          <p:cNvSpPr/>
          <p:nvPr/>
        </p:nvSpPr>
        <p:spPr>
          <a:xfrm>
            <a:off x="1216152" y="155448"/>
            <a:ext cx="7653528" cy="457200"/>
          </a:xfrm>
          <a:prstGeom prst="rect">
            <a:avLst/>
          </a:prstGeom>
          <a:noFill/>
          <a:ln/>
        </p:spPr>
        <p:txBody>
          <a:bodyPr wrap="square" rtlCol="0" anchor="ctr"/>
          <a:lstStyle/>
          <a:p>
            <a:pPr indent="0" marL="0">
              <a:buNone/>
            </a:pPr>
            <a:r>
              <a:rPr lang="en-US" sz="2100" b="1" dirty="0">
                <a:solidFill>
                  <a:srgbClr val="F1F5F9"/>
                </a:solidFill>
                <a:latin typeface="Calibri" pitchFamily="34" charset="0"/>
                <a:ea typeface="Calibri" pitchFamily="34" charset="-122"/>
                <a:cs typeface="Calibri" pitchFamily="34" charset="-120"/>
              </a:rPr>
              <a:t>Phase 9 — Frontend Architecture Refactor</a:t>
            </a:r>
            <a:endParaRPr lang="en-US" sz="2100" dirty="0"/>
          </a:p>
        </p:txBody>
      </p:sp>
      <p:sp>
        <p:nvSpPr>
          <p:cNvPr id="6" name="Text 4"/>
          <p:cNvSpPr/>
          <p:nvPr/>
        </p:nvSpPr>
        <p:spPr>
          <a:xfrm>
            <a:off x="274320" y="704088"/>
            <a:ext cx="8595360" cy="246888"/>
          </a:xfrm>
          <a:prstGeom prst="rect">
            <a:avLst/>
          </a:prstGeom>
          <a:noFill/>
          <a:ln/>
        </p:spPr>
        <p:txBody>
          <a:bodyPr wrap="square" rtlCol="0" anchor="ctr"/>
          <a:lstStyle/>
          <a:p>
            <a:pPr indent="0" marL="0">
              <a:buNone/>
            </a:pPr>
            <a:r>
              <a:rPr lang="en-US" sz="1100" i="1" dirty="0">
                <a:solidFill>
                  <a:srgbClr val="94A3B8"/>
                </a:solidFill>
                <a:latin typeface="Calibri" pitchFamily="34" charset="0"/>
                <a:ea typeface="Calibri" pitchFamily="34" charset="-122"/>
                <a:cs typeface="Calibri" pitchFamily="34" charset="-120"/>
              </a:rPr>
              <a:t>Frontend complexity is about to grow significantly — structure it now</a:t>
            </a:r>
            <a:endParaRPr lang="en-US" sz="1100" dirty="0"/>
          </a:p>
        </p:txBody>
      </p:sp>
      <p:sp>
        <p:nvSpPr>
          <p:cNvPr id="7" name="Shape 5"/>
          <p:cNvSpPr/>
          <p:nvPr/>
        </p:nvSpPr>
        <p:spPr>
          <a:xfrm>
            <a:off x="274320" y="1005840"/>
            <a:ext cx="8595360" cy="420624"/>
          </a:xfrm>
          <a:prstGeom prst="rect">
            <a:avLst/>
          </a:prstGeom>
          <a:solidFill>
            <a:srgbClr val="0D1929"/>
          </a:solidFill>
          <a:ln w="9525">
            <a:solidFill>
              <a:srgbClr val="60A5FA"/>
            </a:solidFill>
            <a:prstDash val="solid"/>
          </a:ln>
        </p:spPr>
      </p:sp>
      <p:sp>
        <p:nvSpPr>
          <p:cNvPr id="8" name="Text 6"/>
          <p:cNvSpPr/>
          <p:nvPr/>
        </p:nvSpPr>
        <p:spPr>
          <a:xfrm>
            <a:off x="411480" y="1005840"/>
            <a:ext cx="8321040" cy="420624"/>
          </a:xfrm>
          <a:prstGeom prst="rect">
            <a:avLst/>
          </a:prstGeom>
          <a:noFill/>
          <a:ln/>
        </p:spPr>
        <p:txBody>
          <a:bodyPr wrap="square" rtlCol="0" anchor="ctr"/>
          <a:lstStyle/>
          <a:p>
            <a:pPr indent="0" marL="0">
              <a:buNone/>
            </a:pPr>
            <a:r>
              <a:rPr lang="en-US" sz="1150" b="1" dirty="0">
                <a:solidFill>
                  <a:srgbClr val="60A5FA"/>
                </a:solidFill>
                <a:latin typeface="Calibri" pitchFamily="34" charset="0"/>
                <a:ea typeface="Calibri" pitchFamily="34" charset="-122"/>
                <a:cs typeface="Calibri" pitchFamily="34" charset="-120"/>
              </a:rPr>
              <a:t>GOAL  ·  Migrate to feature-based architecture with typed socket contracts</a:t>
            </a:r>
            <a:endParaRPr lang="en-US" sz="1150" dirty="0"/>
          </a:p>
        </p:txBody>
      </p:sp>
      <p:sp>
        <p:nvSpPr>
          <p:cNvPr id="9" name="Shape 7"/>
          <p:cNvSpPr/>
          <p:nvPr/>
        </p:nvSpPr>
        <p:spPr>
          <a:xfrm>
            <a:off x="274320" y="1508760"/>
            <a:ext cx="5029200" cy="3429000"/>
          </a:xfrm>
          <a:prstGeom prst="rect">
            <a:avLst/>
          </a:prstGeom>
          <a:solidFill>
            <a:srgbClr val="1E293B"/>
          </a:solidFill>
          <a:ln w="6350">
            <a:solidFill>
              <a:srgbClr val="334155"/>
            </a:solidFill>
            <a:prstDash val="solid"/>
          </a:ln>
          <a:effectLst>
            <a:outerShdw sx="100000" sy="100000" kx="0" ky="0" algn="bl" rotWithShape="0" blurRad="76200" dist="25400" dir="8100000">
              <a:srgbClr val="000000">
                <a:alpha val="22000"/>
              </a:srgbClr>
            </a:outerShdw>
          </a:effectLst>
        </p:spPr>
      </p:sp>
      <p:sp>
        <p:nvSpPr>
          <p:cNvPr id="10" name="Text 8"/>
          <p:cNvSpPr/>
          <p:nvPr/>
        </p:nvSpPr>
        <p:spPr>
          <a:xfrm>
            <a:off x="411480" y="1581912"/>
            <a:ext cx="4754880" cy="246888"/>
          </a:xfrm>
          <a:prstGeom prst="rect">
            <a:avLst/>
          </a:prstGeom>
          <a:noFill/>
          <a:ln/>
        </p:spPr>
        <p:txBody>
          <a:bodyPr wrap="square" rtlCol="0" anchor="ctr"/>
          <a:lstStyle/>
          <a:p>
            <a:pPr indent="0" marL="0">
              <a:buNone/>
            </a:pPr>
            <a:r>
              <a:rPr lang="en-US" sz="950" b="1" spc="200" kern="0" dirty="0">
                <a:solidFill>
                  <a:srgbClr val="94A3B8"/>
                </a:solidFill>
                <a:latin typeface="Calibri" pitchFamily="34" charset="0"/>
                <a:ea typeface="Calibri" pitchFamily="34" charset="-122"/>
                <a:cs typeface="Calibri" pitchFamily="34" charset="-120"/>
              </a:rPr>
              <a:t>TASKS</a:t>
            </a:r>
            <a:endParaRPr lang="en-US" sz="950" dirty="0"/>
          </a:p>
        </p:txBody>
      </p:sp>
      <p:sp>
        <p:nvSpPr>
          <p:cNvPr id="11" name="Text 9"/>
          <p:cNvSpPr/>
          <p:nvPr/>
        </p:nvSpPr>
        <p:spPr>
          <a:xfrm>
            <a:off x="411480" y="1883664"/>
            <a:ext cx="4754880" cy="2980944"/>
          </a:xfrm>
          <a:prstGeom prst="rect">
            <a:avLst/>
          </a:prstGeom>
          <a:noFill/>
          <a:ln/>
        </p:spPr>
        <p:txBody>
          <a:bodyPr wrap="square" rtlCol="0" anchor="ctr"/>
          <a:lstStyle/>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Migrate to feature-based folder structure (features/ per domain)</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Build shared/api/ — typed Axios abstraction layer</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Build shared/socket/ — typed socket client with full event map</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Migrate game + matchmaking state to Zustand</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Keep auth in React Context as cross-cutting concern</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Add socket reconnect logic with exponential backoff</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Add loading / error / empty states for all async paths</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Remove all direct socket event string literals from components</a:t>
            </a:r>
            <a:endParaRPr lang="en-US" sz="980" dirty="0"/>
          </a:p>
        </p:txBody>
      </p:sp>
      <p:sp>
        <p:nvSpPr>
          <p:cNvPr id="12" name="Shape 10"/>
          <p:cNvSpPr/>
          <p:nvPr/>
        </p:nvSpPr>
        <p:spPr>
          <a:xfrm>
            <a:off x="5486400" y="1508760"/>
            <a:ext cx="3383280" cy="1664208"/>
          </a:xfrm>
          <a:prstGeom prst="rect">
            <a:avLst/>
          </a:prstGeom>
          <a:solidFill>
            <a:srgbClr val="1E293B"/>
          </a:solidFill>
          <a:ln w="9525">
            <a:solidFill>
              <a:srgbClr val="4ADE80"/>
            </a:solidFill>
            <a:prstDash val="solid"/>
          </a:ln>
          <a:effectLst>
            <a:outerShdw sx="100000" sy="100000" kx="0" ky="0" algn="bl" rotWithShape="0" blurRad="76200" dist="25400" dir="8100000">
              <a:srgbClr val="000000">
                <a:alpha val="22000"/>
              </a:srgbClr>
            </a:outerShdw>
          </a:effectLst>
        </p:spPr>
      </p:sp>
      <p:sp>
        <p:nvSpPr>
          <p:cNvPr id="13" name="Text 11"/>
          <p:cNvSpPr/>
          <p:nvPr/>
        </p:nvSpPr>
        <p:spPr>
          <a:xfrm>
            <a:off x="5623560" y="1581912"/>
            <a:ext cx="3108960" cy="246888"/>
          </a:xfrm>
          <a:prstGeom prst="rect">
            <a:avLst/>
          </a:prstGeom>
          <a:noFill/>
          <a:ln/>
        </p:spPr>
        <p:txBody>
          <a:bodyPr wrap="square" rtlCol="0" anchor="ctr"/>
          <a:lstStyle/>
          <a:p>
            <a:pPr indent="0" marL="0">
              <a:buNone/>
            </a:pPr>
            <a:r>
              <a:rPr lang="en-US" sz="950" b="1" spc="200" kern="0" dirty="0">
                <a:solidFill>
                  <a:srgbClr val="4ADE80"/>
                </a:solidFill>
                <a:latin typeface="Calibri" pitchFamily="34" charset="0"/>
                <a:ea typeface="Calibri" pitchFamily="34" charset="-122"/>
                <a:cs typeface="Calibri" pitchFamily="34" charset="-120"/>
              </a:rPr>
              <a:t>OUTPUT</a:t>
            </a:r>
            <a:endParaRPr lang="en-US" sz="950" dirty="0"/>
          </a:p>
        </p:txBody>
      </p:sp>
      <p:sp>
        <p:nvSpPr>
          <p:cNvPr id="14" name="Text 12"/>
          <p:cNvSpPr/>
          <p:nvPr/>
        </p:nvSpPr>
        <p:spPr>
          <a:xfrm>
            <a:off x="5623560" y="1883664"/>
            <a:ext cx="3108960" cy="1234440"/>
          </a:xfrm>
          <a:prstGeom prst="rect">
            <a:avLst/>
          </a:prstGeom>
          <a:noFill/>
          <a:ln/>
        </p:spPr>
        <p:txBody>
          <a:bodyPr wrap="square" rtlCol="0" anchor="ctr"/>
          <a:lstStyle/>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Feature-based structure</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Typed socket contracts</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Robust reconnect logic</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Decoupled API + socket layers</a:t>
            </a:r>
            <a:endParaRPr lang="en-US" sz="980" dirty="0"/>
          </a:p>
        </p:txBody>
      </p:sp>
      <p:sp>
        <p:nvSpPr>
          <p:cNvPr id="15" name="Shape 13"/>
          <p:cNvSpPr/>
          <p:nvPr/>
        </p:nvSpPr>
        <p:spPr>
          <a:xfrm>
            <a:off x="5486400" y="3291840"/>
            <a:ext cx="3383280" cy="1645920"/>
          </a:xfrm>
          <a:prstGeom prst="rect">
            <a:avLst/>
          </a:prstGeom>
          <a:solidFill>
            <a:srgbClr val="1E293B"/>
          </a:solidFill>
          <a:ln w="9525">
            <a:solidFill>
              <a:srgbClr val="60A5FA"/>
            </a:solidFill>
            <a:prstDash val="solid"/>
          </a:ln>
          <a:effectLst>
            <a:outerShdw sx="100000" sy="100000" kx="0" ky="0" algn="bl" rotWithShape="0" blurRad="76200" dist="25400" dir="8100000">
              <a:srgbClr val="000000">
                <a:alpha val="22000"/>
              </a:srgbClr>
            </a:outerShdw>
          </a:effectLst>
        </p:spPr>
      </p:sp>
      <p:sp>
        <p:nvSpPr>
          <p:cNvPr id="16" name="Text 14"/>
          <p:cNvSpPr/>
          <p:nvPr/>
        </p:nvSpPr>
        <p:spPr>
          <a:xfrm>
            <a:off x="5623560" y="3364992"/>
            <a:ext cx="3108960" cy="246888"/>
          </a:xfrm>
          <a:prstGeom prst="rect">
            <a:avLst/>
          </a:prstGeom>
          <a:noFill/>
          <a:ln/>
        </p:spPr>
        <p:txBody>
          <a:bodyPr wrap="square" rtlCol="0" anchor="ctr"/>
          <a:lstStyle/>
          <a:p>
            <a:pPr indent="0" marL="0">
              <a:buNone/>
            </a:pPr>
            <a:r>
              <a:rPr lang="en-US" sz="900" b="1" spc="100" kern="0" dirty="0">
                <a:solidFill>
                  <a:srgbClr val="60A5FA"/>
                </a:solidFill>
                <a:latin typeface="Calibri" pitchFamily="34" charset="0"/>
                <a:ea typeface="Calibri" pitchFamily="34" charset="-122"/>
                <a:cs typeface="Calibri" pitchFamily="34" charset="-120"/>
              </a:rPr>
              <a:t>WHY THIS PHASE EXISTS</a:t>
            </a:r>
            <a:endParaRPr lang="en-US" sz="900" dirty="0"/>
          </a:p>
        </p:txBody>
      </p:sp>
      <p:sp>
        <p:nvSpPr>
          <p:cNvPr id="17" name="Text 15"/>
          <p:cNvSpPr/>
          <p:nvPr/>
        </p:nvSpPr>
        <p:spPr>
          <a:xfrm>
            <a:off x="5623560" y="3648456"/>
            <a:ext cx="3108960" cy="1216152"/>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A flat component folder breaks past 20 screens. Feature-based architecture gives each domain room to grow independently. Typed event maps eliminate runtime surprises from mismatched socket event names.</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FBBF24"/>
          </a:solidFill>
          <a:ln/>
        </p:spPr>
      </p:sp>
      <p:sp>
        <p:nvSpPr>
          <p:cNvPr id="3" name="Shape 1"/>
          <p:cNvSpPr/>
          <p:nvPr/>
        </p:nvSpPr>
        <p:spPr>
          <a:xfrm>
            <a:off x="274320" y="128016"/>
            <a:ext cx="804672" cy="512064"/>
          </a:xfrm>
          <a:prstGeom prst="rect">
            <a:avLst/>
          </a:prstGeom>
          <a:solidFill>
            <a:srgbClr val="FBBF24"/>
          </a:solidFill>
          <a:ln/>
        </p:spPr>
      </p:sp>
      <p:sp>
        <p:nvSpPr>
          <p:cNvPr id="4" name="Text 2"/>
          <p:cNvSpPr/>
          <p:nvPr/>
        </p:nvSpPr>
        <p:spPr>
          <a:xfrm>
            <a:off x="274320" y="128016"/>
            <a:ext cx="804672" cy="512064"/>
          </a:xfrm>
          <a:prstGeom prst="rect">
            <a:avLst/>
          </a:prstGeom>
          <a:noFill/>
          <a:ln/>
        </p:spPr>
        <p:txBody>
          <a:bodyPr wrap="square" rtlCol="0" anchor="ctr"/>
          <a:lstStyle/>
          <a:p>
            <a:pPr algn="ctr" indent="0" marL="0">
              <a:buNone/>
            </a:pPr>
            <a:r>
              <a:rPr lang="en-US" sz="2000" b="1" dirty="0">
                <a:solidFill>
                  <a:srgbClr val="0F172A"/>
                </a:solidFill>
                <a:latin typeface="Calibri" pitchFamily="34" charset="0"/>
                <a:ea typeface="Calibri" pitchFamily="34" charset="-122"/>
                <a:cs typeface="Calibri" pitchFamily="34" charset="-120"/>
              </a:rPr>
              <a:t>P10</a:t>
            </a:r>
            <a:endParaRPr lang="en-US" sz="2000" dirty="0"/>
          </a:p>
        </p:txBody>
      </p:sp>
      <p:sp>
        <p:nvSpPr>
          <p:cNvPr id="5" name="Text 3"/>
          <p:cNvSpPr/>
          <p:nvPr/>
        </p:nvSpPr>
        <p:spPr>
          <a:xfrm>
            <a:off x="1216152" y="155448"/>
            <a:ext cx="7653528" cy="457200"/>
          </a:xfrm>
          <a:prstGeom prst="rect">
            <a:avLst/>
          </a:prstGeom>
          <a:noFill/>
          <a:ln/>
        </p:spPr>
        <p:txBody>
          <a:bodyPr wrap="square" rtlCol="0" anchor="ctr"/>
          <a:lstStyle/>
          <a:p>
            <a:pPr indent="0" marL="0">
              <a:buNone/>
            </a:pPr>
            <a:r>
              <a:rPr lang="en-US" sz="2100" b="1" dirty="0">
                <a:solidFill>
                  <a:srgbClr val="F1F5F9"/>
                </a:solidFill>
                <a:latin typeface="Calibri" pitchFamily="34" charset="0"/>
                <a:ea typeface="Calibri" pitchFamily="34" charset="-122"/>
                <a:cs typeface="Calibri" pitchFamily="34" charset="-120"/>
              </a:rPr>
              <a:t>Phase 10 — Testing Architecture</a:t>
            </a:r>
            <a:endParaRPr lang="en-US" sz="2100" dirty="0"/>
          </a:p>
        </p:txBody>
      </p:sp>
      <p:sp>
        <p:nvSpPr>
          <p:cNvPr id="6" name="Text 4"/>
          <p:cNvSpPr/>
          <p:nvPr/>
        </p:nvSpPr>
        <p:spPr>
          <a:xfrm>
            <a:off x="274320" y="704088"/>
            <a:ext cx="8595360" cy="246888"/>
          </a:xfrm>
          <a:prstGeom prst="rect">
            <a:avLst/>
          </a:prstGeom>
          <a:noFill/>
          <a:ln/>
        </p:spPr>
        <p:txBody>
          <a:bodyPr wrap="square" rtlCol="0" anchor="ctr"/>
          <a:lstStyle/>
          <a:p>
            <a:pPr indent="0" marL="0">
              <a:buNone/>
            </a:pPr>
            <a:r>
              <a:rPr lang="en-US" sz="1100" i="1" dirty="0">
                <a:solidFill>
                  <a:srgbClr val="94A3B8"/>
                </a:solidFill>
                <a:latin typeface="Calibri" pitchFamily="34" charset="0"/>
                <a:ea typeface="Calibri" pitchFamily="34" charset="-122"/>
                <a:cs typeface="Calibri" pitchFamily="34" charset="-120"/>
              </a:rPr>
              <a:t>Without tests, every refactor risks breaking everything that came before it</a:t>
            </a:r>
            <a:endParaRPr lang="en-US" sz="1100" dirty="0"/>
          </a:p>
        </p:txBody>
      </p:sp>
      <p:sp>
        <p:nvSpPr>
          <p:cNvPr id="7" name="Shape 5"/>
          <p:cNvSpPr/>
          <p:nvPr/>
        </p:nvSpPr>
        <p:spPr>
          <a:xfrm>
            <a:off x="274320" y="1005840"/>
            <a:ext cx="8595360" cy="420624"/>
          </a:xfrm>
          <a:prstGeom prst="rect">
            <a:avLst/>
          </a:prstGeom>
          <a:solidFill>
            <a:srgbClr val="0D1929"/>
          </a:solidFill>
          <a:ln w="9525">
            <a:solidFill>
              <a:srgbClr val="FBBF24"/>
            </a:solidFill>
            <a:prstDash val="solid"/>
          </a:ln>
        </p:spPr>
      </p:sp>
      <p:sp>
        <p:nvSpPr>
          <p:cNvPr id="8" name="Text 6"/>
          <p:cNvSpPr/>
          <p:nvPr/>
        </p:nvSpPr>
        <p:spPr>
          <a:xfrm>
            <a:off x="411480" y="1005840"/>
            <a:ext cx="8321040" cy="420624"/>
          </a:xfrm>
          <a:prstGeom prst="rect">
            <a:avLst/>
          </a:prstGeom>
          <a:noFill/>
          <a:ln/>
        </p:spPr>
        <p:txBody>
          <a:bodyPr wrap="square" rtlCol="0" anchor="ctr"/>
          <a:lstStyle/>
          <a:p>
            <a:pPr indent="0" marL="0">
              <a:buNone/>
            </a:pPr>
            <a:r>
              <a:rPr lang="en-US" sz="1150" b="1" dirty="0">
                <a:solidFill>
                  <a:srgbClr val="FBBF24"/>
                </a:solidFill>
                <a:latin typeface="Calibri" pitchFamily="34" charset="0"/>
                <a:ea typeface="Calibri" pitchFamily="34" charset="-122"/>
                <a:cs typeface="Calibri" pitchFamily="34" charset="-120"/>
              </a:rPr>
              <a:t>GOAL  ·  Create engineering confidence through systematic test coverage</a:t>
            </a:r>
            <a:endParaRPr lang="en-US" sz="1150" dirty="0"/>
          </a:p>
        </p:txBody>
      </p:sp>
      <p:sp>
        <p:nvSpPr>
          <p:cNvPr id="9" name="Shape 7"/>
          <p:cNvSpPr/>
          <p:nvPr/>
        </p:nvSpPr>
        <p:spPr>
          <a:xfrm>
            <a:off x="274320" y="1508760"/>
            <a:ext cx="5029200" cy="3429000"/>
          </a:xfrm>
          <a:prstGeom prst="rect">
            <a:avLst/>
          </a:prstGeom>
          <a:solidFill>
            <a:srgbClr val="1E293B"/>
          </a:solidFill>
          <a:ln w="6350">
            <a:solidFill>
              <a:srgbClr val="334155"/>
            </a:solidFill>
            <a:prstDash val="solid"/>
          </a:ln>
          <a:effectLst>
            <a:outerShdw sx="100000" sy="100000" kx="0" ky="0" algn="bl" rotWithShape="0" blurRad="76200" dist="25400" dir="8100000">
              <a:srgbClr val="000000">
                <a:alpha val="22000"/>
              </a:srgbClr>
            </a:outerShdw>
          </a:effectLst>
        </p:spPr>
      </p:sp>
      <p:sp>
        <p:nvSpPr>
          <p:cNvPr id="10" name="Text 8"/>
          <p:cNvSpPr/>
          <p:nvPr/>
        </p:nvSpPr>
        <p:spPr>
          <a:xfrm>
            <a:off x="411480" y="1581912"/>
            <a:ext cx="4754880" cy="246888"/>
          </a:xfrm>
          <a:prstGeom prst="rect">
            <a:avLst/>
          </a:prstGeom>
          <a:noFill/>
          <a:ln/>
        </p:spPr>
        <p:txBody>
          <a:bodyPr wrap="square" rtlCol="0" anchor="ctr"/>
          <a:lstStyle/>
          <a:p>
            <a:pPr indent="0" marL="0">
              <a:buNone/>
            </a:pPr>
            <a:r>
              <a:rPr lang="en-US" sz="950" b="1" spc="200" kern="0" dirty="0">
                <a:solidFill>
                  <a:srgbClr val="94A3B8"/>
                </a:solidFill>
                <a:latin typeface="Calibri" pitchFamily="34" charset="0"/>
                <a:ea typeface="Calibri" pitchFamily="34" charset="-122"/>
                <a:cs typeface="Calibri" pitchFamily="34" charset="-120"/>
              </a:rPr>
              <a:t>TASKS</a:t>
            </a:r>
            <a:endParaRPr lang="en-US" sz="950" dirty="0"/>
          </a:p>
        </p:txBody>
      </p:sp>
      <p:sp>
        <p:nvSpPr>
          <p:cNvPr id="11" name="Text 9"/>
          <p:cNvSpPr/>
          <p:nvPr/>
        </p:nvSpPr>
        <p:spPr>
          <a:xfrm>
            <a:off x="411480" y="1883664"/>
            <a:ext cx="4754880" cy="2980944"/>
          </a:xfrm>
          <a:prstGeom prst="rect">
            <a:avLst/>
          </a:prstGeom>
          <a:noFill/>
          <a:ln/>
        </p:spPr>
        <p:txBody>
          <a:bodyPr wrap="square" rtlCol="0" anchor="ctr"/>
          <a:lstStyle/>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Install Jest, ts-jest, supertest</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Unit tests: all Zod validators (auth, socket, game schemas)</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Unit tests: hint engine all 5 layers plus penalties</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Unit tests: ELO / rating calculation logic</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Unit tests: daily puzzle scoring and streak logic</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Integration tests: full auth flow (register, login, refresh)</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Integration tests: room lifecycle (create, join, complete)</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Socket tests: reconnect and disconnect handling</a:t>
            </a:r>
            <a:endParaRPr lang="en-US" sz="980" dirty="0"/>
          </a:p>
        </p:txBody>
      </p:sp>
      <p:sp>
        <p:nvSpPr>
          <p:cNvPr id="12" name="Shape 10"/>
          <p:cNvSpPr/>
          <p:nvPr/>
        </p:nvSpPr>
        <p:spPr>
          <a:xfrm>
            <a:off x="5486400" y="1508760"/>
            <a:ext cx="3383280" cy="1664208"/>
          </a:xfrm>
          <a:prstGeom prst="rect">
            <a:avLst/>
          </a:prstGeom>
          <a:solidFill>
            <a:srgbClr val="1E293B"/>
          </a:solidFill>
          <a:ln w="9525">
            <a:solidFill>
              <a:srgbClr val="4ADE80"/>
            </a:solidFill>
            <a:prstDash val="solid"/>
          </a:ln>
          <a:effectLst>
            <a:outerShdw sx="100000" sy="100000" kx="0" ky="0" algn="bl" rotWithShape="0" blurRad="76200" dist="25400" dir="8100000">
              <a:srgbClr val="000000">
                <a:alpha val="22000"/>
              </a:srgbClr>
            </a:outerShdw>
          </a:effectLst>
        </p:spPr>
      </p:sp>
      <p:sp>
        <p:nvSpPr>
          <p:cNvPr id="13" name="Text 11"/>
          <p:cNvSpPr/>
          <p:nvPr/>
        </p:nvSpPr>
        <p:spPr>
          <a:xfrm>
            <a:off x="5623560" y="1581912"/>
            <a:ext cx="3108960" cy="246888"/>
          </a:xfrm>
          <a:prstGeom prst="rect">
            <a:avLst/>
          </a:prstGeom>
          <a:noFill/>
          <a:ln/>
        </p:spPr>
        <p:txBody>
          <a:bodyPr wrap="square" rtlCol="0" anchor="ctr"/>
          <a:lstStyle/>
          <a:p>
            <a:pPr indent="0" marL="0">
              <a:buNone/>
            </a:pPr>
            <a:r>
              <a:rPr lang="en-US" sz="950" b="1" spc="200" kern="0" dirty="0">
                <a:solidFill>
                  <a:srgbClr val="4ADE80"/>
                </a:solidFill>
                <a:latin typeface="Calibri" pitchFamily="34" charset="0"/>
                <a:ea typeface="Calibri" pitchFamily="34" charset="-122"/>
                <a:cs typeface="Calibri" pitchFamily="34" charset="-120"/>
              </a:rPr>
              <a:t>OUTPUT</a:t>
            </a:r>
            <a:endParaRPr lang="en-US" sz="950" dirty="0"/>
          </a:p>
        </p:txBody>
      </p:sp>
      <p:sp>
        <p:nvSpPr>
          <p:cNvPr id="14" name="Text 12"/>
          <p:cNvSpPr/>
          <p:nvPr/>
        </p:nvSpPr>
        <p:spPr>
          <a:xfrm>
            <a:off x="5623560" y="1883664"/>
            <a:ext cx="3108960" cy="1234440"/>
          </a:xfrm>
          <a:prstGeom prst="rect">
            <a:avLst/>
          </a:prstGeom>
          <a:noFill/>
          <a:ln/>
        </p:spPr>
        <p:txBody>
          <a:bodyPr wrap="square" rtlCol="0" anchor="ctr"/>
          <a:lstStyle/>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Unit test suite</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Integration test suite</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Socket lifecycle tests</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CI-runnable test baseline</a:t>
            </a:r>
            <a:endParaRPr lang="en-US" sz="980" dirty="0"/>
          </a:p>
        </p:txBody>
      </p:sp>
      <p:sp>
        <p:nvSpPr>
          <p:cNvPr id="15" name="Shape 13"/>
          <p:cNvSpPr/>
          <p:nvPr/>
        </p:nvSpPr>
        <p:spPr>
          <a:xfrm>
            <a:off x="5486400" y="3291840"/>
            <a:ext cx="3383280" cy="1645920"/>
          </a:xfrm>
          <a:prstGeom prst="rect">
            <a:avLst/>
          </a:prstGeom>
          <a:solidFill>
            <a:srgbClr val="1E293B"/>
          </a:solidFill>
          <a:ln w="9525">
            <a:solidFill>
              <a:srgbClr val="FBBF24"/>
            </a:solidFill>
            <a:prstDash val="solid"/>
          </a:ln>
          <a:effectLst>
            <a:outerShdw sx="100000" sy="100000" kx="0" ky="0" algn="bl" rotWithShape="0" blurRad="76200" dist="25400" dir="8100000">
              <a:srgbClr val="000000">
                <a:alpha val="22000"/>
              </a:srgbClr>
            </a:outerShdw>
          </a:effectLst>
        </p:spPr>
      </p:sp>
      <p:sp>
        <p:nvSpPr>
          <p:cNvPr id="16" name="Text 14"/>
          <p:cNvSpPr/>
          <p:nvPr/>
        </p:nvSpPr>
        <p:spPr>
          <a:xfrm>
            <a:off x="5623560" y="3364992"/>
            <a:ext cx="3108960" cy="246888"/>
          </a:xfrm>
          <a:prstGeom prst="rect">
            <a:avLst/>
          </a:prstGeom>
          <a:noFill/>
          <a:ln/>
        </p:spPr>
        <p:txBody>
          <a:bodyPr wrap="square" rtlCol="0" anchor="ctr"/>
          <a:lstStyle/>
          <a:p>
            <a:pPr indent="0" marL="0">
              <a:buNone/>
            </a:pPr>
            <a:r>
              <a:rPr lang="en-US" sz="900" b="1" spc="100" kern="0" dirty="0">
                <a:solidFill>
                  <a:srgbClr val="FBBF24"/>
                </a:solidFill>
                <a:latin typeface="Calibri" pitchFamily="34" charset="0"/>
                <a:ea typeface="Calibri" pitchFamily="34" charset="-122"/>
                <a:cs typeface="Calibri" pitchFamily="34" charset="-120"/>
              </a:rPr>
              <a:t>WHY THIS PHASE EXISTS</a:t>
            </a:r>
            <a:endParaRPr lang="en-US" sz="900" dirty="0"/>
          </a:p>
        </p:txBody>
      </p:sp>
      <p:sp>
        <p:nvSpPr>
          <p:cNvPr id="17" name="Text 15"/>
          <p:cNvSpPr/>
          <p:nvPr/>
        </p:nvSpPr>
        <p:spPr>
          <a:xfrm>
            <a:off x="5623560" y="3648456"/>
            <a:ext cx="3108960" cy="1216152"/>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Tests are not optional in a production system — they are the mechanism that lets you change Phase 3 code in Phase 8 without breaking Phase 5. Every feature addition depends on the stability of all previous phases.</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EF4444"/>
          </a:solidFill>
          <a:ln/>
        </p:spPr>
      </p:sp>
      <p:sp>
        <p:nvSpPr>
          <p:cNvPr id="3" name="Shape 1"/>
          <p:cNvSpPr/>
          <p:nvPr/>
        </p:nvSpPr>
        <p:spPr>
          <a:xfrm>
            <a:off x="274320" y="128016"/>
            <a:ext cx="804672" cy="512064"/>
          </a:xfrm>
          <a:prstGeom prst="rect">
            <a:avLst/>
          </a:prstGeom>
          <a:solidFill>
            <a:srgbClr val="EF4444"/>
          </a:solidFill>
          <a:ln/>
        </p:spPr>
      </p:sp>
      <p:sp>
        <p:nvSpPr>
          <p:cNvPr id="4" name="Text 2"/>
          <p:cNvSpPr/>
          <p:nvPr/>
        </p:nvSpPr>
        <p:spPr>
          <a:xfrm>
            <a:off x="274320" y="128016"/>
            <a:ext cx="804672" cy="512064"/>
          </a:xfrm>
          <a:prstGeom prst="rect">
            <a:avLst/>
          </a:prstGeom>
          <a:noFill/>
          <a:ln/>
        </p:spPr>
        <p:txBody>
          <a:bodyPr wrap="square" rtlCol="0" anchor="ctr"/>
          <a:lstStyle/>
          <a:p>
            <a:pPr algn="ctr" indent="0" marL="0">
              <a:buNone/>
            </a:pPr>
            <a:r>
              <a:rPr lang="en-US" sz="2000" b="1" dirty="0">
                <a:solidFill>
                  <a:srgbClr val="0F172A"/>
                </a:solidFill>
                <a:latin typeface="Calibri" pitchFamily="34" charset="0"/>
                <a:ea typeface="Calibri" pitchFamily="34" charset="-122"/>
                <a:cs typeface="Calibri" pitchFamily="34" charset="-120"/>
              </a:rPr>
              <a:t>P11</a:t>
            </a:r>
            <a:endParaRPr lang="en-US" sz="2000" dirty="0"/>
          </a:p>
        </p:txBody>
      </p:sp>
      <p:sp>
        <p:nvSpPr>
          <p:cNvPr id="5" name="Text 3"/>
          <p:cNvSpPr/>
          <p:nvPr/>
        </p:nvSpPr>
        <p:spPr>
          <a:xfrm>
            <a:off x="1216152" y="155448"/>
            <a:ext cx="7653528" cy="457200"/>
          </a:xfrm>
          <a:prstGeom prst="rect">
            <a:avLst/>
          </a:prstGeom>
          <a:noFill/>
          <a:ln/>
        </p:spPr>
        <p:txBody>
          <a:bodyPr wrap="square" rtlCol="0" anchor="ctr"/>
          <a:lstStyle/>
          <a:p>
            <a:pPr indent="0" marL="0">
              <a:buNone/>
            </a:pPr>
            <a:r>
              <a:rPr lang="en-US" sz="2100" b="1" dirty="0">
                <a:solidFill>
                  <a:srgbClr val="F1F5F9"/>
                </a:solidFill>
                <a:latin typeface="Calibri" pitchFamily="34" charset="0"/>
                <a:ea typeface="Calibri" pitchFamily="34" charset="-122"/>
                <a:cs typeface="Calibri" pitchFamily="34" charset="-120"/>
              </a:rPr>
              <a:t>Phase 11 — Load + Performance Testing</a:t>
            </a:r>
            <a:endParaRPr lang="en-US" sz="2100" dirty="0"/>
          </a:p>
        </p:txBody>
      </p:sp>
      <p:sp>
        <p:nvSpPr>
          <p:cNvPr id="6" name="Text 4"/>
          <p:cNvSpPr/>
          <p:nvPr/>
        </p:nvSpPr>
        <p:spPr>
          <a:xfrm>
            <a:off x="274320" y="704088"/>
            <a:ext cx="8595360" cy="246888"/>
          </a:xfrm>
          <a:prstGeom prst="rect">
            <a:avLst/>
          </a:prstGeom>
          <a:noFill/>
          <a:ln/>
        </p:spPr>
        <p:txBody>
          <a:bodyPr wrap="square" rtlCol="0" anchor="ctr"/>
          <a:lstStyle/>
          <a:p>
            <a:pPr indent="0" marL="0">
              <a:buNone/>
            </a:pPr>
            <a:r>
              <a:rPr lang="en-US" sz="1100" i="1" dirty="0">
                <a:solidFill>
                  <a:srgbClr val="94A3B8"/>
                </a:solidFill>
                <a:latin typeface="Calibri" pitchFamily="34" charset="0"/>
                <a:ea typeface="Calibri" pitchFamily="34" charset="-122"/>
                <a:cs typeface="Calibri" pitchFamily="34" charset="-120"/>
              </a:rPr>
              <a:t>Your architecture is only as scalable as you can prove with actual numbers</a:t>
            </a:r>
            <a:endParaRPr lang="en-US" sz="1100" dirty="0"/>
          </a:p>
        </p:txBody>
      </p:sp>
      <p:sp>
        <p:nvSpPr>
          <p:cNvPr id="7" name="Shape 5"/>
          <p:cNvSpPr/>
          <p:nvPr/>
        </p:nvSpPr>
        <p:spPr>
          <a:xfrm>
            <a:off x="274320" y="1005840"/>
            <a:ext cx="8595360" cy="420624"/>
          </a:xfrm>
          <a:prstGeom prst="rect">
            <a:avLst/>
          </a:prstGeom>
          <a:solidFill>
            <a:srgbClr val="0D1929"/>
          </a:solidFill>
          <a:ln w="9525">
            <a:solidFill>
              <a:srgbClr val="EF4444"/>
            </a:solidFill>
            <a:prstDash val="solid"/>
          </a:ln>
        </p:spPr>
      </p:sp>
      <p:sp>
        <p:nvSpPr>
          <p:cNvPr id="8" name="Text 6"/>
          <p:cNvSpPr/>
          <p:nvPr/>
        </p:nvSpPr>
        <p:spPr>
          <a:xfrm>
            <a:off x="411480" y="1005840"/>
            <a:ext cx="8321040" cy="420624"/>
          </a:xfrm>
          <a:prstGeom prst="rect">
            <a:avLst/>
          </a:prstGeom>
          <a:noFill/>
          <a:ln/>
        </p:spPr>
        <p:txBody>
          <a:bodyPr wrap="square" rtlCol="0" anchor="ctr"/>
          <a:lstStyle/>
          <a:p>
            <a:pPr indent="0" marL="0">
              <a:buNone/>
            </a:pPr>
            <a:r>
              <a:rPr lang="en-US" sz="1150" b="1" dirty="0">
                <a:solidFill>
                  <a:srgbClr val="EF4444"/>
                </a:solidFill>
                <a:latin typeface="Calibri" pitchFamily="34" charset="0"/>
                <a:ea typeface="Calibri" pitchFamily="34" charset="-122"/>
                <a:cs typeface="Calibri" pitchFamily="34" charset="-120"/>
              </a:rPr>
              <a:t>GOAL  ·  Validate horizontal scaling claims through measurable load tests</a:t>
            </a:r>
            <a:endParaRPr lang="en-US" sz="1150" dirty="0"/>
          </a:p>
        </p:txBody>
      </p:sp>
      <p:sp>
        <p:nvSpPr>
          <p:cNvPr id="9" name="Shape 7"/>
          <p:cNvSpPr/>
          <p:nvPr/>
        </p:nvSpPr>
        <p:spPr>
          <a:xfrm>
            <a:off x="274320" y="1508760"/>
            <a:ext cx="5029200" cy="3429000"/>
          </a:xfrm>
          <a:prstGeom prst="rect">
            <a:avLst/>
          </a:prstGeom>
          <a:solidFill>
            <a:srgbClr val="1E293B"/>
          </a:solidFill>
          <a:ln w="6350">
            <a:solidFill>
              <a:srgbClr val="334155"/>
            </a:solidFill>
            <a:prstDash val="solid"/>
          </a:ln>
          <a:effectLst>
            <a:outerShdw sx="100000" sy="100000" kx="0" ky="0" algn="bl" rotWithShape="0" blurRad="76200" dist="25400" dir="8100000">
              <a:srgbClr val="000000">
                <a:alpha val="22000"/>
              </a:srgbClr>
            </a:outerShdw>
          </a:effectLst>
        </p:spPr>
      </p:sp>
      <p:sp>
        <p:nvSpPr>
          <p:cNvPr id="10" name="Text 8"/>
          <p:cNvSpPr/>
          <p:nvPr/>
        </p:nvSpPr>
        <p:spPr>
          <a:xfrm>
            <a:off x="411480" y="1581912"/>
            <a:ext cx="4754880" cy="246888"/>
          </a:xfrm>
          <a:prstGeom prst="rect">
            <a:avLst/>
          </a:prstGeom>
          <a:noFill/>
          <a:ln/>
        </p:spPr>
        <p:txBody>
          <a:bodyPr wrap="square" rtlCol="0" anchor="ctr"/>
          <a:lstStyle/>
          <a:p>
            <a:pPr indent="0" marL="0">
              <a:buNone/>
            </a:pPr>
            <a:r>
              <a:rPr lang="en-US" sz="950" b="1" spc="200" kern="0" dirty="0">
                <a:solidFill>
                  <a:srgbClr val="94A3B8"/>
                </a:solidFill>
                <a:latin typeface="Calibri" pitchFamily="34" charset="0"/>
                <a:ea typeface="Calibri" pitchFamily="34" charset="-122"/>
                <a:cs typeface="Calibri" pitchFamily="34" charset="-120"/>
              </a:rPr>
              <a:t>TASKS</a:t>
            </a:r>
            <a:endParaRPr lang="en-US" sz="950" dirty="0"/>
          </a:p>
        </p:txBody>
      </p:sp>
      <p:sp>
        <p:nvSpPr>
          <p:cNvPr id="11" name="Text 9"/>
          <p:cNvSpPr/>
          <p:nvPr/>
        </p:nvSpPr>
        <p:spPr>
          <a:xfrm>
            <a:off x="411480" y="1883664"/>
            <a:ext cx="4754880" cy="2980944"/>
          </a:xfrm>
          <a:prstGeom prst="rect">
            <a:avLst/>
          </a:prstGeom>
          <a:noFill/>
          <a:ln/>
        </p:spPr>
        <p:txBody>
          <a:bodyPr wrap="square" rtlCol="0" anchor="ctr"/>
          <a:lstStyle/>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Set up k6 and Artillery test suites</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Simulate 500–1000 concurrent WebSocket connections</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Load test matchmaking queue throughput and pairing latency</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Measure WebSocket message latency at p50, p95, p99</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Measure Redis operation latency under concurrent load</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Profile PostgreSQL query times under realistic load</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Run soak tests — sustained load for 20–30 minutes</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Find and document the breaking point via stress tests</a:t>
            </a:r>
            <a:endParaRPr lang="en-US" sz="980" dirty="0"/>
          </a:p>
        </p:txBody>
      </p:sp>
      <p:sp>
        <p:nvSpPr>
          <p:cNvPr id="12" name="Shape 10"/>
          <p:cNvSpPr/>
          <p:nvPr/>
        </p:nvSpPr>
        <p:spPr>
          <a:xfrm>
            <a:off x="5486400" y="1508760"/>
            <a:ext cx="3383280" cy="1664208"/>
          </a:xfrm>
          <a:prstGeom prst="rect">
            <a:avLst/>
          </a:prstGeom>
          <a:solidFill>
            <a:srgbClr val="1E293B"/>
          </a:solidFill>
          <a:ln w="9525">
            <a:solidFill>
              <a:srgbClr val="4ADE80"/>
            </a:solidFill>
            <a:prstDash val="solid"/>
          </a:ln>
          <a:effectLst>
            <a:outerShdw sx="100000" sy="100000" kx="0" ky="0" algn="bl" rotWithShape="0" blurRad="76200" dist="25400" dir="8100000">
              <a:srgbClr val="000000">
                <a:alpha val="22000"/>
              </a:srgbClr>
            </a:outerShdw>
          </a:effectLst>
        </p:spPr>
      </p:sp>
      <p:sp>
        <p:nvSpPr>
          <p:cNvPr id="13" name="Text 11"/>
          <p:cNvSpPr/>
          <p:nvPr/>
        </p:nvSpPr>
        <p:spPr>
          <a:xfrm>
            <a:off x="5623560" y="1581912"/>
            <a:ext cx="3108960" cy="246888"/>
          </a:xfrm>
          <a:prstGeom prst="rect">
            <a:avLst/>
          </a:prstGeom>
          <a:noFill/>
          <a:ln/>
        </p:spPr>
        <p:txBody>
          <a:bodyPr wrap="square" rtlCol="0" anchor="ctr"/>
          <a:lstStyle/>
          <a:p>
            <a:pPr indent="0" marL="0">
              <a:buNone/>
            </a:pPr>
            <a:r>
              <a:rPr lang="en-US" sz="950" b="1" spc="200" kern="0" dirty="0">
                <a:solidFill>
                  <a:srgbClr val="4ADE80"/>
                </a:solidFill>
                <a:latin typeface="Calibri" pitchFamily="34" charset="0"/>
                <a:ea typeface="Calibri" pitchFamily="34" charset="-122"/>
                <a:cs typeface="Calibri" pitchFamily="34" charset="-120"/>
              </a:rPr>
              <a:t>OUTPUT</a:t>
            </a:r>
            <a:endParaRPr lang="en-US" sz="950" dirty="0"/>
          </a:p>
        </p:txBody>
      </p:sp>
      <p:sp>
        <p:nvSpPr>
          <p:cNvPr id="14" name="Text 12"/>
          <p:cNvSpPr/>
          <p:nvPr/>
        </p:nvSpPr>
        <p:spPr>
          <a:xfrm>
            <a:off x="5623560" y="1883664"/>
            <a:ext cx="3108960" cy="1234440"/>
          </a:xfrm>
          <a:prstGeom prst="rect">
            <a:avLst/>
          </a:prstGeom>
          <a:noFill/>
          <a:ln/>
        </p:spPr>
        <p:txBody>
          <a:bodyPr wrap="square" rtlCol="0" anchor="ctr"/>
          <a:lstStyle/>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Performance benchmark report</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Bottleneck analysis</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Concrete latency numbers</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Evidence-backed scaling claims</a:t>
            </a:r>
            <a:endParaRPr lang="en-US" sz="980" dirty="0"/>
          </a:p>
        </p:txBody>
      </p:sp>
      <p:sp>
        <p:nvSpPr>
          <p:cNvPr id="15" name="Shape 13"/>
          <p:cNvSpPr/>
          <p:nvPr/>
        </p:nvSpPr>
        <p:spPr>
          <a:xfrm>
            <a:off x="5486400" y="3291840"/>
            <a:ext cx="3383280" cy="1645920"/>
          </a:xfrm>
          <a:prstGeom prst="rect">
            <a:avLst/>
          </a:prstGeom>
          <a:solidFill>
            <a:srgbClr val="1E293B"/>
          </a:solidFill>
          <a:ln w="9525">
            <a:solidFill>
              <a:srgbClr val="EF4444"/>
            </a:solidFill>
            <a:prstDash val="solid"/>
          </a:ln>
          <a:effectLst>
            <a:outerShdw sx="100000" sy="100000" kx="0" ky="0" algn="bl" rotWithShape="0" blurRad="76200" dist="25400" dir="8100000">
              <a:srgbClr val="000000">
                <a:alpha val="22000"/>
              </a:srgbClr>
            </a:outerShdw>
          </a:effectLst>
        </p:spPr>
      </p:sp>
      <p:sp>
        <p:nvSpPr>
          <p:cNvPr id="16" name="Text 14"/>
          <p:cNvSpPr/>
          <p:nvPr/>
        </p:nvSpPr>
        <p:spPr>
          <a:xfrm>
            <a:off x="5623560" y="3364992"/>
            <a:ext cx="3108960" cy="246888"/>
          </a:xfrm>
          <a:prstGeom prst="rect">
            <a:avLst/>
          </a:prstGeom>
          <a:noFill/>
          <a:ln/>
        </p:spPr>
        <p:txBody>
          <a:bodyPr wrap="square" rtlCol="0" anchor="ctr"/>
          <a:lstStyle/>
          <a:p>
            <a:pPr indent="0" marL="0">
              <a:buNone/>
            </a:pPr>
            <a:r>
              <a:rPr lang="en-US" sz="900" b="1" spc="100" kern="0" dirty="0">
                <a:solidFill>
                  <a:srgbClr val="EF4444"/>
                </a:solidFill>
                <a:latin typeface="Calibri" pitchFamily="34" charset="0"/>
                <a:ea typeface="Calibri" pitchFamily="34" charset="-122"/>
                <a:cs typeface="Calibri" pitchFamily="34" charset="-120"/>
              </a:rPr>
              <a:t>WHY THIS PHASE EXISTS</a:t>
            </a:r>
            <a:endParaRPr lang="en-US" sz="900" dirty="0"/>
          </a:p>
        </p:txBody>
      </p:sp>
      <p:sp>
        <p:nvSpPr>
          <p:cNvPr id="17" name="Text 15"/>
          <p:cNvSpPr/>
          <p:nvPr/>
        </p:nvSpPr>
        <p:spPr>
          <a:xfrm>
            <a:off x="5623560" y="3648456"/>
            <a:ext cx="3108960" cy="1216152"/>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Anyone can say 'it scales with Redis'. You want to be the engineer who shows the graph. Load testing turns 'scalable architecture' from a claim into a measurable fact with specific answers to interview questions about capacity.</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8B5CF6"/>
          </a:solidFill>
          <a:ln/>
        </p:spPr>
      </p:sp>
      <p:sp>
        <p:nvSpPr>
          <p:cNvPr id="3" name="Shape 1"/>
          <p:cNvSpPr/>
          <p:nvPr/>
        </p:nvSpPr>
        <p:spPr>
          <a:xfrm>
            <a:off x="274320" y="128016"/>
            <a:ext cx="804672" cy="512064"/>
          </a:xfrm>
          <a:prstGeom prst="rect">
            <a:avLst/>
          </a:prstGeom>
          <a:solidFill>
            <a:srgbClr val="8B5CF6"/>
          </a:solidFill>
          <a:ln/>
        </p:spPr>
      </p:sp>
      <p:sp>
        <p:nvSpPr>
          <p:cNvPr id="4" name="Text 2"/>
          <p:cNvSpPr/>
          <p:nvPr/>
        </p:nvSpPr>
        <p:spPr>
          <a:xfrm>
            <a:off x="274320" y="128016"/>
            <a:ext cx="804672" cy="512064"/>
          </a:xfrm>
          <a:prstGeom prst="rect">
            <a:avLst/>
          </a:prstGeom>
          <a:noFill/>
          <a:ln/>
        </p:spPr>
        <p:txBody>
          <a:bodyPr wrap="square" rtlCol="0" anchor="ctr"/>
          <a:lstStyle/>
          <a:p>
            <a:pPr algn="ctr" indent="0" marL="0">
              <a:buNone/>
            </a:pPr>
            <a:r>
              <a:rPr lang="en-US" sz="2000" b="1" dirty="0">
                <a:solidFill>
                  <a:srgbClr val="0F172A"/>
                </a:solidFill>
                <a:latin typeface="Calibri" pitchFamily="34" charset="0"/>
                <a:ea typeface="Calibri" pitchFamily="34" charset="-122"/>
                <a:cs typeface="Calibri" pitchFamily="34" charset="-120"/>
              </a:rPr>
              <a:t>P12</a:t>
            </a:r>
            <a:endParaRPr lang="en-US" sz="2000" dirty="0"/>
          </a:p>
        </p:txBody>
      </p:sp>
      <p:sp>
        <p:nvSpPr>
          <p:cNvPr id="5" name="Text 3"/>
          <p:cNvSpPr/>
          <p:nvPr/>
        </p:nvSpPr>
        <p:spPr>
          <a:xfrm>
            <a:off x="1216152" y="155448"/>
            <a:ext cx="7653528" cy="457200"/>
          </a:xfrm>
          <a:prstGeom prst="rect">
            <a:avLst/>
          </a:prstGeom>
          <a:noFill/>
          <a:ln/>
        </p:spPr>
        <p:txBody>
          <a:bodyPr wrap="square" rtlCol="0" anchor="ctr"/>
          <a:lstStyle/>
          <a:p>
            <a:pPr indent="0" marL="0">
              <a:buNone/>
            </a:pPr>
            <a:r>
              <a:rPr lang="en-US" sz="2100" b="1" dirty="0">
                <a:solidFill>
                  <a:srgbClr val="F1F5F9"/>
                </a:solidFill>
                <a:latin typeface="Calibri" pitchFamily="34" charset="0"/>
                <a:ea typeface="Calibri" pitchFamily="34" charset="-122"/>
                <a:cs typeface="Calibri" pitchFamily="34" charset="-120"/>
              </a:rPr>
              <a:t>Phase 12 — Observability + Monitoring</a:t>
            </a:r>
            <a:endParaRPr lang="en-US" sz="2100" dirty="0"/>
          </a:p>
        </p:txBody>
      </p:sp>
      <p:sp>
        <p:nvSpPr>
          <p:cNvPr id="6" name="Text 4"/>
          <p:cNvSpPr/>
          <p:nvPr/>
        </p:nvSpPr>
        <p:spPr>
          <a:xfrm>
            <a:off x="274320" y="704088"/>
            <a:ext cx="8595360" cy="246888"/>
          </a:xfrm>
          <a:prstGeom prst="rect">
            <a:avLst/>
          </a:prstGeom>
          <a:noFill/>
          <a:ln/>
        </p:spPr>
        <p:txBody>
          <a:bodyPr wrap="square" rtlCol="0" anchor="ctr"/>
          <a:lstStyle/>
          <a:p>
            <a:pPr indent="0" marL="0">
              <a:buNone/>
            </a:pPr>
            <a:r>
              <a:rPr lang="en-US" sz="1100" i="1" dirty="0">
                <a:solidFill>
                  <a:srgbClr val="94A3B8"/>
                </a:solidFill>
                <a:latin typeface="Calibri" pitchFamily="34" charset="0"/>
                <a:ea typeface="Calibri" pitchFamily="34" charset="-122"/>
                <a:cs typeface="Calibri" pitchFamily="34" charset="-120"/>
              </a:rPr>
              <a:t>Production systems are always observable — yours should be too</a:t>
            </a:r>
            <a:endParaRPr lang="en-US" sz="1100" dirty="0"/>
          </a:p>
        </p:txBody>
      </p:sp>
      <p:sp>
        <p:nvSpPr>
          <p:cNvPr id="7" name="Shape 5"/>
          <p:cNvSpPr/>
          <p:nvPr/>
        </p:nvSpPr>
        <p:spPr>
          <a:xfrm>
            <a:off x="274320" y="1005840"/>
            <a:ext cx="8595360" cy="420624"/>
          </a:xfrm>
          <a:prstGeom prst="rect">
            <a:avLst/>
          </a:prstGeom>
          <a:solidFill>
            <a:srgbClr val="0D1929"/>
          </a:solidFill>
          <a:ln w="9525">
            <a:solidFill>
              <a:srgbClr val="8B5CF6"/>
            </a:solidFill>
            <a:prstDash val="solid"/>
          </a:ln>
        </p:spPr>
      </p:sp>
      <p:sp>
        <p:nvSpPr>
          <p:cNvPr id="8" name="Text 6"/>
          <p:cNvSpPr/>
          <p:nvPr/>
        </p:nvSpPr>
        <p:spPr>
          <a:xfrm>
            <a:off x="411480" y="1005840"/>
            <a:ext cx="8321040" cy="420624"/>
          </a:xfrm>
          <a:prstGeom prst="rect">
            <a:avLst/>
          </a:prstGeom>
          <a:noFill/>
          <a:ln/>
        </p:spPr>
        <p:txBody>
          <a:bodyPr wrap="square" rtlCol="0" anchor="ctr"/>
          <a:lstStyle/>
          <a:p>
            <a:pPr indent="0" marL="0">
              <a:buNone/>
            </a:pPr>
            <a:r>
              <a:rPr lang="en-US" sz="1150" b="1" dirty="0">
                <a:solidFill>
                  <a:srgbClr val="8B5CF6"/>
                </a:solidFill>
                <a:latin typeface="Calibri" pitchFamily="34" charset="0"/>
                <a:ea typeface="Calibri" pitchFamily="34" charset="-122"/>
                <a:cs typeface="Calibri" pitchFamily="34" charset="-120"/>
              </a:rPr>
              <a:t>GOAL  ·  Make the system's internal state visible and fully debuggable</a:t>
            </a:r>
            <a:endParaRPr lang="en-US" sz="1150" dirty="0"/>
          </a:p>
        </p:txBody>
      </p:sp>
      <p:sp>
        <p:nvSpPr>
          <p:cNvPr id="9" name="Shape 7"/>
          <p:cNvSpPr/>
          <p:nvPr/>
        </p:nvSpPr>
        <p:spPr>
          <a:xfrm>
            <a:off x="274320" y="1508760"/>
            <a:ext cx="5029200" cy="3429000"/>
          </a:xfrm>
          <a:prstGeom prst="rect">
            <a:avLst/>
          </a:prstGeom>
          <a:solidFill>
            <a:srgbClr val="1E293B"/>
          </a:solidFill>
          <a:ln w="6350">
            <a:solidFill>
              <a:srgbClr val="334155"/>
            </a:solidFill>
            <a:prstDash val="solid"/>
          </a:ln>
          <a:effectLst>
            <a:outerShdw sx="100000" sy="100000" kx="0" ky="0" algn="bl" rotWithShape="0" blurRad="76200" dist="25400" dir="8100000">
              <a:srgbClr val="000000">
                <a:alpha val="22000"/>
              </a:srgbClr>
            </a:outerShdw>
          </a:effectLst>
        </p:spPr>
      </p:sp>
      <p:sp>
        <p:nvSpPr>
          <p:cNvPr id="10" name="Text 8"/>
          <p:cNvSpPr/>
          <p:nvPr/>
        </p:nvSpPr>
        <p:spPr>
          <a:xfrm>
            <a:off x="411480" y="1581912"/>
            <a:ext cx="4754880" cy="246888"/>
          </a:xfrm>
          <a:prstGeom prst="rect">
            <a:avLst/>
          </a:prstGeom>
          <a:noFill/>
          <a:ln/>
        </p:spPr>
        <p:txBody>
          <a:bodyPr wrap="square" rtlCol="0" anchor="ctr"/>
          <a:lstStyle/>
          <a:p>
            <a:pPr indent="0" marL="0">
              <a:buNone/>
            </a:pPr>
            <a:r>
              <a:rPr lang="en-US" sz="950" b="1" spc="200" kern="0" dirty="0">
                <a:solidFill>
                  <a:srgbClr val="94A3B8"/>
                </a:solidFill>
                <a:latin typeface="Calibri" pitchFamily="34" charset="0"/>
                <a:ea typeface="Calibri" pitchFamily="34" charset="-122"/>
                <a:cs typeface="Calibri" pitchFamily="34" charset="-120"/>
              </a:rPr>
              <a:t>TASKS</a:t>
            </a:r>
            <a:endParaRPr lang="en-US" sz="950" dirty="0"/>
          </a:p>
        </p:txBody>
      </p:sp>
      <p:sp>
        <p:nvSpPr>
          <p:cNvPr id="11" name="Text 9"/>
          <p:cNvSpPr/>
          <p:nvPr/>
        </p:nvSpPr>
        <p:spPr>
          <a:xfrm>
            <a:off x="411480" y="1883664"/>
            <a:ext cx="4754880" cy="2980944"/>
          </a:xfrm>
          <a:prstGeom prst="rect">
            <a:avLst/>
          </a:prstGeom>
          <a:noFill/>
          <a:ln/>
        </p:spPr>
        <p:txBody>
          <a:bodyPr wrap="square" rtlCol="0" anchor="ctr"/>
          <a:lstStyle/>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Set up Winston structured logging in JSON format</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Add request ID generation and end-to-end propagation</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Log all socket events with userId and roomId context</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Track metrics: room count, queue depth, error rate</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Track matchmaking latency and socket disconnect rate</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Add /health endpoint for load balancer health probes</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Add /ready endpoint checking DB + Redis connectivity</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Document alert thresholds for key failure conditions</a:t>
            </a:r>
            <a:endParaRPr lang="en-US" sz="980" dirty="0"/>
          </a:p>
        </p:txBody>
      </p:sp>
      <p:sp>
        <p:nvSpPr>
          <p:cNvPr id="12" name="Shape 10"/>
          <p:cNvSpPr/>
          <p:nvPr/>
        </p:nvSpPr>
        <p:spPr>
          <a:xfrm>
            <a:off x="5486400" y="1508760"/>
            <a:ext cx="3383280" cy="1664208"/>
          </a:xfrm>
          <a:prstGeom prst="rect">
            <a:avLst/>
          </a:prstGeom>
          <a:solidFill>
            <a:srgbClr val="1E293B"/>
          </a:solidFill>
          <a:ln w="9525">
            <a:solidFill>
              <a:srgbClr val="4ADE80"/>
            </a:solidFill>
            <a:prstDash val="solid"/>
          </a:ln>
          <a:effectLst>
            <a:outerShdw sx="100000" sy="100000" kx="0" ky="0" algn="bl" rotWithShape="0" blurRad="76200" dist="25400" dir="8100000">
              <a:srgbClr val="000000">
                <a:alpha val="22000"/>
              </a:srgbClr>
            </a:outerShdw>
          </a:effectLst>
        </p:spPr>
      </p:sp>
      <p:sp>
        <p:nvSpPr>
          <p:cNvPr id="13" name="Text 11"/>
          <p:cNvSpPr/>
          <p:nvPr/>
        </p:nvSpPr>
        <p:spPr>
          <a:xfrm>
            <a:off x="5623560" y="1581912"/>
            <a:ext cx="3108960" cy="246888"/>
          </a:xfrm>
          <a:prstGeom prst="rect">
            <a:avLst/>
          </a:prstGeom>
          <a:noFill/>
          <a:ln/>
        </p:spPr>
        <p:txBody>
          <a:bodyPr wrap="square" rtlCol="0" anchor="ctr"/>
          <a:lstStyle/>
          <a:p>
            <a:pPr indent="0" marL="0">
              <a:buNone/>
            </a:pPr>
            <a:r>
              <a:rPr lang="en-US" sz="950" b="1" spc="200" kern="0" dirty="0">
                <a:solidFill>
                  <a:srgbClr val="4ADE80"/>
                </a:solidFill>
                <a:latin typeface="Calibri" pitchFamily="34" charset="0"/>
                <a:ea typeface="Calibri" pitchFamily="34" charset="-122"/>
                <a:cs typeface="Calibri" pitchFamily="34" charset="-120"/>
              </a:rPr>
              <a:t>OUTPUT</a:t>
            </a:r>
            <a:endParaRPr lang="en-US" sz="950" dirty="0"/>
          </a:p>
        </p:txBody>
      </p:sp>
      <p:sp>
        <p:nvSpPr>
          <p:cNvPr id="14" name="Text 12"/>
          <p:cNvSpPr/>
          <p:nvPr/>
        </p:nvSpPr>
        <p:spPr>
          <a:xfrm>
            <a:off x="5623560" y="1883664"/>
            <a:ext cx="3108960" cy="1234440"/>
          </a:xfrm>
          <a:prstGeom prst="rect">
            <a:avLst/>
          </a:prstGeom>
          <a:noFill/>
          <a:ln/>
        </p:spPr>
        <p:txBody>
          <a:bodyPr wrap="square" rtlCol="0" anchor="ctr"/>
          <a:lstStyle/>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Structured JSON logging</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End-to-end tracing</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Health + readiness endpoints</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Production-grade debuggability</a:t>
            </a:r>
            <a:endParaRPr lang="en-US" sz="980" dirty="0"/>
          </a:p>
        </p:txBody>
      </p:sp>
      <p:sp>
        <p:nvSpPr>
          <p:cNvPr id="15" name="Shape 13"/>
          <p:cNvSpPr/>
          <p:nvPr/>
        </p:nvSpPr>
        <p:spPr>
          <a:xfrm>
            <a:off x="5486400" y="3291840"/>
            <a:ext cx="3383280" cy="1645920"/>
          </a:xfrm>
          <a:prstGeom prst="rect">
            <a:avLst/>
          </a:prstGeom>
          <a:solidFill>
            <a:srgbClr val="1E293B"/>
          </a:solidFill>
          <a:ln w="9525">
            <a:solidFill>
              <a:srgbClr val="8B5CF6"/>
            </a:solidFill>
            <a:prstDash val="solid"/>
          </a:ln>
          <a:effectLst>
            <a:outerShdw sx="100000" sy="100000" kx="0" ky="0" algn="bl" rotWithShape="0" blurRad="76200" dist="25400" dir="8100000">
              <a:srgbClr val="000000">
                <a:alpha val="22000"/>
              </a:srgbClr>
            </a:outerShdw>
          </a:effectLst>
        </p:spPr>
      </p:sp>
      <p:sp>
        <p:nvSpPr>
          <p:cNvPr id="16" name="Text 14"/>
          <p:cNvSpPr/>
          <p:nvPr/>
        </p:nvSpPr>
        <p:spPr>
          <a:xfrm>
            <a:off x="5623560" y="3364992"/>
            <a:ext cx="3108960" cy="246888"/>
          </a:xfrm>
          <a:prstGeom prst="rect">
            <a:avLst/>
          </a:prstGeom>
          <a:noFill/>
          <a:ln/>
        </p:spPr>
        <p:txBody>
          <a:bodyPr wrap="square" rtlCol="0" anchor="ctr"/>
          <a:lstStyle/>
          <a:p>
            <a:pPr indent="0" marL="0">
              <a:buNone/>
            </a:pPr>
            <a:r>
              <a:rPr lang="en-US" sz="900" b="1" spc="100" kern="0" dirty="0">
                <a:solidFill>
                  <a:srgbClr val="8B5CF6"/>
                </a:solidFill>
                <a:latin typeface="Calibri" pitchFamily="34" charset="0"/>
                <a:ea typeface="Calibri" pitchFamily="34" charset="-122"/>
                <a:cs typeface="Calibri" pitchFamily="34" charset="-120"/>
              </a:rPr>
              <a:t>WHY THIS PHASE EXISTS</a:t>
            </a:r>
            <a:endParaRPr lang="en-US" sz="900" dirty="0"/>
          </a:p>
        </p:txBody>
      </p:sp>
      <p:sp>
        <p:nvSpPr>
          <p:cNvPr id="17" name="Text 15"/>
          <p:cNvSpPr/>
          <p:nvPr/>
        </p:nvSpPr>
        <p:spPr>
          <a:xfrm>
            <a:off x="5623560" y="3648456"/>
            <a:ext cx="3108960" cy="1216152"/>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When a bug occurs in production at 2am, structured logs with request IDs are your only window. They let you trace one user's failed match across 20 log lines in seconds rather than hours.</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14B8A6"/>
          </a:solidFill>
          <a:ln/>
        </p:spPr>
      </p:sp>
      <p:sp>
        <p:nvSpPr>
          <p:cNvPr id="3" name="Shape 1"/>
          <p:cNvSpPr/>
          <p:nvPr/>
        </p:nvSpPr>
        <p:spPr>
          <a:xfrm>
            <a:off x="274320" y="128016"/>
            <a:ext cx="804672" cy="512064"/>
          </a:xfrm>
          <a:prstGeom prst="rect">
            <a:avLst/>
          </a:prstGeom>
          <a:solidFill>
            <a:srgbClr val="14B8A6"/>
          </a:solidFill>
          <a:ln/>
        </p:spPr>
      </p:sp>
      <p:sp>
        <p:nvSpPr>
          <p:cNvPr id="4" name="Text 2"/>
          <p:cNvSpPr/>
          <p:nvPr/>
        </p:nvSpPr>
        <p:spPr>
          <a:xfrm>
            <a:off x="274320" y="128016"/>
            <a:ext cx="804672" cy="512064"/>
          </a:xfrm>
          <a:prstGeom prst="rect">
            <a:avLst/>
          </a:prstGeom>
          <a:noFill/>
          <a:ln/>
        </p:spPr>
        <p:txBody>
          <a:bodyPr wrap="square" rtlCol="0" anchor="ctr"/>
          <a:lstStyle/>
          <a:p>
            <a:pPr algn="ctr" indent="0" marL="0">
              <a:buNone/>
            </a:pPr>
            <a:r>
              <a:rPr lang="en-US" sz="2000" b="1" dirty="0">
                <a:solidFill>
                  <a:srgbClr val="0F172A"/>
                </a:solidFill>
                <a:latin typeface="Calibri" pitchFamily="34" charset="0"/>
                <a:ea typeface="Calibri" pitchFamily="34" charset="-122"/>
                <a:cs typeface="Calibri" pitchFamily="34" charset="-120"/>
              </a:rPr>
              <a:t>P13</a:t>
            </a:r>
            <a:endParaRPr lang="en-US" sz="2000" dirty="0"/>
          </a:p>
        </p:txBody>
      </p:sp>
      <p:sp>
        <p:nvSpPr>
          <p:cNvPr id="5" name="Text 3"/>
          <p:cNvSpPr/>
          <p:nvPr/>
        </p:nvSpPr>
        <p:spPr>
          <a:xfrm>
            <a:off x="1216152" y="155448"/>
            <a:ext cx="7653528" cy="457200"/>
          </a:xfrm>
          <a:prstGeom prst="rect">
            <a:avLst/>
          </a:prstGeom>
          <a:noFill/>
          <a:ln/>
        </p:spPr>
        <p:txBody>
          <a:bodyPr wrap="square" rtlCol="0" anchor="ctr"/>
          <a:lstStyle/>
          <a:p>
            <a:pPr indent="0" marL="0">
              <a:buNone/>
            </a:pPr>
            <a:r>
              <a:rPr lang="en-US" sz="2100" b="1" dirty="0">
                <a:solidFill>
                  <a:srgbClr val="F1F5F9"/>
                </a:solidFill>
                <a:latin typeface="Calibri" pitchFamily="34" charset="0"/>
                <a:ea typeface="Calibri" pitchFamily="34" charset="-122"/>
                <a:cs typeface="Calibri" pitchFamily="34" charset="-120"/>
              </a:rPr>
              <a:t>Phase 13 — DevOps + Deployment</a:t>
            </a:r>
            <a:endParaRPr lang="en-US" sz="2100" dirty="0"/>
          </a:p>
        </p:txBody>
      </p:sp>
      <p:sp>
        <p:nvSpPr>
          <p:cNvPr id="6" name="Text 4"/>
          <p:cNvSpPr/>
          <p:nvPr/>
        </p:nvSpPr>
        <p:spPr>
          <a:xfrm>
            <a:off x="274320" y="704088"/>
            <a:ext cx="8595360" cy="246888"/>
          </a:xfrm>
          <a:prstGeom prst="rect">
            <a:avLst/>
          </a:prstGeom>
          <a:noFill/>
          <a:ln/>
        </p:spPr>
        <p:txBody>
          <a:bodyPr wrap="square" rtlCol="0" anchor="ctr"/>
          <a:lstStyle/>
          <a:p>
            <a:pPr indent="0" marL="0">
              <a:buNone/>
            </a:pPr>
            <a:r>
              <a:rPr lang="en-US" sz="1100" i="1" dirty="0">
                <a:solidFill>
                  <a:srgbClr val="94A3B8"/>
                </a:solidFill>
                <a:latin typeface="Calibri" pitchFamily="34" charset="0"/>
                <a:ea typeface="Calibri" pitchFamily="34" charset="-122"/>
                <a:cs typeface="Calibri" pitchFamily="34" charset="-120"/>
              </a:rPr>
              <a:t>A project that only runs on your laptop is not a project — it is a prototype</a:t>
            </a:r>
            <a:endParaRPr lang="en-US" sz="1100" dirty="0"/>
          </a:p>
        </p:txBody>
      </p:sp>
      <p:sp>
        <p:nvSpPr>
          <p:cNvPr id="7" name="Shape 5"/>
          <p:cNvSpPr/>
          <p:nvPr/>
        </p:nvSpPr>
        <p:spPr>
          <a:xfrm>
            <a:off x="274320" y="1005840"/>
            <a:ext cx="8595360" cy="420624"/>
          </a:xfrm>
          <a:prstGeom prst="rect">
            <a:avLst/>
          </a:prstGeom>
          <a:solidFill>
            <a:srgbClr val="0D1929"/>
          </a:solidFill>
          <a:ln w="9525">
            <a:solidFill>
              <a:srgbClr val="14B8A6"/>
            </a:solidFill>
            <a:prstDash val="solid"/>
          </a:ln>
        </p:spPr>
      </p:sp>
      <p:sp>
        <p:nvSpPr>
          <p:cNvPr id="8" name="Text 6"/>
          <p:cNvSpPr/>
          <p:nvPr/>
        </p:nvSpPr>
        <p:spPr>
          <a:xfrm>
            <a:off x="411480" y="1005840"/>
            <a:ext cx="8321040" cy="420624"/>
          </a:xfrm>
          <a:prstGeom prst="rect">
            <a:avLst/>
          </a:prstGeom>
          <a:noFill/>
          <a:ln/>
        </p:spPr>
        <p:txBody>
          <a:bodyPr wrap="square" rtlCol="0" anchor="ctr"/>
          <a:lstStyle/>
          <a:p>
            <a:pPr indent="0" marL="0">
              <a:buNone/>
            </a:pPr>
            <a:r>
              <a:rPr lang="en-US" sz="1150" b="1" dirty="0">
                <a:solidFill>
                  <a:srgbClr val="14B8A6"/>
                </a:solidFill>
                <a:latin typeface="Calibri" pitchFamily="34" charset="0"/>
                <a:ea typeface="Calibri" pitchFamily="34" charset="-122"/>
                <a:cs typeface="Calibri" pitchFamily="34" charset="-120"/>
              </a:rPr>
              <a:t>GOAL  ·  Containerise everything and ship with a real CI/CD pipeline</a:t>
            </a:r>
            <a:endParaRPr lang="en-US" sz="1150" dirty="0"/>
          </a:p>
        </p:txBody>
      </p:sp>
      <p:sp>
        <p:nvSpPr>
          <p:cNvPr id="9" name="Shape 7"/>
          <p:cNvSpPr/>
          <p:nvPr/>
        </p:nvSpPr>
        <p:spPr>
          <a:xfrm>
            <a:off x="274320" y="1508760"/>
            <a:ext cx="5029200" cy="3429000"/>
          </a:xfrm>
          <a:prstGeom prst="rect">
            <a:avLst/>
          </a:prstGeom>
          <a:solidFill>
            <a:srgbClr val="1E293B"/>
          </a:solidFill>
          <a:ln w="6350">
            <a:solidFill>
              <a:srgbClr val="334155"/>
            </a:solidFill>
            <a:prstDash val="solid"/>
          </a:ln>
          <a:effectLst>
            <a:outerShdw sx="100000" sy="100000" kx="0" ky="0" algn="bl" rotWithShape="0" blurRad="76200" dist="25400" dir="8100000">
              <a:srgbClr val="000000">
                <a:alpha val="22000"/>
              </a:srgbClr>
            </a:outerShdw>
          </a:effectLst>
        </p:spPr>
      </p:sp>
      <p:sp>
        <p:nvSpPr>
          <p:cNvPr id="10" name="Text 8"/>
          <p:cNvSpPr/>
          <p:nvPr/>
        </p:nvSpPr>
        <p:spPr>
          <a:xfrm>
            <a:off x="411480" y="1581912"/>
            <a:ext cx="4754880" cy="246888"/>
          </a:xfrm>
          <a:prstGeom prst="rect">
            <a:avLst/>
          </a:prstGeom>
          <a:noFill/>
          <a:ln/>
        </p:spPr>
        <p:txBody>
          <a:bodyPr wrap="square" rtlCol="0" anchor="ctr"/>
          <a:lstStyle/>
          <a:p>
            <a:pPr indent="0" marL="0">
              <a:buNone/>
            </a:pPr>
            <a:r>
              <a:rPr lang="en-US" sz="950" b="1" spc="200" kern="0" dirty="0">
                <a:solidFill>
                  <a:srgbClr val="94A3B8"/>
                </a:solidFill>
                <a:latin typeface="Calibri" pitchFamily="34" charset="0"/>
                <a:ea typeface="Calibri" pitchFamily="34" charset="-122"/>
                <a:cs typeface="Calibri" pitchFamily="34" charset="-120"/>
              </a:rPr>
              <a:t>TASKS</a:t>
            </a:r>
            <a:endParaRPr lang="en-US" sz="950" dirty="0"/>
          </a:p>
        </p:txBody>
      </p:sp>
      <p:sp>
        <p:nvSpPr>
          <p:cNvPr id="11" name="Text 9"/>
          <p:cNvSpPr/>
          <p:nvPr/>
        </p:nvSpPr>
        <p:spPr>
          <a:xfrm>
            <a:off x="411480" y="1883664"/>
            <a:ext cx="4754880" cy="2980944"/>
          </a:xfrm>
          <a:prstGeom prst="rect">
            <a:avLst/>
          </a:prstGeom>
          <a:noFill/>
          <a:ln/>
        </p:spPr>
        <p:txBody>
          <a:bodyPr wrap="square" rtlCol="0" anchor="ctr"/>
          <a:lstStyle/>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Dockerise backend with multi-stage build</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Dockerise frontend with Nginx for static serving</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Create docker-compose.yml (app + PostgreSQL + Redis)</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Add GitHub Actions CI — lint + type-check + test on every PR</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Add GitHub Actions CD — deploy on main branch merge</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Configure dev / staging / production environments</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Deploy backend to Railway or Render</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Deploy frontend to Vercel or Cloudflare Pages</a:t>
            </a:r>
            <a:endParaRPr lang="en-US" sz="980" dirty="0"/>
          </a:p>
        </p:txBody>
      </p:sp>
      <p:sp>
        <p:nvSpPr>
          <p:cNvPr id="12" name="Shape 10"/>
          <p:cNvSpPr/>
          <p:nvPr/>
        </p:nvSpPr>
        <p:spPr>
          <a:xfrm>
            <a:off x="5486400" y="1508760"/>
            <a:ext cx="3383280" cy="1664208"/>
          </a:xfrm>
          <a:prstGeom prst="rect">
            <a:avLst/>
          </a:prstGeom>
          <a:solidFill>
            <a:srgbClr val="1E293B"/>
          </a:solidFill>
          <a:ln w="9525">
            <a:solidFill>
              <a:srgbClr val="4ADE80"/>
            </a:solidFill>
            <a:prstDash val="solid"/>
          </a:ln>
          <a:effectLst>
            <a:outerShdw sx="100000" sy="100000" kx="0" ky="0" algn="bl" rotWithShape="0" blurRad="76200" dist="25400" dir="8100000">
              <a:srgbClr val="000000">
                <a:alpha val="22000"/>
              </a:srgbClr>
            </a:outerShdw>
          </a:effectLst>
        </p:spPr>
      </p:sp>
      <p:sp>
        <p:nvSpPr>
          <p:cNvPr id="13" name="Text 11"/>
          <p:cNvSpPr/>
          <p:nvPr/>
        </p:nvSpPr>
        <p:spPr>
          <a:xfrm>
            <a:off x="5623560" y="1581912"/>
            <a:ext cx="3108960" cy="246888"/>
          </a:xfrm>
          <a:prstGeom prst="rect">
            <a:avLst/>
          </a:prstGeom>
          <a:noFill/>
          <a:ln/>
        </p:spPr>
        <p:txBody>
          <a:bodyPr wrap="square" rtlCol="0" anchor="ctr"/>
          <a:lstStyle/>
          <a:p>
            <a:pPr indent="0" marL="0">
              <a:buNone/>
            </a:pPr>
            <a:r>
              <a:rPr lang="en-US" sz="950" b="1" spc="200" kern="0" dirty="0">
                <a:solidFill>
                  <a:srgbClr val="4ADE80"/>
                </a:solidFill>
                <a:latin typeface="Calibri" pitchFamily="34" charset="0"/>
                <a:ea typeface="Calibri" pitchFamily="34" charset="-122"/>
                <a:cs typeface="Calibri" pitchFamily="34" charset="-120"/>
              </a:rPr>
              <a:t>OUTPUT</a:t>
            </a:r>
            <a:endParaRPr lang="en-US" sz="950" dirty="0"/>
          </a:p>
        </p:txBody>
      </p:sp>
      <p:sp>
        <p:nvSpPr>
          <p:cNvPr id="14" name="Text 12"/>
          <p:cNvSpPr/>
          <p:nvPr/>
        </p:nvSpPr>
        <p:spPr>
          <a:xfrm>
            <a:off x="5623560" y="1883664"/>
            <a:ext cx="3108960" cy="1234440"/>
          </a:xfrm>
          <a:prstGeom prst="rect">
            <a:avLst/>
          </a:prstGeom>
          <a:noFill/>
          <a:ln/>
        </p:spPr>
        <p:txBody>
          <a:bodyPr wrap="square" rtlCol="0" anchor="ctr"/>
          <a:lstStyle/>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Dockerised full stack</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CI/CD on GitHub Actions</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3-environment separation</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One-command local dev setup</a:t>
            </a:r>
            <a:endParaRPr lang="en-US" sz="980" dirty="0"/>
          </a:p>
        </p:txBody>
      </p:sp>
      <p:sp>
        <p:nvSpPr>
          <p:cNvPr id="15" name="Shape 13"/>
          <p:cNvSpPr/>
          <p:nvPr/>
        </p:nvSpPr>
        <p:spPr>
          <a:xfrm>
            <a:off x="5486400" y="3291840"/>
            <a:ext cx="3383280" cy="1645920"/>
          </a:xfrm>
          <a:prstGeom prst="rect">
            <a:avLst/>
          </a:prstGeom>
          <a:solidFill>
            <a:srgbClr val="1E293B"/>
          </a:solidFill>
          <a:ln w="9525">
            <a:solidFill>
              <a:srgbClr val="14B8A6"/>
            </a:solidFill>
            <a:prstDash val="solid"/>
          </a:ln>
          <a:effectLst>
            <a:outerShdw sx="100000" sy="100000" kx="0" ky="0" algn="bl" rotWithShape="0" blurRad="76200" dist="25400" dir="8100000">
              <a:srgbClr val="000000">
                <a:alpha val="22000"/>
              </a:srgbClr>
            </a:outerShdw>
          </a:effectLst>
        </p:spPr>
      </p:sp>
      <p:sp>
        <p:nvSpPr>
          <p:cNvPr id="16" name="Text 14"/>
          <p:cNvSpPr/>
          <p:nvPr/>
        </p:nvSpPr>
        <p:spPr>
          <a:xfrm>
            <a:off x="5623560" y="3364992"/>
            <a:ext cx="3108960" cy="246888"/>
          </a:xfrm>
          <a:prstGeom prst="rect">
            <a:avLst/>
          </a:prstGeom>
          <a:noFill/>
          <a:ln/>
        </p:spPr>
        <p:txBody>
          <a:bodyPr wrap="square" rtlCol="0" anchor="ctr"/>
          <a:lstStyle/>
          <a:p>
            <a:pPr indent="0" marL="0">
              <a:buNone/>
            </a:pPr>
            <a:r>
              <a:rPr lang="en-US" sz="900" b="1" spc="100" kern="0" dirty="0">
                <a:solidFill>
                  <a:srgbClr val="14B8A6"/>
                </a:solidFill>
                <a:latin typeface="Calibri" pitchFamily="34" charset="0"/>
                <a:ea typeface="Calibri" pitchFamily="34" charset="-122"/>
                <a:cs typeface="Calibri" pitchFamily="34" charset="-120"/>
              </a:rPr>
              <a:t>WHY THIS PHASE EXISTS</a:t>
            </a:r>
            <a:endParaRPr lang="en-US" sz="900" dirty="0"/>
          </a:p>
        </p:txBody>
      </p:sp>
      <p:sp>
        <p:nvSpPr>
          <p:cNvPr id="17" name="Text 15"/>
          <p:cNvSpPr/>
          <p:nvPr/>
        </p:nvSpPr>
        <p:spPr>
          <a:xfrm>
            <a:off x="5623560" y="3648456"/>
            <a:ext cx="3108960" cy="1216152"/>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Docker + CI/CD means any engineer can clone, run, and deploy in under 5 minutes. This is the baseline expected at every serious engineering organisation. Deployment quality is part of the project story.</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EC4899"/>
          </a:solidFill>
          <a:ln/>
        </p:spPr>
      </p:sp>
      <p:sp>
        <p:nvSpPr>
          <p:cNvPr id="3" name="Shape 1"/>
          <p:cNvSpPr/>
          <p:nvPr/>
        </p:nvSpPr>
        <p:spPr>
          <a:xfrm>
            <a:off x="274320" y="128016"/>
            <a:ext cx="804672" cy="512064"/>
          </a:xfrm>
          <a:prstGeom prst="rect">
            <a:avLst/>
          </a:prstGeom>
          <a:solidFill>
            <a:srgbClr val="EC4899"/>
          </a:solidFill>
          <a:ln/>
        </p:spPr>
      </p:sp>
      <p:sp>
        <p:nvSpPr>
          <p:cNvPr id="4" name="Text 2"/>
          <p:cNvSpPr/>
          <p:nvPr/>
        </p:nvSpPr>
        <p:spPr>
          <a:xfrm>
            <a:off x="274320" y="128016"/>
            <a:ext cx="804672" cy="512064"/>
          </a:xfrm>
          <a:prstGeom prst="rect">
            <a:avLst/>
          </a:prstGeom>
          <a:noFill/>
          <a:ln/>
        </p:spPr>
        <p:txBody>
          <a:bodyPr wrap="square" rtlCol="0" anchor="ctr"/>
          <a:lstStyle/>
          <a:p>
            <a:pPr algn="ctr" indent="0" marL="0">
              <a:buNone/>
            </a:pPr>
            <a:r>
              <a:rPr lang="en-US" sz="2000" b="1" dirty="0">
                <a:solidFill>
                  <a:srgbClr val="0F172A"/>
                </a:solidFill>
                <a:latin typeface="Calibri" pitchFamily="34" charset="0"/>
                <a:ea typeface="Calibri" pitchFamily="34" charset="-122"/>
                <a:cs typeface="Calibri" pitchFamily="34" charset="-120"/>
              </a:rPr>
              <a:t>P14</a:t>
            </a:r>
            <a:endParaRPr lang="en-US" sz="2000" dirty="0"/>
          </a:p>
        </p:txBody>
      </p:sp>
      <p:sp>
        <p:nvSpPr>
          <p:cNvPr id="5" name="Text 3"/>
          <p:cNvSpPr/>
          <p:nvPr/>
        </p:nvSpPr>
        <p:spPr>
          <a:xfrm>
            <a:off x="1216152" y="155448"/>
            <a:ext cx="7653528" cy="457200"/>
          </a:xfrm>
          <a:prstGeom prst="rect">
            <a:avLst/>
          </a:prstGeom>
          <a:noFill/>
          <a:ln/>
        </p:spPr>
        <p:txBody>
          <a:bodyPr wrap="square" rtlCol="0" anchor="ctr"/>
          <a:lstStyle/>
          <a:p>
            <a:pPr indent="0" marL="0">
              <a:buNone/>
            </a:pPr>
            <a:r>
              <a:rPr lang="en-US" sz="2100" b="1" dirty="0">
                <a:solidFill>
                  <a:srgbClr val="F1F5F9"/>
                </a:solidFill>
                <a:latin typeface="Calibri" pitchFamily="34" charset="0"/>
                <a:ea typeface="Calibri" pitchFamily="34" charset="-122"/>
                <a:cs typeface="Calibri" pitchFamily="34" charset="-120"/>
              </a:rPr>
              <a:t>Phase 14 — Documentation + Placement Presentation</a:t>
            </a:r>
            <a:endParaRPr lang="en-US" sz="2100" dirty="0"/>
          </a:p>
        </p:txBody>
      </p:sp>
      <p:sp>
        <p:nvSpPr>
          <p:cNvPr id="6" name="Text 4"/>
          <p:cNvSpPr/>
          <p:nvPr/>
        </p:nvSpPr>
        <p:spPr>
          <a:xfrm>
            <a:off x="274320" y="704088"/>
            <a:ext cx="8595360" cy="246888"/>
          </a:xfrm>
          <a:prstGeom prst="rect">
            <a:avLst/>
          </a:prstGeom>
          <a:noFill/>
          <a:ln/>
        </p:spPr>
        <p:txBody>
          <a:bodyPr wrap="square" rtlCol="0" anchor="ctr"/>
          <a:lstStyle/>
          <a:p>
            <a:pPr indent="0" marL="0">
              <a:buNone/>
            </a:pPr>
            <a:r>
              <a:rPr lang="en-US" sz="1100" i="1" dirty="0">
                <a:solidFill>
                  <a:srgbClr val="94A3B8"/>
                </a:solidFill>
                <a:latin typeface="Calibri" pitchFamily="34" charset="0"/>
                <a:ea typeface="Calibri" pitchFamily="34" charset="-122"/>
                <a:cs typeface="Calibri" pitchFamily="34" charset="-120"/>
              </a:rPr>
              <a:t>The project is not done until you can explain every decision under pressure</a:t>
            </a:r>
            <a:endParaRPr lang="en-US" sz="1100" dirty="0"/>
          </a:p>
        </p:txBody>
      </p:sp>
      <p:sp>
        <p:nvSpPr>
          <p:cNvPr id="7" name="Shape 5"/>
          <p:cNvSpPr/>
          <p:nvPr/>
        </p:nvSpPr>
        <p:spPr>
          <a:xfrm>
            <a:off x="274320" y="1005840"/>
            <a:ext cx="8595360" cy="420624"/>
          </a:xfrm>
          <a:prstGeom prst="rect">
            <a:avLst/>
          </a:prstGeom>
          <a:solidFill>
            <a:srgbClr val="0D1929"/>
          </a:solidFill>
          <a:ln w="9525">
            <a:solidFill>
              <a:srgbClr val="EC4899"/>
            </a:solidFill>
            <a:prstDash val="solid"/>
          </a:ln>
        </p:spPr>
      </p:sp>
      <p:sp>
        <p:nvSpPr>
          <p:cNvPr id="8" name="Text 6"/>
          <p:cNvSpPr/>
          <p:nvPr/>
        </p:nvSpPr>
        <p:spPr>
          <a:xfrm>
            <a:off x="411480" y="1005840"/>
            <a:ext cx="8321040" cy="420624"/>
          </a:xfrm>
          <a:prstGeom prst="rect">
            <a:avLst/>
          </a:prstGeom>
          <a:noFill/>
          <a:ln/>
        </p:spPr>
        <p:txBody>
          <a:bodyPr wrap="square" rtlCol="0" anchor="ctr"/>
          <a:lstStyle/>
          <a:p>
            <a:pPr indent="0" marL="0">
              <a:buNone/>
            </a:pPr>
            <a:r>
              <a:rPr lang="en-US" sz="1150" b="1" dirty="0">
                <a:solidFill>
                  <a:srgbClr val="EC4899"/>
                </a:solidFill>
                <a:latin typeface="Calibri" pitchFamily="34" charset="0"/>
                <a:ea typeface="Calibri" pitchFamily="34" charset="-122"/>
                <a:cs typeface="Calibri" pitchFamily="34" charset="-120"/>
              </a:rPr>
              <a:t>GOAL  ·  Create placement-ready documentation and a rehearsed demo script</a:t>
            </a:r>
            <a:endParaRPr lang="en-US" sz="1150" dirty="0"/>
          </a:p>
        </p:txBody>
      </p:sp>
      <p:sp>
        <p:nvSpPr>
          <p:cNvPr id="9" name="Shape 7"/>
          <p:cNvSpPr/>
          <p:nvPr/>
        </p:nvSpPr>
        <p:spPr>
          <a:xfrm>
            <a:off x="274320" y="1508760"/>
            <a:ext cx="5029200" cy="3429000"/>
          </a:xfrm>
          <a:prstGeom prst="rect">
            <a:avLst/>
          </a:prstGeom>
          <a:solidFill>
            <a:srgbClr val="1E293B"/>
          </a:solidFill>
          <a:ln w="6350">
            <a:solidFill>
              <a:srgbClr val="334155"/>
            </a:solidFill>
            <a:prstDash val="solid"/>
          </a:ln>
          <a:effectLst>
            <a:outerShdw sx="100000" sy="100000" kx="0" ky="0" algn="bl" rotWithShape="0" blurRad="76200" dist="25400" dir="8100000">
              <a:srgbClr val="000000">
                <a:alpha val="22000"/>
              </a:srgbClr>
            </a:outerShdw>
          </a:effectLst>
        </p:spPr>
      </p:sp>
      <p:sp>
        <p:nvSpPr>
          <p:cNvPr id="10" name="Text 8"/>
          <p:cNvSpPr/>
          <p:nvPr/>
        </p:nvSpPr>
        <p:spPr>
          <a:xfrm>
            <a:off x="411480" y="1581912"/>
            <a:ext cx="4754880" cy="246888"/>
          </a:xfrm>
          <a:prstGeom prst="rect">
            <a:avLst/>
          </a:prstGeom>
          <a:noFill/>
          <a:ln/>
        </p:spPr>
        <p:txBody>
          <a:bodyPr wrap="square" rtlCol="0" anchor="ctr"/>
          <a:lstStyle/>
          <a:p>
            <a:pPr indent="0" marL="0">
              <a:buNone/>
            </a:pPr>
            <a:r>
              <a:rPr lang="en-US" sz="950" b="1" spc="200" kern="0" dirty="0">
                <a:solidFill>
                  <a:srgbClr val="94A3B8"/>
                </a:solidFill>
                <a:latin typeface="Calibri" pitchFamily="34" charset="0"/>
                <a:ea typeface="Calibri" pitchFamily="34" charset="-122"/>
                <a:cs typeface="Calibri" pitchFamily="34" charset="-120"/>
              </a:rPr>
              <a:t>TASKS</a:t>
            </a:r>
            <a:endParaRPr lang="en-US" sz="950" dirty="0"/>
          </a:p>
        </p:txBody>
      </p:sp>
      <p:sp>
        <p:nvSpPr>
          <p:cNvPr id="11" name="Text 9"/>
          <p:cNvSpPr/>
          <p:nvPr/>
        </p:nvSpPr>
        <p:spPr>
          <a:xfrm>
            <a:off x="411480" y="1883664"/>
            <a:ext cx="4754880" cy="2980944"/>
          </a:xfrm>
          <a:prstGeom prst="rect">
            <a:avLst/>
          </a:prstGeom>
          <a:noFill/>
          <a:ln/>
        </p:spPr>
        <p:txBody>
          <a:bodyPr wrap="square" rtlCol="0" anchor="ctr"/>
          <a:lstStyle/>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Write architecture overview in README with diagrams</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Create architecture flow diagram in draw.io or Excalidraw</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Create scaling diagram: single server to multi-instance</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Document all tradeoffs — PostgreSQL vs MongoDB, etc.</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Prepare answers: why Node, Redis, modular monolith</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Record a 3-minute demo walkthrough video</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Prepare live demo: matchmaking → game → leaderboard → daily</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Add load test performance numbers to README</a:t>
            </a:r>
            <a:endParaRPr lang="en-US" sz="980" dirty="0"/>
          </a:p>
        </p:txBody>
      </p:sp>
      <p:sp>
        <p:nvSpPr>
          <p:cNvPr id="12" name="Shape 10"/>
          <p:cNvSpPr/>
          <p:nvPr/>
        </p:nvSpPr>
        <p:spPr>
          <a:xfrm>
            <a:off x="5486400" y="1508760"/>
            <a:ext cx="3383280" cy="1664208"/>
          </a:xfrm>
          <a:prstGeom prst="rect">
            <a:avLst/>
          </a:prstGeom>
          <a:solidFill>
            <a:srgbClr val="1E293B"/>
          </a:solidFill>
          <a:ln w="9525">
            <a:solidFill>
              <a:srgbClr val="4ADE80"/>
            </a:solidFill>
            <a:prstDash val="solid"/>
          </a:ln>
          <a:effectLst>
            <a:outerShdw sx="100000" sy="100000" kx="0" ky="0" algn="bl" rotWithShape="0" blurRad="76200" dist="25400" dir="8100000">
              <a:srgbClr val="000000">
                <a:alpha val="22000"/>
              </a:srgbClr>
            </a:outerShdw>
          </a:effectLst>
        </p:spPr>
      </p:sp>
      <p:sp>
        <p:nvSpPr>
          <p:cNvPr id="13" name="Text 11"/>
          <p:cNvSpPr/>
          <p:nvPr/>
        </p:nvSpPr>
        <p:spPr>
          <a:xfrm>
            <a:off x="5623560" y="1581912"/>
            <a:ext cx="3108960" cy="246888"/>
          </a:xfrm>
          <a:prstGeom prst="rect">
            <a:avLst/>
          </a:prstGeom>
          <a:noFill/>
          <a:ln/>
        </p:spPr>
        <p:txBody>
          <a:bodyPr wrap="square" rtlCol="0" anchor="ctr"/>
          <a:lstStyle/>
          <a:p>
            <a:pPr indent="0" marL="0">
              <a:buNone/>
            </a:pPr>
            <a:r>
              <a:rPr lang="en-US" sz="950" b="1" spc="200" kern="0" dirty="0">
                <a:solidFill>
                  <a:srgbClr val="4ADE80"/>
                </a:solidFill>
                <a:latin typeface="Calibri" pitchFamily="34" charset="0"/>
                <a:ea typeface="Calibri" pitchFamily="34" charset="-122"/>
                <a:cs typeface="Calibri" pitchFamily="34" charset="-120"/>
              </a:rPr>
              <a:t>OUTPUT</a:t>
            </a:r>
            <a:endParaRPr lang="en-US" sz="950" dirty="0"/>
          </a:p>
        </p:txBody>
      </p:sp>
      <p:sp>
        <p:nvSpPr>
          <p:cNvPr id="14" name="Text 12"/>
          <p:cNvSpPr/>
          <p:nvPr/>
        </p:nvSpPr>
        <p:spPr>
          <a:xfrm>
            <a:off x="5623560" y="1883664"/>
            <a:ext cx="3108960" cy="1234440"/>
          </a:xfrm>
          <a:prstGeom prst="rect">
            <a:avLst/>
          </a:prstGeom>
          <a:noFill/>
          <a:ln/>
        </p:spPr>
        <p:txBody>
          <a:bodyPr wrap="square" rtlCol="0" anchor="ctr"/>
          <a:lstStyle/>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Architecture diagrams</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Tradeoff documentation</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Live demo script</a:t>
            </a:r>
            <a:endParaRPr lang="en-US" sz="980" dirty="0"/>
          </a:p>
          <a:p>
            <a:pPr marL="342900" indent="-342900">
              <a:spcAft>
                <a:spcPts val="200"/>
              </a:spcAft>
              <a:buSzPct val="100000"/>
              <a:buChar char="•"/>
            </a:pPr>
            <a:r>
              <a:rPr lang="en-US" sz="980" dirty="0">
                <a:solidFill>
                  <a:srgbClr val="F1F5F9"/>
                </a:solidFill>
                <a:latin typeface="Calibri" pitchFamily="34" charset="0"/>
                <a:ea typeface="Calibri" pitchFamily="34" charset="-122"/>
                <a:cs typeface="Calibri" pitchFamily="34" charset="-120"/>
              </a:rPr>
              <a:t>20 interview Q&amp;A answers</a:t>
            </a:r>
            <a:endParaRPr lang="en-US" sz="980" dirty="0"/>
          </a:p>
        </p:txBody>
      </p:sp>
      <p:sp>
        <p:nvSpPr>
          <p:cNvPr id="15" name="Shape 13"/>
          <p:cNvSpPr/>
          <p:nvPr/>
        </p:nvSpPr>
        <p:spPr>
          <a:xfrm>
            <a:off x="5486400" y="3291840"/>
            <a:ext cx="3383280" cy="1645920"/>
          </a:xfrm>
          <a:prstGeom prst="rect">
            <a:avLst/>
          </a:prstGeom>
          <a:solidFill>
            <a:srgbClr val="1E293B"/>
          </a:solidFill>
          <a:ln w="9525">
            <a:solidFill>
              <a:srgbClr val="EC4899"/>
            </a:solidFill>
            <a:prstDash val="solid"/>
          </a:ln>
          <a:effectLst>
            <a:outerShdw sx="100000" sy="100000" kx="0" ky="0" algn="bl" rotWithShape="0" blurRad="76200" dist="25400" dir="8100000">
              <a:srgbClr val="000000">
                <a:alpha val="22000"/>
              </a:srgbClr>
            </a:outerShdw>
          </a:effectLst>
        </p:spPr>
      </p:sp>
      <p:sp>
        <p:nvSpPr>
          <p:cNvPr id="16" name="Text 14"/>
          <p:cNvSpPr/>
          <p:nvPr/>
        </p:nvSpPr>
        <p:spPr>
          <a:xfrm>
            <a:off x="5623560" y="3364992"/>
            <a:ext cx="3108960" cy="246888"/>
          </a:xfrm>
          <a:prstGeom prst="rect">
            <a:avLst/>
          </a:prstGeom>
          <a:noFill/>
          <a:ln/>
        </p:spPr>
        <p:txBody>
          <a:bodyPr wrap="square" rtlCol="0" anchor="ctr"/>
          <a:lstStyle/>
          <a:p>
            <a:pPr indent="0" marL="0">
              <a:buNone/>
            </a:pPr>
            <a:r>
              <a:rPr lang="en-US" sz="900" b="1" spc="100" kern="0" dirty="0">
                <a:solidFill>
                  <a:srgbClr val="EC4899"/>
                </a:solidFill>
                <a:latin typeface="Calibri" pitchFamily="34" charset="0"/>
                <a:ea typeface="Calibri" pitchFamily="34" charset="-122"/>
                <a:cs typeface="Calibri" pitchFamily="34" charset="-120"/>
              </a:rPr>
              <a:t>WHY THIS PHASE EXISTS</a:t>
            </a:r>
            <a:endParaRPr lang="en-US" sz="900" dirty="0"/>
          </a:p>
        </p:txBody>
      </p:sp>
      <p:sp>
        <p:nvSpPr>
          <p:cNvPr id="17" name="Text 15"/>
          <p:cNvSpPr/>
          <p:nvPr/>
        </p:nvSpPr>
        <p:spPr>
          <a:xfrm>
            <a:off x="5623560" y="3648456"/>
            <a:ext cx="3108960" cy="1216152"/>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The project you built and the project you can explain are two different things. Interviewers ask: why these choices? What breaks first? How do you scale to 50,000 users? Phase 14 prepares you to answer all of them confidently.</a:t>
            </a:r>
            <a:endParaRPr lang="en-US" sz="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4ADE80"/>
          </a:solidFill>
          <a:ln/>
        </p:spPr>
      </p:sp>
      <p:sp>
        <p:nvSpPr>
          <p:cNvPr id="3" name="Text 1"/>
          <p:cNvSpPr/>
          <p:nvPr/>
        </p:nvSpPr>
        <p:spPr>
          <a:xfrm>
            <a:off x="274320" y="164592"/>
            <a:ext cx="8595360" cy="475488"/>
          </a:xfrm>
          <a:prstGeom prst="rect">
            <a:avLst/>
          </a:prstGeom>
          <a:noFill/>
          <a:ln/>
        </p:spPr>
        <p:txBody>
          <a:bodyPr wrap="square" rtlCol="0" anchor="ctr"/>
          <a:lstStyle/>
          <a:p>
            <a:pPr indent="0" marL="0">
              <a:buNone/>
            </a:pPr>
            <a:r>
              <a:rPr lang="en-US" sz="2500" b="1" dirty="0">
                <a:solidFill>
                  <a:srgbClr val="F1F5F9"/>
                </a:solidFill>
                <a:latin typeface="Calibri" pitchFamily="34" charset="0"/>
                <a:ea typeface="Calibri" pitchFamily="34" charset="-122"/>
                <a:cs typeface="Calibri" pitchFamily="34" charset="-120"/>
              </a:rPr>
              <a:t>Before vs After — The Full Transformation</a:t>
            </a:r>
            <a:endParaRPr lang="en-US" sz="2500" dirty="0"/>
          </a:p>
        </p:txBody>
      </p:sp>
      <p:sp>
        <p:nvSpPr>
          <p:cNvPr id="4" name="Text 2"/>
          <p:cNvSpPr/>
          <p:nvPr/>
        </p:nvSpPr>
        <p:spPr>
          <a:xfrm>
            <a:off x="274320" y="658368"/>
            <a:ext cx="8595360" cy="256032"/>
          </a:xfrm>
          <a:prstGeom prst="rect">
            <a:avLst/>
          </a:prstGeom>
          <a:noFill/>
          <a:ln/>
        </p:spPr>
        <p:txBody>
          <a:bodyPr wrap="square" rtlCol="0" anchor="ctr"/>
          <a:lstStyle/>
          <a:p>
            <a:pPr indent="0" marL="0">
              <a:buNone/>
            </a:pPr>
            <a:r>
              <a:rPr lang="en-US" sz="1150" i="1" dirty="0">
                <a:solidFill>
                  <a:srgbClr val="94A3B8"/>
                </a:solidFill>
                <a:latin typeface="Calibri" pitchFamily="34" charset="0"/>
                <a:ea typeface="Calibri" pitchFamily="34" charset="-122"/>
                <a:cs typeface="Calibri" pitchFamily="34" charset="-120"/>
              </a:rPr>
              <a:t>Every row represents an interview question you can now answer with confidence</a:t>
            </a:r>
            <a:endParaRPr lang="en-US" sz="1150" dirty="0"/>
          </a:p>
        </p:txBody>
      </p:sp>
      <p:sp>
        <p:nvSpPr>
          <p:cNvPr id="5" name="Shape 3"/>
          <p:cNvSpPr/>
          <p:nvPr/>
        </p:nvSpPr>
        <p:spPr>
          <a:xfrm>
            <a:off x="256032" y="886968"/>
            <a:ext cx="1261872" cy="274320"/>
          </a:xfrm>
          <a:prstGeom prst="rect">
            <a:avLst/>
          </a:prstGeom>
          <a:solidFill>
            <a:srgbClr val="334155"/>
          </a:solidFill>
          <a:ln w="12700">
            <a:solidFill>
              <a:srgbClr val="334155"/>
            </a:solidFill>
            <a:prstDash val="solid"/>
          </a:ln>
        </p:spPr>
      </p:sp>
      <p:sp>
        <p:nvSpPr>
          <p:cNvPr id="6" name="Shape 4"/>
          <p:cNvSpPr/>
          <p:nvPr/>
        </p:nvSpPr>
        <p:spPr>
          <a:xfrm>
            <a:off x="1536192" y="886968"/>
            <a:ext cx="3456432" cy="274320"/>
          </a:xfrm>
          <a:prstGeom prst="rect">
            <a:avLst/>
          </a:prstGeom>
          <a:solidFill>
            <a:srgbClr val="F87171">
              <a:alpha val="20000"/>
            </a:srgbClr>
          </a:solidFill>
          <a:ln w="6350">
            <a:solidFill>
              <a:srgbClr val="F87171"/>
            </a:solidFill>
            <a:prstDash val="solid"/>
          </a:ln>
        </p:spPr>
      </p:sp>
      <p:sp>
        <p:nvSpPr>
          <p:cNvPr id="7" name="Shape 5"/>
          <p:cNvSpPr/>
          <p:nvPr/>
        </p:nvSpPr>
        <p:spPr>
          <a:xfrm>
            <a:off x="5020056" y="886968"/>
            <a:ext cx="3867912" cy="274320"/>
          </a:xfrm>
          <a:prstGeom prst="rect">
            <a:avLst/>
          </a:prstGeom>
          <a:solidFill>
            <a:srgbClr val="4ADE80">
              <a:alpha val="20000"/>
            </a:srgbClr>
          </a:solidFill>
          <a:ln w="6350">
            <a:solidFill>
              <a:srgbClr val="4ADE80"/>
            </a:solidFill>
            <a:prstDash val="solid"/>
          </a:ln>
        </p:spPr>
      </p:sp>
      <p:sp>
        <p:nvSpPr>
          <p:cNvPr id="8" name="Text 6"/>
          <p:cNvSpPr/>
          <p:nvPr/>
        </p:nvSpPr>
        <p:spPr>
          <a:xfrm>
            <a:off x="256032" y="886968"/>
            <a:ext cx="1261872" cy="274320"/>
          </a:xfrm>
          <a:prstGeom prst="rect">
            <a:avLst/>
          </a:prstGeom>
          <a:noFill/>
          <a:ln/>
        </p:spPr>
        <p:txBody>
          <a:bodyPr wrap="square" rtlCol="0" anchor="ctr"/>
          <a:lstStyle/>
          <a:p>
            <a:pPr algn="ctr" indent="0" marL="0">
              <a:buNone/>
            </a:pPr>
            <a:r>
              <a:rPr lang="en-US" sz="1000" b="1" dirty="0">
                <a:solidFill>
                  <a:srgbClr val="94A3B8"/>
                </a:solidFill>
                <a:latin typeface="Calibri" pitchFamily="34" charset="0"/>
                <a:ea typeface="Calibri" pitchFamily="34" charset="-122"/>
                <a:cs typeface="Calibri" pitchFamily="34" charset="-120"/>
              </a:rPr>
              <a:t>AREA</a:t>
            </a:r>
            <a:endParaRPr lang="en-US" sz="1000" dirty="0"/>
          </a:p>
        </p:txBody>
      </p:sp>
      <p:sp>
        <p:nvSpPr>
          <p:cNvPr id="9" name="Text 7"/>
          <p:cNvSpPr/>
          <p:nvPr/>
        </p:nvSpPr>
        <p:spPr>
          <a:xfrm>
            <a:off x="1536192" y="886968"/>
            <a:ext cx="3456432" cy="274320"/>
          </a:xfrm>
          <a:prstGeom prst="rect">
            <a:avLst/>
          </a:prstGeom>
          <a:noFill/>
          <a:ln/>
        </p:spPr>
        <p:txBody>
          <a:bodyPr wrap="square" rtlCol="0" anchor="ctr"/>
          <a:lstStyle/>
          <a:p>
            <a:pPr algn="ctr" indent="0" marL="0">
              <a:buNone/>
            </a:pPr>
            <a:r>
              <a:rPr lang="en-US" sz="1000" b="1" dirty="0">
                <a:solidFill>
                  <a:srgbClr val="F87171"/>
                </a:solidFill>
                <a:latin typeface="Calibri" pitchFamily="34" charset="0"/>
                <a:ea typeface="Calibri" pitchFamily="34" charset="-122"/>
                <a:cs typeface="Calibri" pitchFamily="34" charset="-120"/>
              </a:rPr>
              <a:t>BEFORE</a:t>
            </a:r>
            <a:endParaRPr lang="en-US" sz="1000" dirty="0"/>
          </a:p>
        </p:txBody>
      </p:sp>
      <p:sp>
        <p:nvSpPr>
          <p:cNvPr id="10" name="Text 8"/>
          <p:cNvSpPr/>
          <p:nvPr/>
        </p:nvSpPr>
        <p:spPr>
          <a:xfrm>
            <a:off x="5020056" y="886968"/>
            <a:ext cx="3867912" cy="274320"/>
          </a:xfrm>
          <a:prstGeom prst="rect">
            <a:avLst/>
          </a:prstGeom>
          <a:noFill/>
          <a:ln/>
        </p:spPr>
        <p:txBody>
          <a:bodyPr wrap="square" rtlCol="0" anchor="ctr"/>
          <a:lstStyle/>
          <a:p>
            <a:pPr algn="ctr" indent="0" marL="0">
              <a:buNone/>
            </a:pPr>
            <a:r>
              <a:rPr lang="en-US" sz="1000" b="1" dirty="0">
                <a:solidFill>
                  <a:srgbClr val="4ADE80"/>
                </a:solidFill>
                <a:latin typeface="Calibri" pitchFamily="34" charset="0"/>
                <a:ea typeface="Calibri" pitchFamily="34" charset="-122"/>
                <a:cs typeface="Calibri" pitchFamily="34" charset="-120"/>
              </a:rPr>
              <a:t>AFTER</a:t>
            </a:r>
            <a:endParaRPr lang="en-US" sz="1000" dirty="0"/>
          </a:p>
        </p:txBody>
      </p:sp>
      <p:sp>
        <p:nvSpPr>
          <p:cNvPr id="11" name="Shape 9"/>
          <p:cNvSpPr/>
          <p:nvPr/>
        </p:nvSpPr>
        <p:spPr>
          <a:xfrm>
            <a:off x="256032" y="1188720"/>
            <a:ext cx="1261872" cy="256032"/>
          </a:xfrm>
          <a:prstGeom prst="rect">
            <a:avLst/>
          </a:prstGeom>
          <a:solidFill>
            <a:srgbClr val="1E293B"/>
          </a:solidFill>
          <a:ln w="3175">
            <a:solidFill>
              <a:srgbClr val="334155"/>
            </a:solidFill>
            <a:prstDash val="solid"/>
          </a:ln>
        </p:spPr>
      </p:sp>
      <p:sp>
        <p:nvSpPr>
          <p:cNvPr id="12" name="Shape 10"/>
          <p:cNvSpPr/>
          <p:nvPr/>
        </p:nvSpPr>
        <p:spPr>
          <a:xfrm>
            <a:off x="1536192" y="1188720"/>
            <a:ext cx="3456432" cy="256032"/>
          </a:xfrm>
          <a:prstGeom prst="rect">
            <a:avLst/>
          </a:prstGeom>
          <a:solidFill>
            <a:srgbClr val="150808"/>
          </a:solidFill>
          <a:ln w="3175">
            <a:solidFill>
              <a:srgbClr val="3A1212"/>
            </a:solidFill>
            <a:prstDash val="solid"/>
          </a:ln>
        </p:spPr>
      </p:sp>
      <p:sp>
        <p:nvSpPr>
          <p:cNvPr id="13" name="Shape 11"/>
          <p:cNvSpPr/>
          <p:nvPr/>
        </p:nvSpPr>
        <p:spPr>
          <a:xfrm>
            <a:off x="5020056" y="1188720"/>
            <a:ext cx="3867912" cy="256032"/>
          </a:xfrm>
          <a:prstGeom prst="rect">
            <a:avLst/>
          </a:prstGeom>
          <a:solidFill>
            <a:srgbClr val="081508"/>
          </a:solidFill>
          <a:ln w="3175">
            <a:solidFill>
              <a:srgbClr val="123A12"/>
            </a:solidFill>
            <a:prstDash val="solid"/>
          </a:ln>
        </p:spPr>
      </p:sp>
      <p:sp>
        <p:nvSpPr>
          <p:cNvPr id="14" name="Text 12"/>
          <p:cNvSpPr/>
          <p:nvPr/>
        </p:nvSpPr>
        <p:spPr>
          <a:xfrm>
            <a:off x="301752" y="1188720"/>
            <a:ext cx="1170432" cy="256032"/>
          </a:xfrm>
          <a:prstGeom prst="rect">
            <a:avLst/>
          </a:prstGeom>
          <a:noFill/>
          <a:ln/>
        </p:spPr>
        <p:txBody>
          <a:bodyPr wrap="square" rtlCol="0" anchor="ctr"/>
          <a:lstStyle/>
          <a:p>
            <a:pPr indent="0" marL="0">
              <a:buNone/>
            </a:pPr>
            <a:r>
              <a:rPr lang="en-US" sz="950" b="1" dirty="0">
                <a:solidFill>
                  <a:srgbClr val="94A3B8"/>
                </a:solidFill>
                <a:latin typeface="Calibri" pitchFamily="34" charset="0"/>
                <a:ea typeface="Calibri" pitchFamily="34" charset="-122"/>
                <a:cs typeface="Calibri" pitchFamily="34" charset="-120"/>
              </a:rPr>
              <a:t>Language</a:t>
            </a:r>
            <a:endParaRPr lang="en-US" sz="950" dirty="0"/>
          </a:p>
        </p:txBody>
      </p:sp>
      <p:sp>
        <p:nvSpPr>
          <p:cNvPr id="15" name="Text 13"/>
          <p:cNvSpPr/>
          <p:nvPr/>
        </p:nvSpPr>
        <p:spPr>
          <a:xfrm>
            <a:off x="1572768" y="1188720"/>
            <a:ext cx="3364992" cy="256032"/>
          </a:xfrm>
          <a:prstGeom prst="rect">
            <a:avLst/>
          </a:prstGeom>
          <a:noFill/>
          <a:ln/>
        </p:spPr>
        <p:txBody>
          <a:bodyPr wrap="square" rtlCol="0" anchor="ctr"/>
          <a:lstStyle/>
          <a:p>
            <a:pPr indent="0" marL="0">
              <a:buNone/>
            </a:pPr>
            <a:r>
              <a:rPr lang="en-US" sz="950" dirty="0">
                <a:solidFill>
                  <a:srgbClr val="F87171"/>
                </a:solidFill>
                <a:latin typeface="Calibri" pitchFamily="34" charset="0"/>
                <a:ea typeface="Calibri" pitchFamily="34" charset="-122"/>
                <a:cs typeface="Calibri" pitchFamily="34" charset="-120"/>
              </a:rPr>
              <a:t>✗  JavaScript (no types)</a:t>
            </a:r>
            <a:endParaRPr lang="en-US" sz="950" dirty="0"/>
          </a:p>
        </p:txBody>
      </p:sp>
      <p:sp>
        <p:nvSpPr>
          <p:cNvPr id="16" name="Text 14"/>
          <p:cNvSpPr/>
          <p:nvPr/>
        </p:nvSpPr>
        <p:spPr>
          <a:xfrm>
            <a:off x="5056632" y="1188720"/>
            <a:ext cx="3785616" cy="256032"/>
          </a:xfrm>
          <a:prstGeom prst="rect">
            <a:avLst/>
          </a:prstGeom>
          <a:noFill/>
          <a:ln/>
        </p:spPr>
        <p:txBody>
          <a:bodyPr wrap="square" rtlCol="0" anchor="ctr"/>
          <a:lstStyle/>
          <a:p>
            <a:pPr indent="0" marL="0">
              <a:buNone/>
            </a:pPr>
            <a:r>
              <a:rPr lang="en-US" sz="950" dirty="0">
                <a:solidFill>
                  <a:srgbClr val="4ADE80"/>
                </a:solidFill>
                <a:latin typeface="Calibri" pitchFamily="34" charset="0"/>
                <a:ea typeface="Calibri" pitchFamily="34" charset="-122"/>
                <a:cs typeface="Calibri" pitchFamily="34" charset="-120"/>
              </a:rPr>
              <a:t>✓  TypeScript — full type safety</a:t>
            </a:r>
            <a:endParaRPr lang="en-US" sz="950" dirty="0"/>
          </a:p>
        </p:txBody>
      </p:sp>
      <p:sp>
        <p:nvSpPr>
          <p:cNvPr id="17" name="Text 15"/>
          <p:cNvSpPr/>
          <p:nvPr/>
        </p:nvSpPr>
        <p:spPr>
          <a:xfrm>
            <a:off x="4773168" y="1188720"/>
            <a:ext cx="228600" cy="256032"/>
          </a:xfrm>
          <a:prstGeom prst="rect">
            <a:avLst/>
          </a:prstGeom>
          <a:noFill/>
          <a:ln/>
        </p:spPr>
        <p:txBody>
          <a:bodyPr wrap="square" rtlCol="0" anchor="ctr"/>
          <a:lstStyle/>
          <a:p>
            <a:pPr algn="ctr" indent="0" marL="0">
              <a:buNone/>
            </a:pPr>
            <a:r>
              <a:rPr lang="en-US" sz="1000" dirty="0">
                <a:solidFill>
                  <a:srgbClr val="FCD34D"/>
                </a:solidFill>
                <a:latin typeface="Calibri" pitchFamily="34" charset="0"/>
                <a:ea typeface="Calibri" pitchFamily="34" charset="-122"/>
                <a:cs typeface="Calibri" pitchFamily="34" charset="-120"/>
              </a:rPr>
              <a:t>→</a:t>
            </a:r>
            <a:endParaRPr lang="en-US" sz="1000" dirty="0"/>
          </a:p>
        </p:txBody>
      </p:sp>
      <p:sp>
        <p:nvSpPr>
          <p:cNvPr id="18" name="Shape 16"/>
          <p:cNvSpPr/>
          <p:nvPr/>
        </p:nvSpPr>
        <p:spPr>
          <a:xfrm>
            <a:off x="256032" y="1464869"/>
            <a:ext cx="1261872" cy="256032"/>
          </a:xfrm>
          <a:prstGeom prst="rect">
            <a:avLst/>
          </a:prstGeom>
          <a:solidFill>
            <a:srgbClr val="0D1929"/>
          </a:solidFill>
          <a:ln w="3175">
            <a:solidFill>
              <a:srgbClr val="334155"/>
            </a:solidFill>
            <a:prstDash val="solid"/>
          </a:ln>
        </p:spPr>
      </p:sp>
      <p:sp>
        <p:nvSpPr>
          <p:cNvPr id="19" name="Shape 17"/>
          <p:cNvSpPr/>
          <p:nvPr/>
        </p:nvSpPr>
        <p:spPr>
          <a:xfrm>
            <a:off x="1536192" y="1464869"/>
            <a:ext cx="3456432" cy="256032"/>
          </a:xfrm>
          <a:prstGeom prst="rect">
            <a:avLst/>
          </a:prstGeom>
          <a:solidFill>
            <a:srgbClr val="150808"/>
          </a:solidFill>
          <a:ln w="3175">
            <a:solidFill>
              <a:srgbClr val="3A1212"/>
            </a:solidFill>
            <a:prstDash val="solid"/>
          </a:ln>
        </p:spPr>
      </p:sp>
      <p:sp>
        <p:nvSpPr>
          <p:cNvPr id="20" name="Shape 18"/>
          <p:cNvSpPr/>
          <p:nvPr/>
        </p:nvSpPr>
        <p:spPr>
          <a:xfrm>
            <a:off x="5020056" y="1464869"/>
            <a:ext cx="3867912" cy="256032"/>
          </a:xfrm>
          <a:prstGeom prst="rect">
            <a:avLst/>
          </a:prstGeom>
          <a:solidFill>
            <a:srgbClr val="081508"/>
          </a:solidFill>
          <a:ln w="3175">
            <a:solidFill>
              <a:srgbClr val="123A12"/>
            </a:solidFill>
            <a:prstDash val="solid"/>
          </a:ln>
        </p:spPr>
      </p:sp>
      <p:sp>
        <p:nvSpPr>
          <p:cNvPr id="21" name="Text 19"/>
          <p:cNvSpPr/>
          <p:nvPr/>
        </p:nvSpPr>
        <p:spPr>
          <a:xfrm>
            <a:off x="301752" y="1464869"/>
            <a:ext cx="1170432" cy="256032"/>
          </a:xfrm>
          <a:prstGeom prst="rect">
            <a:avLst/>
          </a:prstGeom>
          <a:noFill/>
          <a:ln/>
        </p:spPr>
        <p:txBody>
          <a:bodyPr wrap="square" rtlCol="0" anchor="ctr"/>
          <a:lstStyle/>
          <a:p>
            <a:pPr indent="0" marL="0">
              <a:buNone/>
            </a:pPr>
            <a:r>
              <a:rPr lang="en-US" sz="950" b="1" dirty="0">
                <a:solidFill>
                  <a:srgbClr val="94A3B8"/>
                </a:solidFill>
                <a:latin typeface="Calibri" pitchFamily="34" charset="0"/>
                <a:ea typeface="Calibri" pitchFamily="34" charset="-122"/>
                <a:cs typeface="Calibri" pitchFamily="34" charset="-120"/>
              </a:rPr>
              <a:t>Database</a:t>
            </a:r>
            <a:endParaRPr lang="en-US" sz="950" dirty="0"/>
          </a:p>
        </p:txBody>
      </p:sp>
      <p:sp>
        <p:nvSpPr>
          <p:cNvPr id="22" name="Text 20"/>
          <p:cNvSpPr/>
          <p:nvPr/>
        </p:nvSpPr>
        <p:spPr>
          <a:xfrm>
            <a:off x="1572768" y="1464869"/>
            <a:ext cx="3364992" cy="256032"/>
          </a:xfrm>
          <a:prstGeom prst="rect">
            <a:avLst/>
          </a:prstGeom>
          <a:noFill/>
          <a:ln/>
        </p:spPr>
        <p:txBody>
          <a:bodyPr wrap="square" rtlCol="0" anchor="ctr"/>
          <a:lstStyle/>
          <a:p>
            <a:pPr indent="0" marL="0">
              <a:buNone/>
            </a:pPr>
            <a:r>
              <a:rPr lang="en-US" sz="950" dirty="0">
                <a:solidFill>
                  <a:srgbClr val="F87171"/>
                </a:solidFill>
                <a:latin typeface="Calibri" pitchFamily="34" charset="0"/>
                <a:ea typeface="Calibri" pitchFamily="34" charset="-122"/>
                <a:cs typeface="Calibri" pitchFamily="34" charset="-120"/>
              </a:rPr>
              <a:t>✗  MongoDB (wrong data shape)</a:t>
            </a:r>
            <a:endParaRPr lang="en-US" sz="950" dirty="0"/>
          </a:p>
        </p:txBody>
      </p:sp>
      <p:sp>
        <p:nvSpPr>
          <p:cNvPr id="23" name="Text 21"/>
          <p:cNvSpPr/>
          <p:nvPr/>
        </p:nvSpPr>
        <p:spPr>
          <a:xfrm>
            <a:off x="5056632" y="1464869"/>
            <a:ext cx="3785616" cy="256032"/>
          </a:xfrm>
          <a:prstGeom prst="rect">
            <a:avLst/>
          </a:prstGeom>
          <a:noFill/>
          <a:ln/>
        </p:spPr>
        <p:txBody>
          <a:bodyPr wrap="square" rtlCol="0" anchor="ctr"/>
          <a:lstStyle/>
          <a:p>
            <a:pPr indent="0" marL="0">
              <a:buNone/>
            </a:pPr>
            <a:r>
              <a:rPr lang="en-US" sz="950" dirty="0">
                <a:solidFill>
                  <a:srgbClr val="4ADE80"/>
                </a:solidFill>
                <a:latin typeface="Calibri" pitchFamily="34" charset="0"/>
                <a:ea typeface="Calibri" pitchFamily="34" charset="-122"/>
                <a:cs typeface="Calibri" pitchFamily="34" charset="-120"/>
              </a:rPr>
              <a:t>✓  PostgreSQL + Prisma ORM</a:t>
            </a:r>
            <a:endParaRPr lang="en-US" sz="950" dirty="0"/>
          </a:p>
        </p:txBody>
      </p:sp>
      <p:sp>
        <p:nvSpPr>
          <p:cNvPr id="24" name="Text 22"/>
          <p:cNvSpPr/>
          <p:nvPr/>
        </p:nvSpPr>
        <p:spPr>
          <a:xfrm>
            <a:off x="4773168" y="1464869"/>
            <a:ext cx="228600" cy="256032"/>
          </a:xfrm>
          <a:prstGeom prst="rect">
            <a:avLst/>
          </a:prstGeom>
          <a:noFill/>
          <a:ln/>
        </p:spPr>
        <p:txBody>
          <a:bodyPr wrap="square" rtlCol="0" anchor="ctr"/>
          <a:lstStyle/>
          <a:p>
            <a:pPr algn="ctr" indent="0" marL="0">
              <a:buNone/>
            </a:pPr>
            <a:r>
              <a:rPr lang="en-US" sz="1000" dirty="0">
                <a:solidFill>
                  <a:srgbClr val="FCD34D"/>
                </a:solidFill>
                <a:latin typeface="Calibri" pitchFamily="34" charset="0"/>
                <a:ea typeface="Calibri" pitchFamily="34" charset="-122"/>
                <a:cs typeface="Calibri" pitchFamily="34" charset="-120"/>
              </a:rPr>
              <a:t>→</a:t>
            </a:r>
            <a:endParaRPr lang="en-US" sz="1000" dirty="0"/>
          </a:p>
        </p:txBody>
      </p:sp>
      <p:sp>
        <p:nvSpPr>
          <p:cNvPr id="25" name="Shape 23"/>
          <p:cNvSpPr/>
          <p:nvPr/>
        </p:nvSpPr>
        <p:spPr>
          <a:xfrm>
            <a:off x="256032" y="1741018"/>
            <a:ext cx="1261872" cy="256032"/>
          </a:xfrm>
          <a:prstGeom prst="rect">
            <a:avLst/>
          </a:prstGeom>
          <a:solidFill>
            <a:srgbClr val="1E293B"/>
          </a:solidFill>
          <a:ln w="3175">
            <a:solidFill>
              <a:srgbClr val="334155"/>
            </a:solidFill>
            <a:prstDash val="solid"/>
          </a:ln>
        </p:spPr>
      </p:sp>
      <p:sp>
        <p:nvSpPr>
          <p:cNvPr id="26" name="Shape 24"/>
          <p:cNvSpPr/>
          <p:nvPr/>
        </p:nvSpPr>
        <p:spPr>
          <a:xfrm>
            <a:off x="1536192" y="1741018"/>
            <a:ext cx="3456432" cy="256032"/>
          </a:xfrm>
          <a:prstGeom prst="rect">
            <a:avLst/>
          </a:prstGeom>
          <a:solidFill>
            <a:srgbClr val="150808"/>
          </a:solidFill>
          <a:ln w="3175">
            <a:solidFill>
              <a:srgbClr val="3A1212"/>
            </a:solidFill>
            <a:prstDash val="solid"/>
          </a:ln>
        </p:spPr>
      </p:sp>
      <p:sp>
        <p:nvSpPr>
          <p:cNvPr id="27" name="Shape 25"/>
          <p:cNvSpPr/>
          <p:nvPr/>
        </p:nvSpPr>
        <p:spPr>
          <a:xfrm>
            <a:off x="5020056" y="1741018"/>
            <a:ext cx="3867912" cy="256032"/>
          </a:xfrm>
          <a:prstGeom prst="rect">
            <a:avLst/>
          </a:prstGeom>
          <a:solidFill>
            <a:srgbClr val="081508"/>
          </a:solidFill>
          <a:ln w="3175">
            <a:solidFill>
              <a:srgbClr val="123A12"/>
            </a:solidFill>
            <a:prstDash val="solid"/>
          </a:ln>
        </p:spPr>
      </p:sp>
      <p:sp>
        <p:nvSpPr>
          <p:cNvPr id="28" name="Text 26"/>
          <p:cNvSpPr/>
          <p:nvPr/>
        </p:nvSpPr>
        <p:spPr>
          <a:xfrm>
            <a:off x="301752" y="1741018"/>
            <a:ext cx="1170432" cy="256032"/>
          </a:xfrm>
          <a:prstGeom prst="rect">
            <a:avLst/>
          </a:prstGeom>
          <a:noFill/>
          <a:ln/>
        </p:spPr>
        <p:txBody>
          <a:bodyPr wrap="square" rtlCol="0" anchor="ctr"/>
          <a:lstStyle/>
          <a:p>
            <a:pPr indent="0" marL="0">
              <a:buNone/>
            </a:pPr>
            <a:r>
              <a:rPr lang="en-US" sz="950" b="1" dirty="0">
                <a:solidFill>
                  <a:srgbClr val="94A3B8"/>
                </a:solidFill>
                <a:latin typeface="Calibri" pitchFamily="34" charset="0"/>
                <a:ea typeface="Calibri" pitchFamily="34" charset="-122"/>
                <a:cs typeface="Calibri" pitchFamily="34" charset="-120"/>
              </a:rPr>
              <a:t>Shared State</a:t>
            </a:r>
            <a:endParaRPr lang="en-US" sz="950" dirty="0"/>
          </a:p>
        </p:txBody>
      </p:sp>
      <p:sp>
        <p:nvSpPr>
          <p:cNvPr id="29" name="Text 27"/>
          <p:cNvSpPr/>
          <p:nvPr/>
        </p:nvSpPr>
        <p:spPr>
          <a:xfrm>
            <a:off x="1572768" y="1741018"/>
            <a:ext cx="3364992" cy="256032"/>
          </a:xfrm>
          <a:prstGeom prst="rect">
            <a:avLst/>
          </a:prstGeom>
          <a:noFill/>
          <a:ln/>
        </p:spPr>
        <p:txBody>
          <a:bodyPr wrap="square" rtlCol="0" anchor="ctr"/>
          <a:lstStyle/>
          <a:p>
            <a:pPr indent="0" marL="0">
              <a:buNone/>
            </a:pPr>
            <a:r>
              <a:rPr lang="en-US" sz="950" dirty="0">
                <a:solidFill>
                  <a:srgbClr val="F87171"/>
                </a:solidFill>
                <a:latin typeface="Calibri" pitchFamily="34" charset="0"/>
                <a:ea typeface="Calibri" pitchFamily="34" charset="-122"/>
                <a:cs typeface="Calibri" pitchFamily="34" charset="-120"/>
              </a:rPr>
              <a:t>✗  Process memory (unshared)</a:t>
            </a:r>
            <a:endParaRPr lang="en-US" sz="950" dirty="0"/>
          </a:p>
        </p:txBody>
      </p:sp>
      <p:sp>
        <p:nvSpPr>
          <p:cNvPr id="30" name="Text 28"/>
          <p:cNvSpPr/>
          <p:nvPr/>
        </p:nvSpPr>
        <p:spPr>
          <a:xfrm>
            <a:off x="5056632" y="1741018"/>
            <a:ext cx="3785616" cy="256032"/>
          </a:xfrm>
          <a:prstGeom prst="rect">
            <a:avLst/>
          </a:prstGeom>
          <a:noFill/>
          <a:ln/>
        </p:spPr>
        <p:txBody>
          <a:bodyPr wrap="square" rtlCol="0" anchor="ctr"/>
          <a:lstStyle/>
          <a:p>
            <a:pPr indent="0" marL="0">
              <a:buNone/>
            </a:pPr>
            <a:r>
              <a:rPr lang="en-US" sz="950" dirty="0">
                <a:solidFill>
                  <a:srgbClr val="4ADE80"/>
                </a:solidFill>
                <a:latin typeface="Calibri" pitchFamily="34" charset="0"/>
                <a:ea typeface="Calibri" pitchFamily="34" charset="-122"/>
                <a:cs typeface="Calibri" pitchFamily="34" charset="-120"/>
              </a:rPr>
              <a:t>✓  Redis (distributed across instances)</a:t>
            </a:r>
            <a:endParaRPr lang="en-US" sz="950" dirty="0"/>
          </a:p>
        </p:txBody>
      </p:sp>
      <p:sp>
        <p:nvSpPr>
          <p:cNvPr id="31" name="Text 29"/>
          <p:cNvSpPr/>
          <p:nvPr/>
        </p:nvSpPr>
        <p:spPr>
          <a:xfrm>
            <a:off x="4773168" y="1741018"/>
            <a:ext cx="228600" cy="256032"/>
          </a:xfrm>
          <a:prstGeom prst="rect">
            <a:avLst/>
          </a:prstGeom>
          <a:noFill/>
          <a:ln/>
        </p:spPr>
        <p:txBody>
          <a:bodyPr wrap="square" rtlCol="0" anchor="ctr"/>
          <a:lstStyle/>
          <a:p>
            <a:pPr algn="ctr" indent="0" marL="0">
              <a:buNone/>
            </a:pPr>
            <a:r>
              <a:rPr lang="en-US" sz="1000" dirty="0">
                <a:solidFill>
                  <a:srgbClr val="FCD34D"/>
                </a:solidFill>
                <a:latin typeface="Calibri" pitchFamily="34" charset="0"/>
                <a:ea typeface="Calibri" pitchFamily="34" charset="-122"/>
                <a:cs typeface="Calibri" pitchFamily="34" charset="-120"/>
              </a:rPr>
              <a:t>→</a:t>
            </a:r>
            <a:endParaRPr lang="en-US" sz="1000" dirty="0"/>
          </a:p>
        </p:txBody>
      </p:sp>
      <p:sp>
        <p:nvSpPr>
          <p:cNvPr id="32" name="Shape 30"/>
          <p:cNvSpPr/>
          <p:nvPr/>
        </p:nvSpPr>
        <p:spPr>
          <a:xfrm>
            <a:off x="256032" y="2017166"/>
            <a:ext cx="1261872" cy="256032"/>
          </a:xfrm>
          <a:prstGeom prst="rect">
            <a:avLst/>
          </a:prstGeom>
          <a:solidFill>
            <a:srgbClr val="0D1929"/>
          </a:solidFill>
          <a:ln w="3175">
            <a:solidFill>
              <a:srgbClr val="334155"/>
            </a:solidFill>
            <a:prstDash val="solid"/>
          </a:ln>
        </p:spPr>
      </p:sp>
      <p:sp>
        <p:nvSpPr>
          <p:cNvPr id="33" name="Shape 31"/>
          <p:cNvSpPr/>
          <p:nvPr/>
        </p:nvSpPr>
        <p:spPr>
          <a:xfrm>
            <a:off x="1536192" y="2017166"/>
            <a:ext cx="3456432" cy="256032"/>
          </a:xfrm>
          <a:prstGeom prst="rect">
            <a:avLst/>
          </a:prstGeom>
          <a:solidFill>
            <a:srgbClr val="150808"/>
          </a:solidFill>
          <a:ln w="3175">
            <a:solidFill>
              <a:srgbClr val="3A1212"/>
            </a:solidFill>
            <a:prstDash val="solid"/>
          </a:ln>
        </p:spPr>
      </p:sp>
      <p:sp>
        <p:nvSpPr>
          <p:cNvPr id="34" name="Shape 32"/>
          <p:cNvSpPr/>
          <p:nvPr/>
        </p:nvSpPr>
        <p:spPr>
          <a:xfrm>
            <a:off x="5020056" y="2017166"/>
            <a:ext cx="3867912" cy="256032"/>
          </a:xfrm>
          <a:prstGeom prst="rect">
            <a:avLst/>
          </a:prstGeom>
          <a:solidFill>
            <a:srgbClr val="081508"/>
          </a:solidFill>
          <a:ln w="3175">
            <a:solidFill>
              <a:srgbClr val="123A12"/>
            </a:solidFill>
            <a:prstDash val="solid"/>
          </a:ln>
        </p:spPr>
      </p:sp>
      <p:sp>
        <p:nvSpPr>
          <p:cNvPr id="35" name="Text 33"/>
          <p:cNvSpPr/>
          <p:nvPr/>
        </p:nvSpPr>
        <p:spPr>
          <a:xfrm>
            <a:off x="301752" y="2017166"/>
            <a:ext cx="1170432" cy="256032"/>
          </a:xfrm>
          <a:prstGeom prst="rect">
            <a:avLst/>
          </a:prstGeom>
          <a:noFill/>
          <a:ln/>
        </p:spPr>
        <p:txBody>
          <a:bodyPr wrap="square" rtlCol="0" anchor="ctr"/>
          <a:lstStyle/>
          <a:p>
            <a:pPr indent="0" marL="0">
              <a:buNone/>
            </a:pPr>
            <a:r>
              <a:rPr lang="en-US" sz="950" b="1" dirty="0">
                <a:solidFill>
                  <a:srgbClr val="94A3B8"/>
                </a:solidFill>
                <a:latin typeface="Calibri" pitchFamily="34" charset="0"/>
                <a:ea typeface="Calibri" pitchFamily="34" charset="-122"/>
                <a:cs typeface="Calibri" pitchFamily="34" charset="-120"/>
              </a:rPr>
              <a:t>Auth Token</a:t>
            </a:r>
            <a:endParaRPr lang="en-US" sz="950" dirty="0"/>
          </a:p>
        </p:txBody>
      </p:sp>
      <p:sp>
        <p:nvSpPr>
          <p:cNvPr id="36" name="Text 34"/>
          <p:cNvSpPr/>
          <p:nvPr/>
        </p:nvSpPr>
        <p:spPr>
          <a:xfrm>
            <a:off x="1572768" y="2017166"/>
            <a:ext cx="3364992" cy="256032"/>
          </a:xfrm>
          <a:prstGeom prst="rect">
            <a:avLst/>
          </a:prstGeom>
          <a:noFill/>
          <a:ln/>
        </p:spPr>
        <p:txBody>
          <a:bodyPr wrap="square" rtlCol="0" anchor="ctr"/>
          <a:lstStyle/>
          <a:p>
            <a:pPr indent="0" marL="0">
              <a:buNone/>
            </a:pPr>
            <a:r>
              <a:rPr lang="en-US" sz="950" dirty="0">
                <a:solidFill>
                  <a:srgbClr val="F87171"/>
                </a:solidFill>
                <a:latin typeface="Calibri" pitchFamily="34" charset="0"/>
                <a:ea typeface="Calibri" pitchFamily="34" charset="-122"/>
                <a:cs typeface="Calibri" pitchFamily="34" charset="-120"/>
              </a:rPr>
              <a:t>✗  JWT in localStorage</a:t>
            </a:r>
            <a:endParaRPr lang="en-US" sz="950" dirty="0"/>
          </a:p>
        </p:txBody>
      </p:sp>
      <p:sp>
        <p:nvSpPr>
          <p:cNvPr id="37" name="Text 35"/>
          <p:cNvSpPr/>
          <p:nvPr/>
        </p:nvSpPr>
        <p:spPr>
          <a:xfrm>
            <a:off x="5056632" y="2017166"/>
            <a:ext cx="3785616" cy="256032"/>
          </a:xfrm>
          <a:prstGeom prst="rect">
            <a:avLst/>
          </a:prstGeom>
          <a:noFill/>
          <a:ln/>
        </p:spPr>
        <p:txBody>
          <a:bodyPr wrap="square" rtlCol="0" anchor="ctr"/>
          <a:lstStyle/>
          <a:p>
            <a:pPr indent="0" marL="0">
              <a:buNone/>
            </a:pPr>
            <a:r>
              <a:rPr lang="en-US" sz="950" dirty="0">
                <a:solidFill>
                  <a:srgbClr val="4ADE80"/>
                </a:solidFill>
                <a:latin typeface="Calibri" pitchFamily="34" charset="0"/>
                <a:ea typeface="Calibri" pitchFamily="34" charset="-122"/>
                <a:cs typeface="Calibri" pitchFamily="34" charset="-120"/>
              </a:rPr>
              <a:t>✓  httpOnly cookie + refresh token</a:t>
            </a:r>
            <a:endParaRPr lang="en-US" sz="950" dirty="0"/>
          </a:p>
        </p:txBody>
      </p:sp>
      <p:sp>
        <p:nvSpPr>
          <p:cNvPr id="38" name="Text 36"/>
          <p:cNvSpPr/>
          <p:nvPr/>
        </p:nvSpPr>
        <p:spPr>
          <a:xfrm>
            <a:off x="4773168" y="2017166"/>
            <a:ext cx="228600" cy="256032"/>
          </a:xfrm>
          <a:prstGeom prst="rect">
            <a:avLst/>
          </a:prstGeom>
          <a:noFill/>
          <a:ln/>
        </p:spPr>
        <p:txBody>
          <a:bodyPr wrap="square" rtlCol="0" anchor="ctr"/>
          <a:lstStyle/>
          <a:p>
            <a:pPr algn="ctr" indent="0" marL="0">
              <a:buNone/>
            </a:pPr>
            <a:r>
              <a:rPr lang="en-US" sz="1000" dirty="0">
                <a:solidFill>
                  <a:srgbClr val="FCD34D"/>
                </a:solidFill>
                <a:latin typeface="Calibri" pitchFamily="34" charset="0"/>
                <a:ea typeface="Calibri" pitchFamily="34" charset="-122"/>
                <a:cs typeface="Calibri" pitchFamily="34" charset="-120"/>
              </a:rPr>
              <a:t>→</a:t>
            </a:r>
            <a:endParaRPr lang="en-US" sz="1000" dirty="0"/>
          </a:p>
        </p:txBody>
      </p:sp>
      <p:sp>
        <p:nvSpPr>
          <p:cNvPr id="39" name="Shape 37"/>
          <p:cNvSpPr/>
          <p:nvPr/>
        </p:nvSpPr>
        <p:spPr>
          <a:xfrm>
            <a:off x="256032" y="2293315"/>
            <a:ext cx="1261872" cy="256032"/>
          </a:xfrm>
          <a:prstGeom prst="rect">
            <a:avLst/>
          </a:prstGeom>
          <a:solidFill>
            <a:srgbClr val="1E293B"/>
          </a:solidFill>
          <a:ln w="3175">
            <a:solidFill>
              <a:srgbClr val="334155"/>
            </a:solidFill>
            <a:prstDash val="solid"/>
          </a:ln>
        </p:spPr>
      </p:sp>
      <p:sp>
        <p:nvSpPr>
          <p:cNvPr id="40" name="Shape 38"/>
          <p:cNvSpPr/>
          <p:nvPr/>
        </p:nvSpPr>
        <p:spPr>
          <a:xfrm>
            <a:off x="1536192" y="2293315"/>
            <a:ext cx="3456432" cy="256032"/>
          </a:xfrm>
          <a:prstGeom prst="rect">
            <a:avLst/>
          </a:prstGeom>
          <a:solidFill>
            <a:srgbClr val="150808"/>
          </a:solidFill>
          <a:ln w="3175">
            <a:solidFill>
              <a:srgbClr val="3A1212"/>
            </a:solidFill>
            <a:prstDash val="solid"/>
          </a:ln>
        </p:spPr>
      </p:sp>
      <p:sp>
        <p:nvSpPr>
          <p:cNvPr id="41" name="Shape 39"/>
          <p:cNvSpPr/>
          <p:nvPr/>
        </p:nvSpPr>
        <p:spPr>
          <a:xfrm>
            <a:off x="5020056" y="2293315"/>
            <a:ext cx="3867912" cy="256032"/>
          </a:xfrm>
          <a:prstGeom prst="rect">
            <a:avLst/>
          </a:prstGeom>
          <a:solidFill>
            <a:srgbClr val="081508"/>
          </a:solidFill>
          <a:ln w="3175">
            <a:solidFill>
              <a:srgbClr val="123A12"/>
            </a:solidFill>
            <a:prstDash val="solid"/>
          </a:ln>
        </p:spPr>
      </p:sp>
      <p:sp>
        <p:nvSpPr>
          <p:cNvPr id="42" name="Text 40"/>
          <p:cNvSpPr/>
          <p:nvPr/>
        </p:nvSpPr>
        <p:spPr>
          <a:xfrm>
            <a:off x="301752" y="2293315"/>
            <a:ext cx="1170432" cy="256032"/>
          </a:xfrm>
          <a:prstGeom prst="rect">
            <a:avLst/>
          </a:prstGeom>
          <a:noFill/>
          <a:ln/>
        </p:spPr>
        <p:txBody>
          <a:bodyPr wrap="square" rtlCol="0" anchor="ctr"/>
          <a:lstStyle/>
          <a:p>
            <a:pPr indent="0" marL="0">
              <a:buNone/>
            </a:pPr>
            <a:r>
              <a:rPr lang="en-US" sz="950" b="1" dirty="0">
                <a:solidFill>
                  <a:srgbClr val="94A3B8"/>
                </a:solidFill>
                <a:latin typeface="Calibri" pitchFamily="34" charset="0"/>
                <a:ea typeface="Calibri" pitchFamily="34" charset="-122"/>
                <a:cs typeface="Calibri" pitchFamily="34" charset="-120"/>
              </a:rPr>
              <a:t>Identity Trust</a:t>
            </a:r>
            <a:endParaRPr lang="en-US" sz="950" dirty="0"/>
          </a:p>
        </p:txBody>
      </p:sp>
      <p:sp>
        <p:nvSpPr>
          <p:cNvPr id="43" name="Text 41"/>
          <p:cNvSpPr/>
          <p:nvPr/>
        </p:nvSpPr>
        <p:spPr>
          <a:xfrm>
            <a:off x="1572768" y="2293315"/>
            <a:ext cx="3364992" cy="256032"/>
          </a:xfrm>
          <a:prstGeom prst="rect">
            <a:avLst/>
          </a:prstGeom>
          <a:noFill/>
          <a:ln/>
        </p:spPr>
        <p:txBody>
          <a:bodyPr wrap="square" rtlCol="0" anchor="ctr"/>
          <a:lstStyle/>
          <a:p>
            <a:pPr indent="0" marL="0">
              <a:buNone/>
            </a:pPr>
            <a:r>
              <a:rPr lang="en-US" sz="950" dirty="0">
                <a:solidFill>
                  <a:srgbClr val="F87171"/>
                </a:solidFill>
                <a:latin typeface="Calibri" pitchFamily="34" charset="0"/>
                <a:ea typeface="Calibri" pitchFamily="34" charset="-122"/>
                <a:cs typeface="Calibri" pitchFamily="34" charset="-120"/>
              </a:rPr>
              <a:t>✗  Client payload (easily spoofed)</a:t>
            </a:r>
            <a:endParaRPr lang="en-US" sz="950" dirty="0"/>
          </a:p>
        </p:txBody>
      </p:sp>
      <p:sp>
        <p:nvSpPr>
          <p:cNvPr id="44" name="Text 42"/>
          <p:cNvSpPr/>
          <p:nvPr/>
        </p:nvSpPr>
        <p:spPr>
          <a:xfrm>
            <a:off x="5056632" y="2293315"/>
            <a:ext cx="3785616" cy="256032"/>
          </a:xfrm>
          <a:prstGeom prst="rect">
            <a:avLst/>
          </a:prstGeom>
          <a:noFill/>
          <a:ln/>
        </p:spPr>
        <p:txBody>
          <a:bodyPr wrap="square" rtlCol="0" anchor="ctr"/>
          <a:lstStyle/>
          <a:p>
            <a:pPr indent="0" marL="0">
              <a:buNone/>
            </a:pPr>
            <a:r>
              <a:rPr lang="en-US" sz="950" dirty="0">
                <a:solidFill>
                  <a:srgbClr val="4ADE80"/>
                </a:solidFill>
                <a:latin typeface="Calibri" pitchFamily="34" charset="0"/>
                <a:ea typeface="Calibri" pitchFamily="34" charset="-122"/>
                <a:cs typeface="Calibri" pitchFamily="34" charset="-120"/>
              </a:rPr>
              <a:t>✓  Server-derived from verified JWT</a:t>
            </a:r>
            <a:endParaRPr lang="en-US" sz="950" dirty="0"/>
          </a:p>
        </p:txBody>
      </p:sp>
      <p:sp>
        <p:nvSpPr>
          <p:cNvPr id="45" name="Text 43"/>
          <p:cNvSpPr/>
          <p:nvPr/>
        </p:nvSpPr>
        <p:spPr>
          <a:xfrm>
            <a:off x="4773168" y="2293315"/>
            <a:ext cx="228600" cy="256032"/>
          </a:xfrm>
          <a:prstGeom prst="rect">
            <a:avLst/>
          </a:prstGeom>
          <a:noFill/>
          <a:ln/>
        </p:spPr>
        <p:txBody>
          <a:bodyPr wrap="square" rtlCol="0" anchor="ctr"/>
          <a:lstStyle/>
          <a:p>
            <a:pPr algn="ctr" indent="0" marL="0">
              <a:buNone/>
            </a:pPr>
            <a:r>
              <a:rPr lang="en-US" sz="1000" dirty="0">
                <a:solidFill>
                  <a:srgbClr val="FCD34D"/>
                </a:solidFill>
                <a:latin typeface="Calibri" pitchFamily="34" charset="0"/>
                <a:ea typeface="Calibri" pitchFamily="34" charset="-122"/>
                <a:cs typeface="Calibri" pitchFamily="34" charset="-120"/>
              </a:rPr>
              <a:t>→</a:t>
            </a:r>
            <a:endParaRPr lang="en-US" sz="1000" dirty="0"/>
          </a:p>
        </p:txBody>
      </p:sp>
      <p:sp>
        <p:nvSpPr>
          <p:cNvPr id="46" name="Shape 44"/>
          <p:cNvSpPr/>
          <p:nvPr/>
        </p:nvSpPr>
        <p:spPr>
          <a:xfrm>
            <a:off x="256032" y="2569464"/>
            <a:ext cx="1261872" cy="256032"/>
          </a:xfrm>
          <a:prstGeom prst="rect">
            <a:avLst/>
          </a:prstGeom>
          <a:solidFill>
            <a:srgbClr val="0D1929"/>
          </a:solidFill>
          <a:ln w="3175">
            <a:solidFill>
              <a:srgbClr val="334155"/>
            </a:solidFill>
            <a:prstDash val="solid"/>
          </a:ln>
        </p:spPr>
      </p:sp>
      <p:sp>
        <p:nvSpPr>
          <p:cNvPr id="47" name="Shape 45"/>
          <p:cNvSpPr/>
          <p:nvPr/>
        </p:nvSpPr>
        <p:spPr>
          <a:xfrm>
            <a:off x="1536192" y="2569464"/>
            <a:ext cx="3456432" cy="256032"/>
          </a:xfrm>
          <a:prstGeom prst="rect">
            <a:avLst/>
          </a:prstGeom>
          <a:solidFill>
            <a:srgbClr val="150808"/>
          </a:solidFill>
          <a:ln w="3175">
            <a:solidFill>
              <a:srgbClr val="3A1212"/>
            </a:solidFill>
            <a:prstDash val="solid"/>
          </a:ln>
        </p:spPr>
      </p:sp>
      <p:sp>
        <p:nvSpPr>
          <p:cNvPr id="48" name="Shape 46"/>
          <p:cNvSpPr/>
          <p:nvPr/>
        </p:nvSpPr>
        <p:spPr>
          <a:xfrm>
            <a:off x="5020056" y="2569464"/>
            <a:ext cx="3867912" cy="256032"/>
          </a:xfrm>
          <a:prstGeom prst="rect">
            <a:avLst/>
          </a:prstGeom>
          <a:solidFill>
            <a:srgbClr val="081508"/>
          </a:solidFill>
          <a:ln w="3175">
            <a:solidFill>
              <a:srgbClr val="123A12"/>
            </a:solidFill>
            <a:prstDash val="solid"/>
          </a:ln>
        </p:spPr>
      </p:sp>
      <p:sp>
        <p:nvSpPr>
          <p:cNvPr id="49" name="Text 47"/>
          <p:cNvSpPr/>
          <p:nvPr/>
        </p:nvSpPr>
        <p:spPr>
          <a:xfrm>
            <a:off x="301752" y="2569464"/>
            <a:ext cx="1170432" cy="256032"/>
          </a:xfrm>
          <a:prstGeom prst="rect">
            <a:avLst/>
          </a:prstGeom>
          <a:noFill/>
          <a:ln/>
        </p:spPr>
        <p:txBody>
          <a:bodyPr wrap="square" rtlCol="0" anchor="ctr"/>
          <a:lstStyle/>
          <a:p>
            <a:pPr indent="0" marL="0">
              <a:buNone/>
            </a:pPr>
            <a:r>
              <a:rPr lang="en-US" sz="950" b="1" dirty="0">
                <a:solidFill>
                  <a:srgbClr val="94A3B8"/>
                </a:solidFill>
                <a:latin typeface="Calibri" pitchFamily="34" charset="0"/>
                <a:ea typeface="Calibri" pitchFamily="34" charset="-122"/>
                <a:cs typeface="Calibri" pitchFamily="34" charset="-120"/>
              </a:rPr>
              <a:t>Architecture</a:t>
            </a:r>
            <a:endParaRPr lang="en-US" sz="950" dirty="0"/>
          </a:p>
        </p:txBody>
      </p:sp>
      <p:sp>
        <p:nvSpPr>
          <p:cNvPr id="50" name="Text 48"/>
          <p:cNvSpPr/>
          <p:nvPr/>
        </p:nvSpPr>
        <p:spPr>
          <a:xfrm>
            <a:off x="1572768" y="2569464"/>
            <a:ext cx="3364992" cy="256032"/>
          </a:xfrm>
          <a:prstGeom prst="rect">
            <a:avLst/>
          </a:prstGeom>
          <a:noFill/>
          <a:ln/>
        </p:spPr>
        <p:txBody>
          <a:bodyPr wrap="square" rtlCol="0" anchor="ctr"/>
          <a:lstStyle/>
          <a:p>
            <a:pPr indent="0" marL="0">
              <a:buNone/>
            </a:pPr>
            <a:r>
              <a:rPr lang="en-US" sz="950" dirty="0">
                <a:solidFill>
                  <a:srgbClr val="F87171"/>
                </a:solidFill>
                <a:latin typeface="Calibri" pitchFamily="34" charset="0"/>
                <a:ea typeface="Calibri" pitchFamily="34" charset="-122"/>
                <a:cs typeface="Calibri" pitchFamily="34" charset="-120"/>
              </a:rPr>
              <a:t>✗  God Object — one file owns all</a:t>
            </a:r>
            <a:endParaRPr lang="en-US" sz="950" dirty="0"/>
          </a:p>
        </p:txBody>
      </p:sp>
      <p:sp>
        <p:nvSpPr>
          <p:cNvPr id="51" name="Text 49"/>
          <p:cNvSpPr/>
          <p:nvPr/>
        </p:nvSpPr>
        <p:spPr>
          <a:xfrm>
            <a:off x="5056632" y="2569464"/>
            <a:ext cx="3785616" cy="256032"/>
          </a:xfrm>
          <a:prstGeom prst="rect">
            <a:avLst/>
          </a:prstGeom>
          <a:noFill/>
          <a:ln/>
        </p:spPr>
        <p:txBody>
          <a:bodyPr wrap="square" rtlCol="0" anchor="ctr"/>
          <a:lstStyle/>
          <a:p>
            <a:pPr indent="0" marL="0">
              <a:buNone/>
            </a:pPr>
            <a:r>
              <a:rPr lang="en-US" sz="950" dirty="0">
                <a:solidFill>
                  <a:srgbClr val="4ADE80"/>
                </a:solidFill>
                <a:latin typeface="Calibri" pitchFamily="34" charset="0"/>
                <a:ea typeface="Calibri" pitchFamily="34" charset="-122"/>
                <a:cs typeface="Calibri" pitchFamily="34" charset="-120"/>
              </a:rPr>
              <a:t>✓  5 clean domain modules</a:t>
            </a:r>
            <a:endParaRPr lang="en-US" sz="950" dirty="0"/>
          </a:p>
        </p:txBody>
      </p:sp>
      <p:sp>
        <p:nvSpPr>
          <p:cNvPr id="52" name="Text 50"/>
          <p:cNvSpPr/>
          <p:nvPr/>
        </p:nvSpPr>
        <p:spPr>
          <a:xfrm>
            <a:off x="4773168" y="2569464"/>
            <a:ext cx="228600" cy="256032"/>
          </a:xfrm>
          <a:prstGeom prst="rect">
            <a:avLst/>
          </a:prstGeom>
          <a:noFill/>
          <a:ln/>
        </p:spPr>
        <p:txBody>
          <a:bodyPr wrap="square" rtlCol="0" anchor="ctr"/>
          <a:lstStyle/>
          <a:p>
            <a:pPr algn="ctr" indent="0" marL="0">
              <a:buNone/>
            </a:pPr>
            <a:r>
              <a:rPr lang="en-US" sz="1000" dirty="0">
                <a:solidFill>
                  <a:srgbClr val="FCD34D"/>
                </a:solidFill>
                <a:latin typeface="Calibri" pitchFamily="34" charset="0"/>
                <a:ea typeface="Calibri" pitchFamily="34" charset="-122"/>
                <a:cs typeface="Calibri" pitchFamily="34" charset="-120"/>
              </a:rPr>
              <a:t>→</a:t>
            </a:r>
            <a:endParaRPr lang="en-US" sz="1000" dirty="0"/>
          </a:p>
        </p:txBody>
      </p:sp>
      <p:sp>
        <p:nvSpPr>
          <p:cNvPr id="53" name="Shape 51"/>
          <p:cNvSpPr/>
          <p:nvPr/>
        </p:nvSpPr>
        <p:spPr>
          <a:xfrm>
            <a:off x="256032" y="2845613"/>
            <a:ext cx="1261872" cy="256032"/>
          </a:xfrm>
          <a:prstGeom prst="rect">
            <a:avLst/>
          </a:prstGeom>
          <a:solidFill>
            <a:srgbClr val="1E293B"/>
          </a:solidFill>
          <a:ln w="3175">
            <a:solidFill>
              <a:srgbClr val="334155"/>
            </a:solidFill>
            <a:prstDash val="solid"/>
          </a:ln>
        </p:spPr>
      </p:sp>
      <p:sp>
        <p:nvSpPr>
          <p:cNvPr id="54" name="Shape 52"/>
          <p:cNvSpPr/>
          <p:nvPr/>
        </p:nvSpPr>
        <p:spPr>
          <a:xfrm>
            <a:off x="1536192" y="2845613"/>
            <a:ext cx="3456432" cy="256032"/>
          </a:xfrm>
          <a:prstGeom prst="rect">
            <a:avLst/>
          </a:prstGeom>
          <a:solidFill>
            <a:srgbClr val="150808"/>
          </a:solidFill>
          <a:ln w="3175">
            <a:solidFill>
              <a:srgbClr val="3A1212"/>
            </a:solidFill>
            <a:prstDash val="solid"/>
          </a:ln>
        </p:spPr>
      </p:sp>
      <p:sp>
        <p:nvSpPr>
          <p:cNvPr id="55" name="Shape 53"/>
          <p:cNvSpPr/>
          <p:nvPr/>
        </p:nvSpPr>
        <p:spPr>
          <a:xfrm>
            <a:off x="5020056" y="2845613"/>
            <a:ext cx="3867912" cy="256032"/>
          </a:xfrm>
          <a:prstGeom prst="rect">
            <a:avLst/>
          </a:prstGeom>
          <a:solidFill>
            <a:srgbClr val="081508"/>
          </a:solidFill>
          <a:ln w="3175">
            <a:solidFill>
              <a:srgbClr val="123A12"/>
            </a:solidFill>
            <a:prstDash val="solid"/>
          </a:ln>
        </p:spPr>
      </p:sp>
      <p:sp>
        <p:nvSpPr>
          <p:cNvPr id="56" name="Text 54"/>
          <p:cNvSpPr/>
          <p:nvPr/>
        </p:nvSpPr>
        <p:spPr>
          <a:xfrm>
            <a:off x="301752" y="2845613"/>
            <a:ext cx="1170432" cy="256032"/>
          </a:xfrm>
          <a:prstGeom prst="rect">
            <a:avLst/>
          </a:prstGeom>
          <a:noFill/>
          <a:ln/>
        </p:spPr>
        <p:txBody>
          <a:bodyPr wrap="square" rtlCol="0" anchor="ctr"/>
          <a:lstStyle/>
          <a:p>
            <a:pPr indent="0" marL="0">
              <a:buNone/>
            </a:pPr>
            <a:r>
              <a:rPr lang="en-US" sz="950" b="1" dirty="0">
                <a:solidFill>
                  <a:srgbClr val="94A3B8"/>
                </a:solidFill>
                <a:latin typeface="Calibri" pitchFamily="34" charset="0"/>
                <a:ea typeface="Calibri" pitchFamily="34" charset="-122"/>
                <a:cs typeface="Calibri" pitchFamily="34" charset="-120"/>
              </a:rPr>
              <a:t>Horizontal Scale</a:t>
            </a:r>
            <a:endParaRPr lang="en-US" sz="950" dirty="0"/>
          </a:p>
        </p:txBody>
      </p:sp>
      <p:sp>
        <p:nvSpPr>
          <p:cNvPr id="57" name="Text 55"/>
          <p:cNvSpPr/>
          <p:nvPr/>
        </p:nvSpPr>
        <p:spPr>
          <a:xfrm>
            <a:off x="1572768" y="2845613"/>
            <a:ext cx="3364992" cy="256032"/>
          </a:xfrm>
          <a:prstGeom prst="rect">
            <a:avLst/>
          </a:prstGeom>
          <a:noFill/>
          <a:ln/>
        </p:spPr>
        <p:txBody>
          <a:bodyPr wrap="square" rtlCol="0" anchor="ctr"/>
          <a:lstStyle/>
          <a:p>
            <a:pPr indent="0" marL="0">
              <a:buNone/>
            </a:pPr>
            <a:r>
              <a:rPr lang="en-US" sz="950" dirty="0">
                <a:solidFill>
                  <a:srgbClr val="F87171"/>
                </a:solidFill>
                <a:latin typeface="Calibri" pitchFamily="34" charset="0"/>
                <a:ea typeface="Calibri" pitchFamily="34" charset="-122"/>
                <a:cs typeface="Calibri" pitchFamily="34" charset="-120"/>
              </a:rPr>
              <a:t>✗  Single server only</a:t>
            </a:r>
            <a:endParaRPr lang="en-US" sz="950" dirty="0"/>
          </a:p>
        </p:txBody>
      </p:sp>
      <p:sp>
        <p:nvSpPr>
          <p:cNvPr id="58" name="Text 56"/>
          <p:cNvSpPr/>
          <p:nvPr/>
        </p:nvSpPr>
        <p:spPr>
          <a:xfrm>
            <a:off x="5056632" y="2845613"/>
            <a:ext cx="3785616" cy="256032"/>
          </a:xfrm>
          <a:prstGeom prst="rect">
            <a:avLst/>
          </a:prstGeom>
          <a:noFill/>
          <a:ln/>
        </p:spPr>
        <p:txBody>
          <a:bodyPr wrap="square" rtlCol="0" anchor="ctr"/>
          <a:lstStyle/>
          <a:p>
            <a:pPr indent="0" marL="0">
              <a:buNone/>
            </a:pPr>
            <a:r>
              <a:rPr lang="en-US" sz="950" dirty="0">
                <a:solidFill>
                  <a:srgbClr val="4ADE80"/>
                </a:solidFill>
                <a:latin typeface="Calibri" pitchFamily="34" charset="0"/>
                <a:ea typeface="Calibri" pitchFamily="34" charset="-122"/>
                <a:cs typeface="Calibri" pitchFamily="34" charset="-120"/>
              </a:rPr>
              <a:t>✓  N instances via Redis adapter</a:t>
            </a:r>
            <a:endParaRPr lang="en-US" sz="950" dirty="0"/>
          </a:p>
        </p:txBody>
      </p:sp>
      <p:sp>
        <p:nvSpPr>
          <p:cNvPr id="59" name="Text 57"/>
          <p:cNvSpPr/>
          <p:nvPr/>
        </p:nvSpPr>
        <p:spPr>
          <a:xfrm>
            <a:off x="4773168" y="2845613"/>
            <a:ext cx="228600" cy="256032"/>
          </a:xfrm>
          <a:prstGeom prst="rect">
            <a:avLst/>
          </a:prstGeom>
          <a:noFill/>
          <a:ln/>
        </p:spPr>
        <p:txBody>
          <a:bodyPr wrap="square" rtlCol="0" anchor="ctr"/>
          <a:lstStyle/>
          <a:p>
            <a:pPr algn="ctr" indent="0" marL="0">
              <a:buNone/>
            </a:pPr>
            <a:r>
              <a:rPr lang="en-US" sz="1000" dirty="0">
                <a:solidFill>
                  <a:srgbClr val="FCD34D"/>
                </a:solidFill>
                <a:latin typeface="Calibri" pitchFamily="34" charset="0"/>
                <a:ea typeface="Calibri" pitchFamily="34" charset="-122"/>
                <a:cs typeface="Calibri" pitchFamily="34" charset="-120"/>
              </a:rPr>
              <a:t>→</a:t>
            </a:r>
            <a:endParaRPr lang="en-US" sz="1000" dirty="0"/>
          </a:p>
        </p:txBody>
      </p:sp>
      <p:sp>
        <p:nvSpPr>
          <p:cNvPr id="60" name="Shape 58"/>
          <p:cNvSpPr/>
          <p:nvPr/>
        </p:nvSpPr>
        <p:spPr>
          <a:xfrm>
            <a:off x="256032" y="3121762"/>
            <a:ext cx="1261872" cy="256032"/>
          </a:xfrm>
          <a:prstGeom prst="rect">
            <a:avLst/>
          </a:prstGeom>
          <a:solidFill>
            <a:srgbClr val="0D1929"/>
          </a:solidFill>
          <a:ln w="3175">
            <a:solidFill>
              <a:srgbClr val="334155"/>
            </a:solidFill>
            <a:prstDash val="solid"/>
          </a:ln>
        </p:spPr>
      </p:sp>
      <p:sp>
        <p:nvSpPr>
          <p:cNvPr id="61" name="Shape 59"/>
          <p:cNvSpPr/>
          <p:nvPr/>
        </p:nvSpPr>
        <p:spPr>
          <a:xfrm>
            <a:off x="1536192" y="3121762"/>
            <a:ext cx="3456432" cy="256032"/>
          </a:xfrm>
          <a:prstGeom prst="rect">
            <a:avLst/>
          </a:prstGeom>
          <a:solidFill>
            <a:srgbClr val="150808"/>
          </a:solidFill>
          <a:ln w="3175">
            <a:solidFill>
              <a:srgbClr val="3A1212"/>
            </a:solidFill>
            <a:prstDash val="solid"/>
          </a:ln>
        </p:spPr>
      </p:sp>
      <p:sp>
        <p:nvSpPr>
          <p:cNvPr id="62" name="Shape 60"/>
          <p:cNvSpPr/>
          <p:nvPr/>
        </p:nvSpPr>
        <p:spPr>
          <a:xfrm>
            <a:off x="5020056" y="3121762"/>
            <a:ext cx="3867912" cy="256032"/>
          </a:xfrm>
          <a:prstGeom prst="rect">
            <a:avLst/>
          </a:prstGeom>
          <a:solidFill>
            <a:srgbClr val="081508"/>
          </a:solidFill>
          <a:ln w="3175">
            <a:solidFill>
              <a:srgbClr val="123A12"/>
            </a:solidFill>
            <a:prstDash val="solid"/>
          </a:ln>
        </p:spPr>
      </p:sp>
      <p:sp>
        <p:nvSpPr>
          <p:cNvPr id="63" name="Text 61"/>
          <p:cNvSpPr/>
          <p:nvPr/>
        </p:nvSpPr>
        <p:spPr>
          <a:xfrm>
            <a:off x="301752" y="3121762"/>
            <a:ext cx="1170432" cy="256032"/>
          </a:xfrm>
          <a:prstGeom prst="rect">
            <a:avLst/>
          </a:prstGeom>
          <a:noFill/>
          <a:ln/>
        </p:spPr>
        <p:txBody>
          <a:bodyPr wrap="square" rtlCol="0" anchor="ctr"/>
          <a:lstStyle/>
          <a:p>
            <a:pPr indent="0" marL="0">
              <a:buNone/>
            </a:pPr>
            <a:r>
              <a:rPr lang="en-US" sz="950" b="1" dirty="0">
                <a:solidFill>
                  <a:srgbClr val="94A3B8"/>
                </a:solidFill>
                <a:latin typeface="Calibri" pitchFamily="34" charset="0"/>
                <a:ea typeface="Calibri" pitchFamily="34" charset="-122"/>
                <a:cs typeface="Calibri" pitchFamily="34" charset="-120"/>
              </a:rPr>
              <a:t>Socket State</a:t>
            </a:r>
            <a:endParaRPr lang="en-US" sz="950" dirty="0"/>
          </a:p>
        </p:txBody>
      </p:sp>
      <p:sp>
        <p:nvSpPr>
          <p:cNvPr id="64" name="Text 62"/>
          <p:cNvSpPr/>
          <p:nvPr/>
        </p:nvSpPr>
        <p:spPr>
          <a:xfrm>
            <a:off x="1572768" y="3121762"/>
            <a:ext cx="3364992" cy="256032"/>
          </a:xfrm>
          <a:prstGeom prst="rect">
            <a:avLst/>
          </a:prstGeom>
          <a:noFill/>
          <a:ln/>
        </p:spPr>
        <p:txBody>
          <a:bodyPr wrap="square" rtlCol="0" anchor="ctr"/>
          <a:lstStyle/>
          <a:p>
            <a:pPr indent="0" marL="0">
              <a:buNone/>
            </a:pPr>
            <a:r>
              <a:rPr lang="en-US" sz="950" dirty="0">
                <a:solidFill>
                  <a:srgbClr val="F87171"/>
                </a:solidFill>
                <a:latin typeface="Calibri" pitchFamily="34" charset="0"/>
                <a:ea typeface="Calibri" pitchFamily="34" charset="-122"/>
                <a:cs typeface="Calibri" pitchFamily="34" charset="-120"/>
              </a:rPr>
              <a:t>✗  In-memory, process-local</a:t>
            </a:r>
            <a:endParaRPr lang="en-US" sz="950" dirty="0"/>
          </a:p>
        </p:txBody>
      </p:sp>
      <p:sp>
        <p:nvSpPr>
          <p:cNvPr id="65" name="Text 63"/>
          <p:cNvSpPr/>
          <p:nvPr/>
        </p:nvSpPr>
        <p:spPr>
          <a:xfrm>
            <a:off x="5056632" y="3121762"/>
            <a:ext cx="3785616" cy="256032"/>
          </a:xfrm>
          <a:prstGeom prst="rect">
            <a:avLst/>
          </a:prstGeom>
          <a:noFill/>
          <a:ln/>
        </p:spPr>
        <p:txBody>
          <a:bodyPr wrap="square" rtlCol="0" anchor="ctr"/>
          <a:lstStyle/>
          <a:p>
            <a:pPr indent="0" marL="0">
              <a:buNone/>
            </a:pPr>
            <a:r>
              <a:rPr lang="en-US" sz="950" dirty="0">
                <a:solidFill>
                  <a:srgbClr val="4ADE80"/>
                </a:solidFill>
                <a:latin typeface="Calibri" pitchFamily="34" charset="0"/>
                <a:ea typeface="Calibri" pitchFamily="34" charset="-122"/>
                <a:cs typeface="Calibri" pitchFamily="34" charset="-120"/>
              </a:rPr>
              <a:t>✓  Redis-backed, shared</a:t>
            </a:r>
            <a:endParaRPr lang="en-US" sz="950" dirty="0"/>
          </a:p>
        </p:txBody>
      </p:sp>
      <p:sp>
        <p:nvSpPr>
          <p:cNvPr id="66" name="Text 64"/>
          <p:cNvSpPr/>
          <p:nvPr/>
        </p:nvSpPr>
        <p:spPr>
          <a:xfrm>
            <a:off x="4773168" y="3121762"/>
            <a:ext cx="228600" cy="256032"/>
          </a:xfrm>
          <a:prstGeom prst="rect">
            <a:avLst/>
          </a:prstGeom>
          <a:noFill/>
          <a:ln/>
        </p:spPr>
        <p:txBody>
          <a:bodyPr wrap="square" rtlCol="0" anchor="ctr"/>
          <a:lstStyle/>
          <a:p>
            <a:pPr algn="ctr" indent="0" marL="0">
              <a:buNone/>
            </a:pPr>
            <a:r>
              <a:rPr lang="en-US" sz="1000" dirty="0">
                <a:solidFill>
                  <a:srgbClr val="FCD34D"/>
                </a:solidFill>
                <a:latin typeface="Calibri" pitchFamily="34" charset="0"/>
                <a:ea typeface="Calibri" pitchFamily="34" charset="-122"/>
                <a:cs typeface="Calibri" pitchFamily="34" charset="-120"/>
              </a:rPr>
              <a:t>→</a:t>
            </a:r>
            <a:endParaRPr lang="en-US" sz="1000" dirty="0"/>
          </a:p>
        </p:txBody>
      </p:sp>
      <p:sp>
        <p:nvSpPr>
          <p:cNvPr id="67" name="Shape 65"/>
          <p:cNvSpPr/>
          <p:nvPr/>
        </p:nvSpPr>
        <p:spPr>
          <a:xfrm>
            <a:off x="256032" y="3397910"/>
            <a:ext cx="1261872" cy="256032"/>
          </a:xfrm>
          <a:prstGeom prst="rect">
            <a:avLst/>
          </a:prstGeom>
          <a:solidFill>
            <a:srgbClr val="1E293B"/>
          </a:solidFill>
          <a:ln w="3175">
            <a:solidFill>
              <a:srgbClr val="334155"/>
            </a:solidFill>
            <a:prstDash val="solid"/>
          </a:ln>
        </p:spPr>
      </p:sp>
      <p:sp>
        <p:nvSpPr>
          <p:cNvPr id="68" name="Shape 66"/>
          <p:cNvSpPr/>
          <p:nvPr/>
        </p:nvSpPr>
        <p:spPr>
          <a:xfrm>
            <a:off x="1536192" y="3397910"/>
            <a:ext cx="3456432" cy="256032"/>
          </a:xfrm>
          <a:prstGeom prst="rect">
            <a:avLst/>
          </a:prstGeom>
          <a:solidFill>
            <a:srgbClr val="150808"/>
          </a:solidFill>
          <a:ln w="3175">
            <a:solidFill>
              <a:srgbClr val="3A1212"/>
            </a:solidFill>
            <a:prstDash val="solid"/>
          </a:ln>
        </p:spPr>
      </p:sp>
      <p:sp>
        <p:nvSpPr>
          <p:cNvPr id="69" name="Shape 67"/>
          <p:cNvSpPr/>
          <p:nvPr/>
        </p:nvSpPr>
        <p:spPr>
          <a:xfrm>
            <a:off x="5020056" y="3397910"/>
            <a:ext cx="3867912" cy="256032"/>
          </a:xfrm>
          <a:prstGeom prst="rect">
            <a:avLst/>
          </a:prstGeom>
          <a:solidFill>
            <a:srgbClr val="081508"/>
          </a:solidFill>
          <a:ln w="3175">
            <a:solidFill>
              <a:srgbClr val="123A12"/>
            </a:solidFill>
            <a:prstDash val="solid"/>
          </a:ln>
        </p:spPr>
      </p:sp>
      <p:sp>
        <p:nvSpPr>
          <p:cNvPr id="70" name="Text 68"/>
          <p:cNvSpPr/>
          <p:nvPr/>
        </p:nvSpPr>
        <p:spPr>
          <a:xfrm>
            <a:off x="301752" y="3397910"/>
            <a:ext cx="1170432" cy="256032"/>
          </a:xfrm>
          <a:prstGeom prst="rect">
            <a:avLst/>
          </a:prstGeom>
          <a:noFill/>
          <a:ln/>
        </p:spPr>
        <p:txBody>
          <a:bodyPr wrap="square" rtlCol="0" anchor="ctr"/>
          <a:lstStyle/>
          <a:p>
            <a:pPr indent="0" marL="0">
              <a:buNone/>
            </a:pPr>
            <a:r>
              <a:rPr lang="en-US" sz="950" b="1" dirty="0">
                <a:solidFill>
                  <a:srgbClr val="94A3B8"/>
                </a:solidFill>
                <a:latin typeface="Calibri" pitchFamily="34" charset="0"/>
                <a:ea typeface="Calibri" pitchFamily="34" charset="-122"/>
                <a:cs typeface="Calibri" pitchFamily="34" charset="-120"/>
              </a:rPr>
              <a:t>Validation</a:t>
            </a:r>
            <a:endParaRPr lang="en-US" sz="950" dirty="0"/>
          </a:p>
        </p:txBody>
      </p:sp>
      <p:sp>
        <p:nvSpPr>
          <p:cNvPr id="71" name="Text 69"/>
          <p:cNvSpPr/>
          <p:nvPr/>
        </p:nvSpPr>
        <p:spPr>
          <a:xfrm>
            <a:off x="1572768" y="3397910"/>
            <a:ext cx="3364992" cy="256032"/>
          </a:xfrm>
          <a:prstGeom prst="rect">
            <a:avLst/>
          </a:prstGeom>
          <a:noFill/>
          <a:ln/>
        </p:spPr>
        <p:txBody>
          <a:bodyPr wrap="square" rtlCol="0" anchor="ctr"/>
          <a:lstStyle/>
          <a:p>
            <a:pPr indent="0" marL="0">
              <a:buNone/>
            </a:pPr>
            <a:r>
              <a:rPr lang="en-US" sz="950" dirty="0">
                <a:solidFill>
                  <a:srgbClr val="F87171"/>
                </a:solidFill>
                <a:latin typeface="Calibri" pitchFamily="34" charset="0"/>
                <a:ea typeface="Calibri" pitchFamily="34" charset="-122"/>
                <a:cs typeface="Calibri" pitchFamily="34" charset="-120"/>
              </a:rPr>
              <a:t>✗  None on socket events</a:t>
            </a:r>
            <a:endParaRPr lang="en-US" sz="950" dirty="0"/>
          </a:p>
        </p:txBody>
      </p:sp>
      <p:sp>
        <p:nvSpPr>
          <p:cNvPr id="72" name="Text 70"/>
          <p:cNvSpPr/>
          <p:nvPr/>
        </p:nvSpPr>
        <p:spPr>
          <a:xfrm>
            <a:off x="5056632" y="3397910"/>
            <a:ext cx="3785616" cy="256032"/>
          </a:xfrm>
          <a:prstGeom prst="rect">
            <a:avLst/>
          </a:prstGeom>
          <a:noFill/>
          <a:ln/>
        </p:spPr>
        <p:txBody>
          <a:bodyPr wrap="square" rtlCol="0" anchor="ctr"/>
          <a:lstStyle/>
          <a:p>
            <a:pPr indent="0" marL="0">
              <a:buNone/>
            </a:pPr>
            <a:r>
              <a:rPr lang="en-US" sz="950" dirty="0">
                <a:solidFill>
                  <a:srgbClr val="4ADE80"/>
                </a:solidFill>
                <a:latin typeface="Calibri" pitchFamily="34" charset="0"/>
                <a:ea typeface="Calibri" pitchFamily="34" charset="-122"/>
                <a:cs typeface="Calibri" pitchFamily="34" charset="-120"/>
              </a:rPr>
              <a:t>✓  Zod on every socket + API endpoint</a:t>
            </a:r>
            <a:endParaRPr lang="en-US" sz="950" dirty="0"/>
          </a:p>
        </p:txBody>
      </p:sp>
      <p:sp>
        <p:nvSpPr>
          <p:cNvPr id="73" name="Text 71"/>
          <p:cNvSpPr/>
          <p:nvPr/>
        </p:nvSpPr>
        <p:spPr>
          <a:xfrm>
            <a:off x="4773168" y="3397910"/>
            <a:ext cx="228600" cy="256032"/>
          </a:xfrm>
          <a:prstGeom prst="rect">
            <a:avLst/>
          </a:prstGeom>
          <a:noFill/>
          <a:ln/>
        </p:spPr>
        <p:txBody>
          <a:bodyPr wrap="square" rtlCol="0" anchor="ctr"/>
          <a:lstStyle/>
          <a:p>
            <a:pPr algn="ctr" indent="0" marL="0">
              <a:buNone/>
            </a:pPr>
            <a:r>
              <a:rPr lang="en-US" sz="1000" dirty="0">
                <a:solidFill>
                  <a:srgbClr val="FCD34D"/>
                </a:solidFill>
                <a:latin typeface="Calibri" pitchFamily="34" charset="0"/>
                <a:ea typeface="Calibri" pitchFamily="34" charset="-122"/>
                <a:cs typeface="Calibri" pitchFamily="34" charset="-120"/>
              </a:rPr>
              <a:t>→</a:t>
            </a:r>
            <a:endParaRPr lang="en-US" sz="1000" dirty="0"/>
          </a:p>
        </p:txBody>
      </p:sp>
      <p:sp>
        <p:nvSpPr>
          <p:cNvPr id="74" name="Shape 72"/>
          <p:cNvSpPr/>
          <p:nvPr/>
        </p:nvSpPr>
        <p:spPr>
          <a:xfrm>
            <a:off x="256032" y="3674059"/>
            <a:ext cx="1261872" cy="256032"/>
          </a:xfrm>
          <a:prstGeom prst="rect">
            <a:avLst/>
          </a:prstGeom>
          <a:solidFill>
            <a:srgbClr val="0D1929"/>
          </a:solidFill>
          <a:ln w="3175">
            <a:solidFill>
              <a:srgbClr val="334155"/>
            </a:solidFill>
            <a:prstDash val="solid"/>
          </a:ln>
        </p:spPr>
      </p:sp>
      <p:sp>
        <p:nvSpPr>
          <p:cNvPr id="75" name="Shape 73"/>
          <p:cNvSpPr/>
          <p:nvPr/>
        </p:nvSpPr>
        <p:spPr>
          <a:xfrm>
            <a:off x="1536192" y="3674059"/>
            <a:ext cx="3456432" cy="256032"/>
          </a:xfrm>
          <a:prstGeom prst="rect">
            <a:avLst/>
          </a:prstGeom>
          <a:solidFill>
            <a:srgbClr val="150808"/>
          </a:solidFill>
          <a:ln w="3175">
            <a:solidFill>
              <a:srgbClr val="3A1212"/>
            </a:solidFill>
            <a:prstDash val="solid"/>
          </a:ln>
        </p:spPr>
      </p:sp>
      <p:sp>
        <p:nvSpPr>
          <p:cNvPr id="76" name="Shape 74"/>
          <p:cNvSpPr/>
          <p:nvPr/>
        </p:nvSpPr>
        <p:spPr>
          <a:xfrm>
            <a:off x="5020056" y="3674059"/>
            <a:ext cx="3867912" cy="256032"/>
          </a:xfrm>
          <a:prstGeom prst="rect">
            <a:avLst/>
          </a:prstGeom>
          <a:solidFill>
            <a:srgbClr val="081508"/>
          </a:solidFill>
          <a:ln w="3175">
            <a:solidFill>
              <a:srgbClr val="123A12"/>
            </a:solidFill>
            <a:prstDash val="solid"/>
          </a:ln>
        </p:spPr>
      </p:sp>
      <p:sp>
        <p:nvSpPr>
          <p:cNvPr id="77" name="Text 75"/>
          <p:cNvSpPr/>
          <p:nvPr/>
        </p:nvSpPr>
        <p:spPr>
          <a:xfrm>
            <a:off x="301752" y="3674059"/>
            <a:ext cx="1170432" cy="256032"/>
          </a:xfrm>
          <a:prstGeom prst="rect">
            <a:avLst/>
          </a:prstGeom>
          <a:noFill/>
          <a:ln/>
        </p:spPr>
        <p:txBody>
          <a:bodyPr wrap="square" rtlCol="0" anchor="ctr"/>
          <a:lstStyle/>
          <a:p>
            <a:pPr indent="0" marL="0">
              <a:buNone/>
            </a:pPr>
            <a:r>
              <a:rPr lang="en-US" sz="950" b="1" dirty="0">
                <a:solidFill>
                  <a:srgbClr val="94A3B8"/>
                </a:solidFill>
                <a:latin typeface="Calibri" pitchFamily="34" charset="0"/>
                <a:ea typeface="Calibri" pitchFamily="34" charset="-122"/>
                <a:cs typeface="Calibri" pitchFamily="34" charset="-120"/>
              </a:rPr>
              <a:t>Hints</a:t>
            </a:r>
            <a:endParaRPr lang="en-US" sz="950" dirty="0"/>
          </a:p>
        </p:txBody>
      </p:sp>
      <p:sp>
        <p:nvSpPr>
          <p:cNvPr id="78" name="Text 76"/>
          <p:cNvSpPr/>
          <p:nvPr/>
        </p:nvSpPr>
        <p:spPr>
          <a:xfrm>
            <a:off x="1572768" y="3674059"/>
            <a:ext cx="3364992" cy="256032"/>
          </a:xfrm>
          <a:prstGeom prst="rect">
            <a:avLst/>
          </a:prstGeom>
          <a:noFill/>
          <a:ln/>
        </p:spPr>
        <p:txBody>
          <a:bodyPr wrap="square" rtlCol="0" anchor="ctr"/>
          <a:lstStyle/>
          <a:p>
            <a:pPr indent="0" marL="0">
              <a:buNone/>
            </a:pPr>
            <a:r>
              <a:rPr lang="en-US" sz="950" dirty="0">
                <a:solidFill>
                  <a:srgbClr val="F87171"/>
                </a:solidFill>
                <a:latin typeface="Calibri" pitchFamily="34" charset="0"/>
                <a:ea typeface="Calibri" pitchFamily="34" charset="-122"/>
                <a:cs typeface="Calibri" pitchFamily="34" charset="-120"/>
              </a:rPr>
              <a:t>✗  None</a:t>
            </a:r>
            <a:endParaRPr lang="en-US" sz="950" dirty="0"/>
          </a:p>
        </p:txBody>
      </p:sp>
      <p:sp>
        <p:nvSpPr>
          <p:cNvPr id="79" name="Text 77"/>
          <p:cNvSpPr/>
          <p:nvPr/>
        </p:nvSpPr>
        <p:spPr>
          <a:xfrm>
            <a:off x="5056632" y="3674059"/>
            <a:ext cx="3785616" cy="256032"/>
          </a:xfrm>
          <a:prstGeom prst="rect">
            <a:avLst/>
          </a:prstGeom>
          <a:noFill/>
          <a:ln/>
        </p:spPr>
        <p:txBody>
          <a:bodyPr wrap="square" rtlCol="0" anchor="ctr"/>
          <a:lstStyle/>
          <a:p>
            <a:pPr indent="0" marL="0">
              <a:buNone/>
            </a:pPr>
            <a:r>
              <a:rPr lang="en-US" sz="950" dirty="0">
                <a:solidFill>
                  <a:srgbClr val="4ADE80"/>
                </a:solidFill>
                <a:latin typeface="Calibri" pitchFamily="34" charset="0"/>
                <a:ea typeface="Calibri" pitchFamily="34" charset="-122"/>
                <a:cs typeface="Calibri" pitchFamily="34" charset="-120"/>
              </a:rPr>
              <a:t>✓  5-layer intelligent hint engine</a:t>
            </a:r>
            <a:endParaRPr lang="en-US" sz="950" dirty="0"/>
          </a:p>
        </p:txBody>
      </p:sp>
      <p:sp>
        <p:nvSpPr>
          <p:cNvPr id="80" name="Text 78"/>
          <p:cNvSpPr/>
          <p:nvPr/>
        </p:nvSpPr>
        <p:spPr>
          <a:xfrm>
            <a:off x="4773168" y="3674059"/>
            <a:ext cx="228600" cy="256032"/>
          </a:xfrm>
          <a:prstGeom prst="rect">
            <a:avLst/>
          </a:prstGeom>
          <a:noFill/>
          <a:ln/>
        </p:spPr>
        <p:txBody>
          <a:bodyPr wrap="square" rtlCol="0" anchor="ctr"/>
          <a:lstStyle/>
          <a:p>
            <a:pPr algn="ctr" indent="0" marL="0">
              <a:buNone/>
            </a:pPr>
            <a:r>
              <a:rPr lang="en-US" sz="1000" dirty="0">
                <a:solidFill>
                  <a:srgbClr val="FCD34D"/>
                </a:solidFill>
                <a:latin typeface="Calibri" pitchFamily="34" charset="0"/>
                <a:ea typeface="Calibri" pitchFamily="34" charset="-122"/>
                <a:cs typeface="Calibri" pitchFamily="34" charset="-120"/>
              </a:rPr>
              <a:t>→</a:t>
            </a:r>
            <a:endParaRPr lang="en-US" sz="1000" dirty="0"/>
          </a:p>
        </p:txBody>
      </p:sp>
      <p:sp>
        <p:nvSpPr>
          <p:cNvPr id="81" name="Shape 79"/>
          <p:cNvSpPr/>
          <p:nvPr/>
        </p:nvSpPr>
        <p:spPr>
          <a:xfrm>
            <a:off x="256032" y="3950208"/>
            <a:ext cx="1261872" cy="256032"/>
          </a:xfrm>
          <a:prstGeom prst="rect">
            <a:avLst/>
          </a:prstGeom>
          <a:solidFill>
            <a:srgbClr val="1E293B"/>
          </a:solidFill>
          <a:ln w="3175">
            <a:solidFill>
              <a:srgbClr val="334155"/>
            </a:solidFill>
            <a:prstDash val="solid"/>
          </a:ln>
        </p:spPr>
      </p:sp>
      <p:sp>
        <p:nvSpPr>
          <p:cNvPr id="82" name="Shape 80"/>
          <p:cNvSpPr/>
          <p:nvPr/>
        </p:nvSpPr>
        <p:spPr>
          <a:xfrm>
            <a:off x="1536192" y="3950208"/>
            <a:ext cx="3456432" cy="256032"/>
          </a:xfrm>
          <a:prstGeom prst="rect">
            <a:avLst/>
          </a:prstGeom>
          <a:solidFill>
            <a:srgbClr val="150808"/>
          </a:solidFill>
          <a:ln w="3175">
            <a:solidFill>
              <a:srgbClr val="3A1212"/>
            </a:solidFill>
            <a:prstDash val="solid"/>
          </a:ln>
        </p:spPr>
      </p:sp>
      <p:sp>
        <p:nvSpPr>
          <p:cNvPr id="83" name="Shape 81"/>
          <p:cNvSpPr/>
          <p:nvPr/>
        </p:nvSpPr>
        <p:spPr>
          <a:xfrm>
            <a:off x="5020056" y="3950208"/>
            <a:ext cx="3867912" cy="256032"/>
          </a:xfrm>
          <a:prstGeom prst="rect">
            <a:avLst/>
          </a:prstGeom>
          <a:solidFill>
            <a:srgbClr val="081508"/>
          </a:solidFill>
          <a:ln w="3175">
            <a:solidFill>
              <a:srgbClr val="123A12"/>
            </a:solidFill>
            <a:prstDash val="solid"/>
          </a:ln>
        </p:spPr>
      </p:sp>
      <p:sp>
        <p:nvSpPr>
          <p:cNvPr id="84" name="Text 82"/>
          <p:cNvSpPr/>
          <p:nvPr/>
        </p:nvSpPr>
        <p:spPr>
          <a:xfrm>
            <a:off x="301752" y="3950208"/>
            <a:ext cx="1170432" cy="256032"/>
          </a:xfrm>
          <a:prstGeom prst="rect">
            <a:avLst/>
          </a:prstGeom>
          <a:noFill/>
          <a:ln/>
        </p:spPr>
        <p:txBody>
          <a:bodyPr wrap="square" rtlCol="0" anchor="ctr"/>
          <a:lstStyle/>
          <a:p>
            <a:pPr indent="0" marL="0">
              <a:buNone/>
            </a:pPr>
            <a:r>
              <a:rPr lang="en-US" sz="950" b="1" dirty="0">
                <a:solidFill>
                  <a:srgbClr val="94A3B8"/>
                </a:solidFill>
                <a:latin typeface="Calibri" pitchFamily="34" charset="0"/>
                <a:ea typeface="Calibri" pitchFamily="34" charset="-122"/>
                <a:cs typeface="Calibri" pitchFamily="34" charset="-120"/>
              </a:rPr>
              <a:t>Daily Challenge</a:t>
            </a:r>
            <a:endParaRPr lang="en-US" sz="950" dirty="0"/>
          </a:p>
        </p:txBody>
      </p:sp>
      <p:sp>
        <p:nvSpPr>
          <p:cNvPr id="85" name="Text 83"/>
          <p:cNvSpPr/>
          <p:nvPr/>
        </p:nvSpPr>
        <p:spPr>
          <a:xfrm>
            <a:off x="1572768" y="3950208"/>
            <a:ext cx="3364992" cy="256032"/>
          </a:xfrm>
          <a:prstGeom prst="rect">
            <a:avLst/>
          </a:prstGeom>
          <a:noFill/>
          <a:ln/>
        </p:spPr>
        <p:txBody>
          <a:bodyPr wrap="square" rtlCol="0" anchor="ctr"/>
          <a:lstStyle/>
          <a:p>
            <a:pPr indent="0" marL="0">
              <a:buNone/>
            </a:pPr>
            <a:r>
              <a:rPr lang="en-US" sz="950" dirty="0">
                <a:solidFill>
                  <a:srgbClr val="F87171"/>
                </a:solidFill>
                <a:latin typeface="Calibri" pitchFamily="34" charset="0"/>
                <a:ea typeface="Calibri" pitchFamily="34" charset="-122"/>
                <a:cs typeface="Calibri" pitchFamily="34" charset="-120"/>
              </a:rPr>
              <a:t>✗  None</a:t>
            </a:r>
            <a:endParaRPr lang="en-US" sz="950" dirty="0"/>
          </a:p>
        </p:txBody>
      </p:sp>
      <p:sp>
        <p:nvSpPr>
          <p:cNvPr id="86" name="Text 84"/>
          <p:cNvSpPr/>
          <p:nvPr/>
        </p:nvSpPr>
        <p:spPr>
          <a:xfrm>
            <a:off x="5056632" y="3950208"/>
            <a:ext cx="3785616" cy="256032"/>
          </a:xfrm>
          <a:prstGeom prst="rect">
            <a:avLst/>
          </a:prstGeom>
          <a:noFill/>
          <a:ln/>
        </p:spPr>
        <p:txBody>
          <a:bodyPr wrap="square" rtlCol="0" anchor="ctr"/>
          <a:lstStyle/>
          <a:p>
            <a:pPr indent="0" marL="0">
              <a:buNone/>
            </a:pPr>
            <a:r>
              <a:rPr lang="en-US" sz="950" dirty="0">
                <a:solidFill>
                  <a:srgbClr val="4ADE80"/>
                </a:solidFill>
                <a:latin typeface="Calibri" pitchFamily="34" charset="0"/>
                <a:ea typeface="Calibri" pitchFamily="34" charset="-122"/>
                <a:cs typeface="Calibri" pitchFamily="34" charset="-120"/>
              </a:rPr>
              <a:t>✓  Puzzle + global rankings + streaks</a:t>
            </a:r>
            <a:endParaRPr lang="en-US" sz="950" dirty="0"/>
          </a:p>
        </p:txBody>
      </p:sp>
      <p:sp>
        <p:nvSpPr>
          <p:cNvPr id="87" name="Text 85"/>
          <p:cNvSpPr/>
          <p:nvPr/>
        </p:nvSpPr>
        <p:spPr>
          <a:xfrm>
            <a:off x="4773168" y="3950208"/>
            <a:ext cx="228600" cy="256032"/>
          </a:xfrm>
          <a:prstGeom prst="rect">
            <a:avLst/>
          </a:prstGeom>
          <a:noFill/>
          <a:ln/>
        </p:spPr>
        <p:txBody>
          <a:bodyPr wrap="square" rtlCol="0" anchor="ctr"/>
          <a:lstStyle/>
          <a:p>
            <a:pPr algn="ctr" indent="0" marL="0">
              <a:buNone/>
            </a:pPr>
            <a:r>
              <a:rPr lang="en-US" sz="1000" dirty="0">
                <a:solidFill>
                  <a:srgbClr val="FCD34D"/>
                </a:solidFill>
                <a:latin typeface="Calibri" pitchFamily="34" charset="0"/>
                <a:ea typeface="Calibri" pitchFamily="34" charset="-122"/>
                <a:cs typeface="Calibri" pitchFamily="34" charset="-120"/>
              </a:rPr>
              <a:t>→</a:t>
            </a:r>
            <a:endParaRPr lang="en-US" sz="1000" dirty="0"/>
          </a:p>
        </p:txBody>
      </p:sp>
      <p:sp>
        <p:nvSpPr>
          <p:cNvPr id="88" name="Shape 86"/>
          <p:cNvSpPr/>
          <p:nvPr/>
        </p:nvSpPr>
        <p:spPr>
          <a:xfrm>
            <a:off x="256032" y="4226357"/>
            <a:ext cx="1261872" cy="256032"/>
          </a:xfrm>
          <a:prstGeom prst="rect">
            <a:avLst/>
          </a:prstGeom>
          <a:solidFill>
            <a:srgbClr val="0D1929"/>
          </a:solidFill>
          <a:ln w="3175">
            <a:solidFill>
              <a:srgbClr val="334155"/>
            </a:solidFill>
            <a:prstDash val="solid"/>
          </a:ln>
        </p:spPr>
      </p:sp>
      <p:sp>
        <p:nvSpPr>
          <p:cNvPr id="89" name="Shape 87"/>
          <p:cNvSpPr/>
          <p:nvPr/>
        </p:nvSpPr>
        <p:spPr>
          <a:xfrm>
            <a:off x="1536192" y="4226357"/>
            <a:ext cx="3456432" cy="256032"/>
          </a:xfrm>
          <a:prstGeom prst="rect">
            <a:avLst/>
          </a:prstGeom>
          <a:solidFill>
            <a:srgbClr val="150808"/>
          </a:solidFill>
          <a:ln w="3175">
            <a:solidFill>
              <a:srgbClr val="3A1212"/>
            </a:solidFill>
            <a:prstDash val="solid"/>
          </a:ln>
        </p:spPr>
      </p:sp>
      <p:sp>
        <p:nvSpPr>
          <p:cNvPr id="90" name="Shape 88"/>
          <p:cNvSpPr/>
          <p:nvPr/>
        </p:nvSpPr>
        <p:spPr>
          <a:xfrm>
            <a:off x="5020056" y="4226357"/>
            <a:ext cx="3867912" cy="256032"/>
          </a:xfrm>
          <a:prstGeom prst="rect">
            <a:avLst/>
          </a:prstGeom>
          <a:solidFill>
            <a:srgbClr val="081508"/>
          </a:solidFill>
          <a:ln w="3175">
            <a:solidFill>
              <a:srgbClr val="123A12"/>
            </a:solidFill>
            <a:prstDash val="solid"/>
          </a:ln>
        </p:spPr>
      </p:sp>
      <p:sp>
        <p:nvSpPr>
          <p:cNvPr id="91" name="Text 89"/>
          <p:cNvSpPr/>
          <p:nvPr/>
        </p:nvSpPr>
        <p:spPr>
          <a:xfrm>
            <a:off x="301752" y="4226357"/>
            <a:ext cx="1170432" cy="256032"/>
          </a:xfrm>
          <a:prstGeom prst="rect">
            <a:avLst/>
          </a:prstGeom>
          <a:noFill/>
          <a:ln/>
        </p:spPr>
        <p:txBody>
          <a:bodyPr wrap="square" rtlCol="0" anchor="ctr"/>
          <a:lstStyle/>
          <a:p>
            <a:pPr indent="0" marL="0">
              <a:buNone/>
            </a:pPr>
            <a:r>
              <a:rPr lang="en-US" sz="950" b="1" dirty="0">
                <a:solidFill>
                  <a:srgbClr val="94A3B8"/>
                </a:solidFill>
                <a:latin typeface="Calibri" pitchFamily="34" charset="0"/>
                <a:ea typeface="Calibri" pitchFamily="34" charset="-122"/>
                <a:cs typeface="Calibri" pitchFamily="34" charset="-120"/>
              </a:rPr>
              <a:t>Tests</a:t>
            </a:r>
            <a:endParaRPr lang="en-US" sz="950" dirty="0"/>
          </a:p>
        </p:txBody>
      </p:sp>
      <p:sp>
        <p:nvSpPr>
          <p:cNvPr id="92" name="Text 90"/>
          <p:cNvSpPr/>
          <p:nvPr/>
        </p:nvSpPr>
        <p:spPr>
          <a:xfrm>
            <a:off x="1572768" y="4226357"/>
            <a:ext cx="3364992" cy="256032"/>
          </a:xfrm>
          <a:prstGeom prst="rect">
            <a:avLst/>
          </a:prstGeom>
          <a:noFill/>
          <a:ln/>
        </p:spPr>
        <p:txBody>
          <a:bodyPr wrap="square" rtlCol="0" anchor="ctr"/>
          <a:lstStyle/>
          <a:p>
            <a:pPr indent="0" marL="0">
              <a:buNone/>
            </a:pPr>
            <a:r>
              <a:rPr lang="en-US" sz="950" dirty="0">
                <a:solidFill>
                  <a:srgbClr val="F87171"/>
                </a:solidFill>
                <a:latin typeface="Calibri" pitchFamily="34" charset="0"/>
                <a:ea typeface="Calibri" pitchFamily="34" charset="-122"/>
                <a:cs typeface="Calibri" pitchFamily="34" charset="-120"/>
              </a:rPr>
              <a:t>✗  None</a:t>
            </a:r>
            <a:endParaRPr lang="en-US" sz="950" dirty="0"/>
          </a:p>
        </p:txBody>
      </p:sp>
      <p:sp>
        <p:nvSpPr>
          <p:cNvPr id="93" name="Text 91"/>
          <p:cNvSpPr/>
          <p:nvPr/>
        </p:nvSpPr>
        <p:spPr>
          <a:xfrm>
            <a:off x="5056632" y="4226357"/>
            <a:ext cx="3785616" cy="256032"/>
          </a:xfrm>
          <a:prstGeom prst="rect">
            <a:avLst/>
          </a:prstGeom>
          <a:noFill/>
          <a:ln/>
        </p:spPr>
        <p:txBody>
          <a:bodyPr wrap="square" rtlCol="0" anchor="ctr"/>
          <a:lstStyle/>
          <a:p>
            <a:pPr indent="0" marL="0">
              <a:buNone/>
            </a:pPr>
            <a:r>
              <a:rPr lang="en-US" sz="950" dirty="0">
                <a:solidFill>
                  <a:srgbClr val="4ADE80"/>
                </a:solidFill>
                <a:latin typeface="Calibri" pitchFamily="34" charset="0"/>
                <a:ea typeface="Calibri" pitchFamily="34" charset="-122"/>
                <a:cs typeface="Calibri" pitchFamily="34" charset="-120"/>
              </a:rPr>
              <a:t>✓  Unit + integration + socket suite</a:t>
            </a:r>
            <a:endParaRPr lang="en-US" sz="950" dirty="0"/>
          </a:p>
        </p:txBody>
      </p:sp>
      <p:sp>
        <p:nvSpPr>
          <p:cNvPr id="94" name="Text 92"/>
          <p:cNvSpPr/>
          <p:nvPr/>
        </p:nvSpPr>
        <p:spPr>
          <a:xfrm>
            <a:off x="4773168" y="4226357"/>
            <a:ext cx="228600" cy="256032"/>
          </a:xfrm>
          <a:prstGeom prst="rect">
            <a:avLst/>
          </a:prstGeom>
          <a:noFill/>
          <a:ln/>
        </p:spPr>
        <p:txBody>
          <a:bodyPr wrap="square" rtlCol="0" anchor="ctr"/>
          <a:lstStyle/>
          <a:p>
            <a:pPr algn="ctr" indent="0" marL="0">
              <a:buNone/>
            </a:pPr>
            <a:r>
              <a:rPr lang="en-US" sz="1000" dirty="0">
                <a:solidFill>
                  <a:srgbClr val="FCD34D"/>
                </a:solidFill>
                <a:latin typeface="Calibri" pitchFamily="34" charset="0"/>
                <a:ea typeface="Calibri" pitchFamily="34" charset="-122"/>
                <a:cs typeface="Calibri" pitchFamily="34" charset="-120"/>
              </a:rPr>
              <a:t>→</a:t>
            </a:r>
            <a:endParaRPr lang="en-US" sz="1000" dirty="0"/>
          </a:p>
        </p:txBody>
      </p:sp>
      <p:sp>
        <p:nvSpPr>
          <p:cNvPr id="95" name="Shape 93"/>
          <p:cNvSpPr/>
          <p:nvPr/>
        </p:nvSpPr>
        <p:spPr>
          <a:xfrm>
            <a:off x="256032" y="4502506"/>
            <a:ext cx="1261872" cy="256032"/>
          </a:xfrm>
          <a:prstGeom prst="rect">
            <a:avLst/>
          </a:prstGeom>
          <a:solidFill>
            <a:srgbClr val="1E293B"/>
          </a:solidFill>
          <a:ln w="3175">
            <a:solidFill>
              <a:srgbClr val="334155"/>
            </a:solidFill>
            <a:prstDash val="solid"/>
          </a:ln>
        </p:spPr>
      </p:sp>
      <p:sp>
        <p:nvSpPr>
          <p:cNvPr id="96" name="Shape 94"/>
          <p:cNvSpPr/>
          <p:nvPr/>
        </p:nvSpPr>
        <p:spPr>
          <a:xfrm>
            <a:off x="1536192" y="4502506"/>
            <a:ext cx="3456432" cy="256032"/>
          </a:xfrm>
          <a:prstGeom prst="rect">
            <a:avLst/>
          </a:prstGeom>
          <a:solidFill>
            <a:srgbClr val="150808"/>
          </a:solidFill>
          <a:ln w="3175">
            <a:solidFill>
              <a:srgbClr val="3A1212"/>
            </a:solidFill>
            <a:prstDash val="solid"/>
          </a:ln>
        </p:spPr>
      </p:sp>
      <p:sp>
        <p:nvSpPr>
          <p:cNvPr id="97" name="Shape 95"/>
          <p:cNvSpPr/>
          <p:nvPr/>
        </p:nvSpPr>
        <p:spPr>
          <a:xfrm>
            <a:off x="5020056" y="4502506"/>
            <a:ext cx="3867912" cy="256032"/>
          </a:xfrm>
          <a:prstGeom prst="rect">
            <a:avLst/>
          </a:prstGeom>
          <a:solidFill>
            <a:srgbClr val="081508"/>
          </a:solidFill>
          <a:ln w="3175">
            <a:solidFill>
              <a:srgbClr val="123A12"/>
            </a:solidFill>
            <a:prstDash val="solid"/>
          </a:ln>
        </p:spPr>
      </p:sp>
      <p:sp>
        <p:nvSpPr>
          <p:cNvPr id="98" name="Text 96"/>
          <p:cNvSpPr/>
          <p:nvPr/>
        </p:nvSpPr>
        <p:spPr>
          <a:xfrm>
            <a:off x="301752" y="4502506"/>
            <a:ext cx="1170432" cy="256032"/>
          </a:xfrm>
          <a:prstGeom prst="rect">
            <a:avLst/>
          </a:prstGeom>
          <a:noFill/>
          <a:ln/>
        </p:spPr>
        <p:txBody>
          <a:bodyPr wrap="square" rtlCol="0" anchor="ctr"/>
          <a:lstStyle/>
          <a:p>
            <a:pPr indent="0" marL="0">
              <a:buNone/>
            </a:pPr>
            <a:r>
              <a:rPr lang="en-US" sz="950" b="1" dirty="0">
                <a:solidFill>
                  <a:srgbClr val="94A3B8"/>
                </a:solidFill>
                <a:latin typeface="Calibri" pitchFamily="34" charset="0"/>
                <a:ea typeface="Calibri" pitchFamily="34" charset="-122"/>
                <a:cs typeface="Calibri" pitchFamily="34" charset="-120"/>
              </a:rPr>
              <a:t>Deployment</a:t>
            </a:r>
            <a:endParaRPr lang="en-US" sz="950" dirty="0"/>
          </a:p>
        </p:txBody>
      </p:sp>
      <p:sp>
        <p:nvSpPr>
          <p:cNvPr id="99" name="Text 97"/>
          <p:cNvSpPr/>
          <p:nvPr/>
        </p:nvSpPr>
        <p:spPr>
          <a:xfrm>
            <a:off x="1572768" y="4502506"/>
            <a:ext cx="3364992" cy="256032"/>
          </a:xfrm>
          <a:prstGeom prst="rect">
            <a:avLst/>
          </a:prstGeom>
          <a:noFill/>
          <a:ln/>
        </p:spPr>
        <p:txBody>
          <a:bodyPr wrap="square" rtlCol="0" anchor="ctr"/>
          <a:lstStyle/>
          <a:p>
            <a:pPr indent="0" marL="0">
              <a:buNone/>
            </a:pPr>
            <a:r>
              <a:rPr lang="en-US" sz="950" dirty="0">
                <a:solidFill>
                  <a:srgbClr val="F87171"/>
                </a:solidFill>
                <a:latin typeface="Calibri" pitchFamily="34" charset="0"/>
                <a:ea typeface="Calibri" pitchFamily="34" charset="-122"/>
                <a:cs typeface="Calibri" pitchFamily="34" charset="-120"/>
              </a:rPr>
              <a:t>✗  npm start on localhost</a:t>
            </a:r>
            <a:endParaRPr lang="en-US" sz="950" dirty="0"/>
          </a:p>
        </p:txBody>
      </p:sp>
      <p:sp>
        <p:nvSpPr>
          <p:cNvPr id="100" name="Text 98"/>
          <p:cNvSpPr/>
          <p:nvPr/>
        </p:nvSpPr>
        <p:spPr>
          <a:xfrm>
            <a:off x="5056632" y="4502506"/>
            <a:ext cx="3785616" cy="256032"/>
          </a:xfrm>
          <a:prstGeom prst="rect">
            <a:avLst/>
          </a:prstGeom>
          <a:noFill/>
          <a:ln/>
        </p:spPr>
        <p:txBody>
          <a:bodyPr wrap="square" rtlCol="0" anchor="ctr"/>
          <a:lstStyle/>
          <a:p>
            <a:pPr indent="0" marL="0">
              <a:buNone/>
            </a:pPr>
            <a:r>
              <a:rPr lang="en-US" sz="950" dirty="0">
                <a:solidFill>
                  <a:srgbClr val="4ADE80"/>
                </a:solidFill>
                <a:latin typeface="Calibri" pitchFamily="34" charset="0"/>
                <a:ea typeface="Calibri" pitchFamily="34" charset="-122"/>
                <a:cs typeface="Calibri" pitchFamily="34" charset="-120"/>
              </a:rPr>
              <a:t>✓  Docker + GitHub Actions CI/CD</a:t>
            </a:r>
            <a:endParaRPr lang="en-US" sz="950" dirty="0"/>
          </a:p>
        </p:txBody>
      </p:sp>
      <p:sp>
        <p:nvSpPr>
          <p:cNvPr id="101" name="Text 99"/>
          <p:cNvSpPr/>
          <p:nvPr/>
        </p:nvSpPr>
        <p:spPr>
          <a:xfrm>
            <a:off x="4773168" y="4502506"/>
            <a:ext cx="228600" cy="256032"/>
          </a:xfrm>
          <a:prstGeom prst="rect">
            <a:avLst/>
          </a:prstGeom>
          <a:noFill/>
          <a:ln/>
        </p:spPr>
        <p:txBody>
          <a:bodyPr wrap="square" rtlCol="0" anchor="ctr"/>
          <a:lstStyle/>
          <a:p>
            <a:pPr algn="ctr" indent="0" marL="0">
              <a:buNone/>
            </a:pPr>
            <a:r>
              <a:rPr lang="en-US" sz="1000" dirty="0">
                <a:solidFill>
                  <a:srgbClr val="FCD34D"/>
                </a:solidFill>
                <a:latin typeface="Calibri" pitchFamily="34" charset="0"/>
                <a:ea typeface="Calibri" pitchFamily="34" charset="-122"/>
                <a:cs typeface="Calibri" pitchFamily="34" charset="-120"/>
              </a:rPr>
              <a:t>→</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6366F1"/>
          </a:solidFill>
          <a:ln/>
        </p:spPr>
      </p:sp>
      <p:sp>
        <p:nvSpPr>
          <p:cNvPr id="3" name="Text 1"/>
          <p:cNvSpPr/>
          <p:nvPr/>
        </p:nvSpPr>
        <p:spPr>
          <a:xfrm>
            <a:off x="274320" y="164592"/>
            <a:ext cx="8595360" cy="475488"/>
          </a:xfrm>
          <a:prstGeom prst="rect">
            <a:avLst/>
          </a:prstGeom>
          <a:noFill/>
          <a:ln/>
        </p:spPr>
        <p:txBody>
          <a:bodyPr wrap="square" rtlCol="0" anchor="ctr"/>
          <a:lstStyle/>
          <a:p>
            <a:pPr indent="0" marL="0">
              <a:buNone/>
            </a:pPr>
            <a:r>
              <a:rPr lang="en-US" sz="2500" b="1" dirty="0">
                <a:solidFill>
                  <a:srgbClr val="F1F5F9"/>
                </a:solidFill>
                <a:latin typeface="Calibri" pitchFamily="34" charset="0"/>
                <a:ea typeface="Calibri" pitchFamily="34" charset="-122"/>
                <a:cs typeface="Calibri" pitchFamily="34" charset="-120"/>
              </a:rPr>
              <a:t>Interview Readiness — Questions You Can Now Answer</a:t>
            </a:r>
            <a:endParaRPr lang="en-US" sz="2500" dirty="0"/>
          </a:p>
        </p:txBody>
      </p:sp>
      <p:sp>
        <p:nvSpPr>
          <p:cNvPr id="4" name="Text 2"/>
          <p:cNvSpPr/>
          <p:nvPr/>
        </p:nvSpPr>
        <p:spPr>
          <a:xfrm>
            <a:off x="274320" y="658368"/>
            <a:ext cx="8595360" cy="256032"/>
          </a:xfrm>
          <a:prstGeom prst="rect">
            <a:avLst/>
          </a:prstGeom>
          <a:noFill/>
          <a:ln/>
        </p:spPr>
        <p:txBody>
          <a:bodyPr wrap="square" rtlCol="0" anchor="ctr"/>
          <a:lstStyle/>
          <a:p>
            <a:pPr indent="0" marL="0">
              <a:buNone/>
            </a:pPr>
            <a:r>
              <a:rPr lang="en-US" sz="1150" i="1" dirty="0">
                <a:solidFill>
                  <a:srgbClr val="94A3B8"/>
                </a:solidFill>
                <a:latin typeface="Calibri" pitchFamily="34" charset="0"/>
                <a:ea typeface="Calibri" pitchFamily="34" charset="-122"/>
                <a:cs typeface="Calibri" pitchFamily="34" charset="-120"/>
              </a:rPr>
              <a:t>These are the exact questions strong engineering interviewers ask about backend projects</a:t>
            </a:r>
            <a:endParaRPr lang="en-US" sz="1150" dirty="0"/>
          </a:p>
        </p:txBody>
      </p:sp>
      <p:sp>
        <p:nvSpPr>
          <p:cNvPr id="5" name="Shape 3"/>
          <p:cNvSpPr/>
          <p:nvPr/>
        </p:nvSpPr>
        <p:spPr>
          <a:xfrm>
            <a:off x="274320" y="950976"/>
            <a:ext cx="4206240" cy="1143000"/>
          </a:xfrm>
          <a:prstGeom prst="rect">
            <a:avLst/>
          </a:prstGeom>
          <a:solidFill>
            <a:srgbClr val="1E293B"/>
          </a:solidFill>
          <a:ln w="6350">
            <a:solidFill>
              <a:srgbClr val="6366F1"/>
            </a:solidFill>
            <a:prstDash val="solid"/>
          </a:ln>
          <a:effectLst>
            <a:outerShdw sx="100000" sy="100000" kx="0" ky="0" algn="bl" rotWithShape="0" blurRad="76200" dist="25400" dir="8100000">
              <a:srgbClr val="000000">
                <a:alpha val="22000"/>
              </a:srgbClr>
            </a:outerShdw>
          </a:effectLst>
        </p:spPr>
      </p:sp>
      <p:sp>
        <p:nvSpPr>
          <p:cNvPr id="6" name="Shape 4"/>
          <p:cNvSpPr/>
          <p:nvPr/>
        </p:nvSpPr>
        <p:spPr>
          <a:xfrm>
            <a:off x="274320" y="950976"/>
            <a:ext cx="64008" cy="1143000"/>
          </a:xfrm>
          <a:prstGeom prst="rect">
            <a:avLst/>
          </a:prstGeom>
          <a:solidFill>
            <a:srgbClr val="6366F1"/>
          </a:solidFill>
          <a:ln/>
        </p:spPr>
      </p:sp>
      <p:sp>
        <p:nvSpPr>
          <p:cNvPr id="7" name="Text 5"/>
          <p:cNvSpPr/>
          <p:nvPr/>
        </p:nvSpPr>
        <p:spPr>
          <a:xfrm>
            <a:off x="457200" y="1042416"/>
            <a:ext cx="3886200" cy="320040"/>
          </a:xfrm>
          <a:prstGeom prst="rect">
            <a:avLst/>
          </a:prstGeom>
          <a:noFill/>
          <a:ln/>
        </p:spPr>
        <p:txBody>
          <a:bodyPr wrap="square" rtlCol="0" anchor="ctr"/>
          <a:lstStyle/>
          <a:p>
            <a:pPr indent="0" marL="0">
              <a:buNone/>
            </a:pPr>
            <a:r>
              <a:rPr lang="en-US" sz="1100" b="1" dirty="0">
                <a:solidFill>
                  <a:srgbClr val="22D3EE"/>
                </a:solidFill>
                <a:latin typeface="Calibri" pitchFamily="34" charset="0"/>
                <a:ea typeface="Calibri" pitchFamily="34" charset="-122"/>
                <a:cs typeface="Calibri" pitchFamily="34" charset="-120"/>
              </a:rPr>
              <a:t>Q: Why PostgreSQL over MongoDB?</a:t>
            </a:r>
            <a:endParaRPr lang="en-US" sz="1100" dirty="0"/>
          </a:p>
        </p:txBody>
      </p:sp>
      <p:sp>
        <p:nvSpPr>
          <p:cNvPr id="8" name="Text 6"/>
          <p:cNvSpPr/>
          <p:nvPr/>
        </p:nvSpPr>
        <p:spPr>
          <a:xfrm>
            <a:off x="457200" y="1389888"/>
            <a:ext cx="3886200" cy="658368"/>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 Game data is relational — users, matches, ratings, and moves need joins and transactions. MongoDB was structurally the wrong choice from the start.</a:t>
            </a:r>
            <a:endParaRPr lang="en-US" sz="1000" dirty="0"/>
          </a:p>
        </p:txBody>
      </p:sp>
      <p:sp>
        <p:nvSpPr>
          <p:cNvPr id="9" name="Shape 7"/>
          <p:cNvSpPr/>
          <p:nvPr/>
        </p:nvSpPr>
        <p:spPr>
          <a:xfrm>
            <a:off x="4709160" y="950976"/>
            <a:ext cx="4206240" cy="1143000"/>
          </a:xfrm>
          <a:prstGeom prst="rect">
            <a:avLst/>
          </a:prstGeom>
          <a:solidFill>
            <a:srgbClr val="1E293B"/>
          </a:solidFill>
          <a:ln w="6350">
            <a:solidFill>
              <a:srgbClr val="6366F1"/>
            </a:solidFill>
            <a:prstDash val="solid"/>
          </a:ln>
          <a:effectLst>
            <a:outerShdw sx="100000" sy="100000" kx="0" ky="0" algn="bl" rotWithShape="0" blurRad="76200" dist="25400" dir="8100000">
              <a:srgbClr val="000000">
                <a:alpha val="22000"/>
              </a:srgbClr>
            </a:outerShdw>
          </a:effectLst>
        </p:spPr>
      </p:sp>
      <p:sp>
        <p:nvSpPr>
          <p:cNvPr id="10" name="Shape 8"/>
          <p:cNvSpPr/>
          <p:nvPr/>
        </p:nvSpPr>
        <p:spPr>
          <a:xfrm>
            <a:off x="4709160" y="950976"/>
            <a:ext cx="64008" cy="1143000"/>
          </a:xfrm>
          <a:prstGeom prst="rect">
            <a:avLst/>
          </a:prstGeom>
          <a:solidFill>
            <a:srgbClr val="6366F1"/>
          </a:solidFill>
          <a:ln/>
        </p:spPr>
      </p:sp>
      <p:sp>
        <p:nvSpPr>
          <p:cNvPr id="11" name="Text 9"/>
          <p:cNvSpPr/>
          <p:nvPr/>
        </p:nvSpPr>
        <p:spPr>
          <a:xfrm>
            <a:off x="4892040" y="1042416"/>
            <a:ext cx="3886200" cy="320040"/>
          </a:xfrm>
          <a:prstGeom prst="rect">
            <a:avLst/>
          </a:prstGeom>
          <a:noFill/>
          <a:ln/>
        </p:spPr>
        <p:txBody>
          <a:bodyPr wrap="square" rtlCol="0" anchor="ctr"/>
          <a:lstStyle/>
          <a:p>
            <a:pPr indent="0" marL="0">
              <a:buNone/>
            </a:pPr>
            <a:r>
              <a:rPr lang="en-US" sz="1100" b="1" dirty="0">
                <a:solidFill>
                  <a:srgbClr val="22D3EE"/>
                </a:solidFill>
                <a:latin typeface="Calibri" pitchFamily="34" charset="0"/>
                <a:ea typeface="Calibri" pitchFamily="34" charset="-122"/>
                <a:cs typeface="Calibri" pitchFamily="34" charset="-120"/>
              </a:rPr>
              <a:t>Q: How does horizontal scaling work here?</a:t>
            </a:r>
            <a:endParaRPr lang="en-US" sz="1100" dirty="0"/>
          </a:p>
        </p:txBody>
      </p:sp>
      <p:sp>
        <p:nvSpPr>
          <p:cNvPr id="12" name="Text 10"/>
          <p:cNvSpPr/>
          <p:nvPr/>
        </p:nvSpPr>
        <p:spPr>
          <a:xfrm>
            <a:off x="4892040" y="1389888"/>
            <a:ext cx="3886200" cy="658368"/>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 Redis holds all shared state. Socket.IO uses the Redis Adapter for cross-instance pub/sub. Any server instance can handle any user's connection.</a:t>
            </a:r>
            <a:endParaRPr lang="en-US" sz="1000" dirty="0"/>
          </a:p>
        </p:txBody>
      </p:sp>
      <p:sp>
        <p:nvSpPr>
          <p:cNvPr id="13" name="Shape 11"/>
          <p:cNvSpPr/>
          <p:nvPr/>
        </p:nvSpPr>
        <p:spPr>
          <a:xfrm>
            <a:off x="274320" y="2212848"/>
            <a:ext cx="4206240" cy="1143000"/>
          </a:xfrm>
          <a:prstGeom prst="rect">
            <a:avLst/>
          </a:prstGeom>
          <a:solidFill>
            <a:srgbClr val="1E293B"/>
          </a:solidFill>
          <a:ln w="6350">
            <a:solidFill>
              <a:srgbClr val="6366F1"/>
            </a:solidFill>
            <a:prstDash val="solid"/>
          </a:ln>
          <a:effectLst>
            <a:outerShdw sx="100000" sy="100000" kx="0" ky="0" algn="bl" rotWithShape="0" blurRad="76200" dist="25400" dir="8100000">
              <a:srgbClr val="000000">
                <a:alpha val="22000"/>
              </a:srgbClr>
            </a:outerShdw>
          </a:effectLst>
        </p:spPr>
      </p:sp>
      <p:sp>
        <p:nvSpPr>
          <p:cNvPr id="14" name="Shape 12"/>
          <p:cNvSpPr/>
          <p:nvPr/>
        </p:nvSpPr>
        <p:spPr>
          <a:xfrm>
            <a:off x="274320" y="2212848"/>
            <a:ext cx="64008" cy="1143000"/>
          </a:xfrm>
          <a:prstGeom prst="rect">
            <a:avLst/>
          </a:prstGeom>
          <a:solidFill>
            <a:srgbClr val="6366F1"/>
          </a:solidFill>
          <a:ln/>
        </p:spPr>
      </p:sp>
      <p:sp>
        <p:nvSpPr>
          <p:cNvPr id="15" name="Text 13"/>
          <p:cNvSpPr/>
          <p:nvPr/>
        </p:nvSpPr>
        <p:spPr>
          <a:xfrm>
            <a:off x="457200" y="2304288"/>
            <a:ext cx="3886200" cy="320040"/>
          </a:xfrm>
          <a:prstGeom prst="rect">
            <a:avLst/>
          </a:prstGeom>
          <a:noFill/>
          <a:ln/>
        </p:spPr>
        <p:txBody>
          <a:bodyPr wrap="square" rtlCol="0" anchor="ctr"/>
          <a:lstStyle/>
          <a:p>
            <a:pPr indent="0" marL="0">
              <a:buNone/>
            </a:pPr>
            <a:r>
              <a:rPr lang="en-US" sz="1100" b="1" dirty="0">
                <a:solidFill>
                  <a:srgbClr val="22D3EE"/>
                </a:solidFill>
                <a:latin typeface="Calibri" pitchFamily="34" charset="0"/>
                <a:ea typeface="Calibri" pitchFamily="34" charset="-122"/>
                <a:cs typeface="Calibri" pitchFamily="34" charset="-120"/>
              </a:rPr>
              <a:t>Q: How do you prevent cheating?</a:t>
            </a:r>
            <a:endParaRPr lang="en-US" sz="1100" dirty="0"/>
          </a:p>
        </p:txBody>
      </p:sp>
      <p:sp>
        <p:nvSpPr>
          <p:cNvPr id="16" name="Text 14"/>
          <p:cNvSpPr/>
          <p:nvPr/>
        </p:nvSpPr>
        <p:spPr>
          <a:xfrm>
            <a:off x="457200" y="2651760"/>
            <a:ext cx="3886200" cy="658368"/>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 Server-authoritative engine. The client sends only moves. The server validates against its canonical board. Nothing in client state can be manipulated.</a:t>
            </a:r>
            <a:endParaRPr lang="en-US" sz="1000" dirty="0"/>
          </a:p>
        </p:txBody>
      </p:sp>
      <p:sp>
        <p:nvSpPr>
          <p:cNvPr id="17" name="Shape 15"/>
          <p:cNvSpPr/>
          <p:nvPr/>
        </p:nvSpPr>
        <p:spPr>
          <a:xfrm>
            <a:off x="4709160" y="2212848"/>
            <a:ext cx="4206240" cy="1143000"/>
          </a:xfrm>
          <a:prstGeom prst="rect">
            <a:avLst/>
          </a:prstGeom>
          <a:solidFill>
            <a:srgbClr val="1E293B"/>
          </a:solidFill>
          <a:ln w="6350">
            <a:solidFill>
              <a:srgbClr val="6366F1"/>
            </a:solidFill>
            <a:prstDash val="solid"/>
          </a:ln>
          <a:effectLst>
            <a:outerShdw sx="100000" sy="100000" kx="0" ky="0" algn="bl" rotWithShape="0" blurRad="76200" dist="25400" dir="8100000">
              <a:srgbClr val="000000">
                <a:alpha val="22000"/>
              </a:srgbClr>
            </a:outerShdw>
          </a:effectLst>
        </p:spPr>
      </p:sp>
      <p:sp>
        <p:nvSpPr>
          <p:cNvPr id="18" name="Shape 16"/>
          <p:cNvSpPr/>
          <p:nvPr/>
        </p:nvSpPr>
        <p:spPr>
          <a:xfrm>
            <a:off x="4709160" y="2212848"/>
            <a:ext cx="64008" cy="1143000"/>
          </a:xfrm>
          <a:prstGeom prst="rect">
            <a:avLst/>
          </a:prstGeom>
          <a:solidFill>
            <a:srgbClr val="6366F1"/>
          </a:solidFill>
          <a:ln/>
        </p:spPr>
      </p:sp>
      <p:sp>
        <p:nvSpPr>
          <p:cNvPr id="19" name="Text 17"/>
          <p:cNvSpPr/>
          <p:nvPr/>
        </p:nvSpPr>
        <p:spPr>
          <a:xfrm>
            <a:off x="4892040" y="2304288"/>
            <a:ext cx="3886200" cy="320040"/>
          </a:xfrm>
          <a:prstGeom prst="rect">
            <a:avLst/>
          </a:prstGeom>
          <a:noFill/>
          <a:ln/>
        </p:spPr>
        <p:txBody>
          <a:bodyPr wrap="square" rtlCol="0" anchor="ctr"/>
          <a:lstStyle/>
          <a:p>
            <a:pPr indent="0" marL="0">
              <a:buNone/>
            </a:pPr>
            <a:r>
              <a:rPr lang="en-US" sz="1100" b="1" dirty="0">
                <a:solidFill>
                  <a:srgbClr val="22D3EE"/>
                </a:solidFill>
                <a:latin typeface="Calibri" pitchFamily="34" charset="0"/>
                <a:ea typeface="Calibri" pitchFamily="34" charset="-122"/>
                <a:cs typeface="Calibri" pitchFamily="34" charset="-120"/>
              </a:rPr>
              <a:t>Q: Why a modular monolith, not microservices?</a:t>
            </a:r>
            <a:endParaRPr lang="en-US" sz="1100" dirty="0"/>
          </a:p>
        </p:txBody>
      </p:sp>
      <p:sp>
        <p:nvSpPr>
          <p:cNvPr id="20" name="Text 18"/>
          <p:cNvSpPr/>
          <p:nvPr/>
        </p:nvSpPr>
        <p:spPr>
          <a:xfrm>
            <a:off x="4892040" y="2651760"/>
            <a:ext cx="3886200" cy="658368"/>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 Same internal separation with far lower operational cost. One deployment, one codebase, easier debugging. Microservices add unjustified complexity at this scale.</a:t>
            </a:r>
            <a:endParaRPr lang="en-US" sz="1000" dirty="0"/>
          </a:p>
        </p:txBody>
      </p:sp>
      <p:sp>
        <p:nvSpPr>
          <p:cNvPr id="21" name="Shape 19"/>
          <p:cNvSpPr/>
          <p:nvPr/>
        </p:nvSpPr>
        <p:spPr>
          <a:xfrm>
            <a:off x="274320" y="3474720"/>
            <a:ext cx="4206240" cy="1143000"/>
          </a:xfrm>
          <a:prstGeom prst="rect">
            <a:avLst/>
          </a:prstGeom>
          <a:solidFill>
            <a:srgbClr val="1E293B"/>
          </a:solidFill>
          <a:ln w="6350">
            <a:solidFill>
              <a:srgbClr val="6366F1"/>
            </a:solidFill>
            <a:prstDash val="solid"/>
          </a:ln>
          <a:effectLst>
            <a:outerShdw sx="100000" sy="100000" kx="0" ky="0" algn="bl" rotWithShape="0" blurRad="76200" dist="25400" dir="8100000">
              <a:srgbClr val="000000">
                <a:alpha val="22000"/>
              </a:srgbClr>
            </a:outerShdw>
          </a:effectLst>
        </p:spPr>
      </p:sp>
      <p:sp>
        <p:nvSpPr>
          <p:cNvPr id="22" name="Shape 20"/>
          <p:cNvSpPr/>
          <p:nvPr/>
        </p:nvSpPr>
        <p:spPr>
          <a:xfrm>
            <a:off x="274320" y="3474720"/>
            <a:ext cx="64008" cy="1143000"/>
          </a:xfrm>
          <a:prstGeom prst="rect">
            <a:avLst/>
          </a:prstGeom>
          <a:solidFill>
            <a:srgbClr val="6366F1"/>
          </a:solidFill>
          <a:ln/>
        </p:spPr>
      </p:sp>
      <p:sp>
        <p:nvSpPr>
          <p:cNvPr id="23" name="Text 21"/>
          <p:cNvSpPr/>
          <p:nvPr/>
        </p:nvSpPr>
        <p:spPr>
          <a:xfrm>
            <a:off x="457200" y="3566160"/>
            <a:ext cx="3886200" cy="320040"/>
          </a:xfrm>
          <a:prstGeom prst="rect">
            <a:avLst/>
          </a:prstGeom>
          <a:noFill/>
          <a:ln/>
        </p:spPr>
        <p:txBody>
          <a:bodyPr wrap="square" rtlCol="0" anchor="ctr"/>
          <a:lstStyle/>
          <a:p>
            <a:pPr indent="0" marL="0">
              <a:buNone/>
            </a:pPr>
            <a:r>
              <a:rPr lang="en-US" sz="1100" b="1" dirty="0">
                <a:solidFill>
                  <a:srgbClr val="22D3EE"/>
                </a:solidFill>
                <a:latin typeface="Calibri" pitchFamily="34" charset="0"/>
                <a:ea typeface="Calibri" pitchFamily="34" charset="-122"/>
                <a:cs typeface="Calibri" pitchFamily="34" charset="-120"/>
              </a:rPr>
              <a:t>Q: How does matchmaking work at scale?</a:t>
            </a:r>
            <a:endParaRPr lang="en-US" sz="1100" dirty="0"/>
          </a:p>
        </p:txBody>
      </p:sp>
      <p:sp>
        <p:nvSpPr>
          <p:cNvPr id="24" name="Text 22"/>
          <p:cNvSpPr/>
          <p:nvPr/>
        </p:nvSpPr>
        <p:spPr>
          <a:xfrm>
            <a:off x="457200" y="3913632"/>
            <a:ext cx="3886200" cy="658368"/>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 Players push to a Redis sorted set by ELO. A consumer pops pairs, creates rooms in Redis, and emits match_found via pub/sub.</a:t>
            </a:r>
            <a:endParaRPr lang="en-US" sz="1000" dirty="0"/>
          </a:p>
        </p:txBody>
      </p:sp>
      <p:sp>
        <p:nvSpPr>
          <p:cNvPr id="25" name="Shape 23"/>
          <p:cNvSpPr/>
          <p:nvPr/>
        </p:nvSpPr>
        <p:spPr>
          <a:xfrm>
            <a:off x="4709160" y="3474720"/>
            <a:ext cx="4206240" cy="1143000"/>
          </a:xfrm>
          <a:prstGeom prst="rect">
            <a:avLst/>
          </a:prstGeom>
          <a:solidFill>
            <a:srgbClr val="1E293B"/>
          </a:solidFill>
          <a:ln w="6350">
            <a:solidFill>
              <a:srgbClr val="6366F1"/>
            </a:solidFill>
            <a:prstDash val="solid"/>
          </a:ln>
          <a:effectLst>
            <a:outerShdw sx="100000" sy="100000" kx="0" ky="0" algn="bl" rotWithShape="0" blurRad="76200" dist="25400" dir="8100000">
              <a:srgbClr val="000000">
                <a:alpha val="22000"/>
              </a:srgbClr>
            </a:outerShdw>
          </a:effectLst>
        </p:spPr>
      </p:sp>
      <p:sp>
        <p:nvSpPr>
          <p:cNvPr id="26" name="Shape 24"/>
          <p:cNvSpPr/>
          <p:nvPr/>
        </p:nvSpPr>
        <p:spPr>
          <a:xfrm>
            <a:off x="4709160" y="3474720"/>
            <a:ext cx="64008" cy="1143000"/>
          </a:xfrm>
          <a:prstGeom prst="rect">
            <a:avLst/>
          </a:prstGeom>
          <a:solidFill>
            <a:srgbClr val="6366F1"/>
          </a:solidFill>
          <a:ln/>
        </p:spPr>
      </p:sp>
      <p:sp>
        <p:nvSpPr>
          <p:cNvPr id="27" name="Text 25"/>
          <p:cNvSpPr/>
          <p:nvPr/>
        </p:nvSpPr>
        <p:spPr>
          <a:xfrm>
            <a:off x="4892040" y="3566160"/>
            <a:ext cx="3886200" cy="320040"/>
          </a:xfrm>
          <a:prstGeom prst="rect">
            <a:avLst/>
          </a:prstGeom>
          <a:noFill/>
          <a:ln/>
        </p:spPr>
        <p:txBody>
          <a:bodyPr wrap="square" rtlCol="0" anchor="ctr"/>
          <a:lstStyle/>
          <a:p>
            <a:pPr indent="0" marL="0">
              <a:buNone/>
            </a:pPr>
            <a:r>
              <a:rPr lang="en-US" sz="1100" b="1" dirty="0">
                <a:solidFill>
                  <a:srgbClr val="22D3EE"/>
                </a:solidFill>
                <a:latin typeface="Calibri" pitchFamily="34" charset="0"/>
                <a:ea typeface="Calibri" pitchFamily="34" charset="-122"/>
                <a:cs typeface="Calibri" pitchFamily="34" charset="-120"/>
              </a:rPr>
              <a:t>Q: What breaks first at 10,000 users?</a:t>
            </a:r>
            <a:endParaRPr lang="en-US" sz="1100" dirty="0"/>
          </a:p>
        </p:txBody>
      </p:sp>
      <p:sp>
        <p:nvSpPr>
          <p:cNvPr id="28" name="Text 26"/>
          <p:cNvSpPr/>
          <p:nvPr/>
        </p:nvSpPr>
        <p:spPr>
          <a:xfrm>
            <a:off x="4892040" y="3913632"/>
            <a:ext cx="3886200" cy="658368"/>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 Redis throughput becomes the bottleneck. Next: Redis Cluster. PostgreSQL also needs PgBouncer connection pooling at that scale.</a:t>
            </a:r>
            <a:endParaRPr lang="en-US" sz="1000" dirty="0"/>
          </a:p>
        </p:txBody>
      </p:sp>
      <p:sp>
        <p:nvSpPr>
          <p:cNvPr id="29" name="Shape 27"/>
          <p:cNvSpPr/>
          <p:nvPr/>
        </p:nvSpPr>
        <p:spPr>
          <a:xfrm>
            <a:off x="274320" y="4727448"/>
            <a:ext cx="8595360" cy="310896"/>
          </a:xfrm>
          <a:prstGeom prst="rect">
            <a:avLst/>
          </a:prstGeom>
          <a:solidFill>
            <a:srgbClr val="1E293B"/>
          </a:solidFill>
          <a:ln w="6350">
            <a:solidFill>
              <a:srgbClr val="6366F1"/>
            </a:solidFill>
            <a:prstDash val="solid"/>
          </a:ln>
        </p:spPr>
      </p:sp>
      <p:sp>
        <p:nvSpPr>
          <p:cNvPr id="30" name="Text 28"/>
          <p:cNvSpPr/>
          <p:nvPr/>
        </p:nvSpPr>
        <p:spPr>
          <a:xfrm>
            <a:off x="274320" y="4727448"/>
            <a:ext cx="8595360" cy="310896"/>
          </a:xfrm>
          <a:prstGeom prst="rect">
            <a:avLst/>
          </a:prstGeom>
          <a:noFill/>
          <a:ln/>
        </p:spPr>
        <p:txBody>
          <a:bodyPr wrap="square" rtlCol="0" anchor="ctr"/>
          <a:lstStyle/>
          <a:p>
            <a:pPr algn="ctr" indent="0" marL="0">
              <a:buNone/>
            </a:pPr>
            <a:r>
              <a:rPr lang="en-US" sz="1200" i="1" dirty="0">
                <a:solidFill>
                  <a:srgbClr val="6366F1"/>
                </a:solidFill>
                <a:latin typeface="Calibri" pitchFamily="34" charset="0"/>
                <a:ea typeface="Calibri" pitchFamily="34" charset="-122"/>
                <a:cs typeface="Calibri" pitchFamily="34" charset="-120"/>
              </a:rPr>
              <a:t>After 14 phases, this is no longer a sudoku project — it is a scalable realtime competitive platform.</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6366F1"/>
          </a:solidFill>
          <a:ln/>
        </p:spPr>
      </p:sp>
      <p:sp>
        <p:nvSpPr>
          <p:cNvPr id="3" name="Shape 1"/>
          <p:cNvSpPr/>
          <p:nvPr/>
        </p:nvSpPr>
        <p:spPr>
          <a:xfrm>
            <a:off x="0" y="5079492"/>
            <a:ext cx="9144000" cy="64008"/>
          </a:xfrm>
          <a:prstGeom prst="rect">
            <a:avLst/>
          </a:prstGeom>
          <a:solidFill>
            <a:srgbClr val="6366F1"/>
          </a:solidFill>
          <a:ln/>
        </p:spPr>
      </p:sp>
      <p:sp>
        <p:nvSpPr>
          <p:cNvPr id="4" name="Shape 2"/>
          <p:cNvSpPr/>
          <p:nvPr/>
        </p:nvSpPr>
        <p:spPr>
          <a:xfrm>
            <a:off x="0" y="64008"/>
            <a:ext cx="64008" cy="5015484"/>
          </a:xfrm>
          <a:prstGeom prst="rect">
            <a:avLst/>
          </a:prstGeom>
          <a:solidFill>
            <a:srgbClr val="6366F1"/>
          </a:solidFill>
          <a:ln/>
        </p:spPr>
      </p:sp>
      <p:sp>
        <p:nvSpPr>
          <p:cNvPr id="5" name="Text 3"/>
          <p:cNvSpPr/>
          <p:nvPr/>
        </p:nvSpPr>
        <p:spPr>
          <a:xfrm>
            <a:off x="274320" y="292608"/>
            <a:ext cx="8595360" cy="329184"/>
          </a:xfrm>
          <a:prstGeom prst="rect">
            <a:avLst/>
          </a:prstGeom>
          <a:noFill/>
          <a:ln/>
        </p:spPr>
        <p:txBody>
          <a:bodyPr wrap="square" rtlCol="0" anchor="ctr"/>
          <a:lstStyle/>
          <a:p>
            <a:pPr indent="0" marL="0">
              <a:buNone/>
            </a:pPr>
            <a:r>
              <a:rPr lang="en-US" sz="1050" b="1" spc="400" kern="0" dirty="0">
                <a:solidFill>
                  <a:srgbClr val="94A3B8"/>
                </a:solidFill>
                <a:latin typeface="Calibri" pitchFamily="34" charset="0"/>
                <a:ea typeface="Calibri" pitchFamily="34" charset="-122"/>
                <a:cs typeface="Calibri" pitchFamily="34" charset="-120"/>
              </a:rPr>
              <a:t>EXECUTE IN THIS ORDER</a:t>
            </a:r>
            <a:endParaRPr lang="en-US" sz="1050" dirty="0"/>
          </a:p>
        </p:txBody>
      </p:sp>
      <p:sp>
        <p:nvSpPr>
          <p:cNvPr id="6" name="Text 4"/>
          <p:cNvSpPr/>
          <p:nvPr/>
        </p:nvSpPr>
        <p:spPr>
          <a:xfrm>
            <a:off x="274320" y="603504"/>
            <a:ext cx="8595360" cy="804672"/>
          </a:xfrm>
          <a:prstGeom prst="rect">
            <a:avLst/>
          </a:prstGeom>
          <a:noFill/>
          <a:ln/>
        </p:spPr>
        <p:txBody>
          <a:bodyPr wrap="square" rtlCol="0" anchor="ctr"/>
          <a:lstStyle/>
          <a:p>
            <a:pPr indent="0" marL="0">
              <a:buNone/>
            </a:pPr>
            <a:r>
              <a:rPr lang="en-US" sz="4200" b="1" dirty="0">
                <a:solidFill>
                  <a:srgbClr val="F1F5F9"/>
                </a:solidFill>
                <a:latin typeface="Calibri" pitchFamily="34" charset="0"/>
                <a:ea typeface="Calibri" pitchFamily="34" charset="-122"/>
                <a:cs typeface="Calibri" pitchFamily="34" charset="-120"/>
              </a:rPr>
              <a:t>The Path to Production</a:t>
            </a:r>
            <a:endParaRPr lang="en-US" sz="4200" dirty="0"/>
          </a:p>
        </p:txBody>
      </p:sp>
      <p:sp>
        <p:nvSpPr>
          <p:cNvPr id="7" name="Shape 5"/>
          <p:cNvSpPr/>
          <p:nvPr/>
        </p:nvSpPr>
        <p:spPr>
          <a:xfrm>
            <a:off x="256032" y="1554480"/>
            <a:ext cx="2103120" cy="384048"/>
          </a:xfrm>
          <a:prstGeom prst="rect">
            <a:avLst/>
          </a:prstGeom>
          <a:solidFill>
            <a:srgbClr val="0D1929"/>
          </a:solidFill>
          <a:ln w="9525">
            <a:solidFill>
              <a:srgbClr val="F87171"/>
            </a:solidFill>
            <a:prstDash val="solid"/>
          </a:ln>
        </p:spPr>
      </p:sp>
      <p:sp>
        <p:nvSpPr>
          <p:cNvPr id="8" name="Text 6"/>
          <p:cNvSpPr/>
          <p:nvPr/>
        </p:nvSpPr>
        <p:spPr>
          <a:xfrm>
            <a:off x="256032" y="1554480"/>
            <a:ext cx="2103120" cy="384048"/>
          </a:xfrm>
          <a:prstGeom prst="rect">
            <a:avLst/>
          </a:prstGeom>
          <a:noFill/>
          <a:ln/>
        </p:spPr>
        <p:txBody>
          <a:bodyPr wrap="square" rtlCol="0" anchor="ctr"/>
          <a:lstStyle/>
          <a:p>
            <a:pPr algn="ctr" indent="0" marL="0">
              <a:buNone/>
            </a:pPr>
            <a:r>
              <a:rPr lang="en-US" sz="850" b="1" dirty="0">
                <a:solidFill>
                  <a:srgbClr val="F87171"/>
                </a:solidFill>
                <a:latin typeface="Calibri" pitchFamily="34" charset="0"/>
                <a:ea typeface="Calibri" pitchFamily="34" charset="-122"/>
                <a:cs typeface="Calibri" pitchFamily="34" charset="-120"/>
              </a:rPr>
              <a:t>TIER 1 — FOUNDATION</a:t>
            </a:r>
            <a:endParaRPr lang="en-US" sz="850" dirty="0"/>
          </a:p>
        </p:txBody>
      </p:sp>
      <p:sp>
        <p:nvSpPr>
          <p:cNvPr id="9" name="Shape 7"/>
          <p:cNvSpPr/>
          <p:nvPr/>
        </p:nvSpPr>
        <p:spPr>
          <a:xfrm>
            <a:off x="256032" y="2048256"/>
            <a:ext cx="2103120" cy="502920"/>
          </a:xfrm>
          <a:prstGeom prst="rect">
            <a:avLst/>
          </a:prstGeom>
          <a:solidFill>
            <a:srgbClr val="1E293B"/>
          </a:solidFill>
          <a:ln w="6350">
            <a:solidFill>
              <a:srgbClr val="F87171"/>
            </a:solidFill>
            <a:prstDash val="solid"/>
          </a:ln>
        </p:spPr>
      </p:sp>
      <p:sp>
        <p:nvSpPr>
          <p:cNvPr id="10" name="Text 8"/>
          <p:cNvSpPr/>
          <p:nvPr/>
        </p:nvSpPr>
        <p:spPr>
          <a:xfrm>
            <a:off x="256032" y="2048256"/>
            <a:ext cx="2103120" cy="502920"/>
          </a:xfrm>
          <a:prstGeom prst="rect">
            <a:avLst/>
          </a:prstGeom>
          <a:noFill/>
          <a:ln/>
        </p:spPr>
        <p:txBody>
          <a:bodyPr wrap="square" rtlCol="0" anchor="ctr"/>
          <a:lstStyle/>
          <a:p>
            <a:pPr algn="ctr" indent="0" marL="0">
              <a:buNone/>
            </a:pPr>
            <a:r>
              <a:rPr lang="en-US" sz="1100" dirty="0">
                <a:solidFill>
                  <a:srgbClr val="F87171"/>
                </a:solidFill>
                <a:latin typeface="Calibri" pitchFamily="34" charset="0"/>
                <a:ea typeface="Calibri" pitchFamily="34" charset="-122"/>
                <a:cs typeface="Calibri" pitchFamily="34" charset="-120"/>
              </a:rPr>
              <a:t>P0: Audit</a:t>
            </a:r>
            <a:endParaRPr lang="en-US" sz="1100" dirty="0"/>
          </a:p>
        </p:txBody>
      </p:sp>
      <p:sp>
        <p:nvSpPr>
          <p:cNvPr id="11" name="Shape 9"/>
          <p:cNvSpPr/>
          <p:nvPr/>
        </p:nvSpPr>
        <p:spPr>
          <a:xfrm>
            <a:off x="256032" y="2642616"/>
            <a:ext cx="2103120" cy="502920"/>
          </a:xfrm>
          <a:prstGeom prst="rect">
            <a:avLst/>
          </a:prstGeom>
          <a:solidFill>
            <a:srgbClr val="1E293B"/>
          </a:solidFill>
          <a:ln w="6350">
            <a:solidFill>
              <a:srgbClr val="F87171"/>
            </a:solidFill>
            <a:prstDash val="solid"/>
          </a:ln>
        </p:spPr>
      </p:sp>
      <p:sp>
        <p:nvSpPr>
          <p:cNvPr id="12" name="Text 10"/>
          <p:cNvSpPr/>
          <p:nvPr/>
        </p:nvSpPr>
        <p:spPr>
          <a:xfrm>
            <a:off x="256032" y="2642616"/>
            <a:ext cx="2103120" cy="502920"/>
          </a:xfrm>
          <a:prstGeom prst="rect">
            <a:avLst/>
          </a:prstGeom>
          <a:noFill/>
          <a:ln/>
        </p:spPr>
        <p:txBody>
          <a:bodyPr wrap="square" rtlCol="0" anchor="ctr"/>
          <a:lstStyle/>
          <a:p>
            <a:pPr algn="ctr" indent="0" marL="0">
              <a:buNone/>
            </a:pPr>
            <a:r>
              <a:rPr lang="en-US" sz="1100" dirty="0">
                <a:solidFill>
                  <a:srgbClr val="F87171"/>
                </a:solidFill>
                <a:latin typeface="Calibri" pitchFamily="34" charset="0"/>
                <a:ea typeface="Calibri" pitchFamily="34" charset="-122"/>
                <a:cs typeface="Calibri" pitchFamily="34" charset="-120"/>
              </a:rPr>
              <a:t>P1: TypeScript</a:t>
            </a:r>
            <a:endParaRPr lang="en-US" sz="1100" dirty="0"/>
          </a:p>
        </p:txBody>
      </p:sp>
      <p:sp>
        <p:nvSpPr>
          <p:cNvPr id="13" name="Shape 11"/>
          <p:cNvSpPr/>
          <p:nvPr/>
        </p:nvSpPr>
        <p:spPr>
          <a:xfrm>
            <a:off x="256032" y="3236976"/>
            <a:ext cx="2103120" cy="502920"/>
          </a:xfrm>
          <a:prstGeom prst="rect">
            <a:avLst/>
          </a:prstGeom>
          <a:solidFill>
            <a:srgbClr val="1E293B"/>
          </a:solidFill>
          <a:ln w="6350">
            <a:solidFill>
              <a:srgbClr val="F87171"/>
            </a:solidFill>
            <a:prstDash val="solid"/>
          </a:ln>
        </p:spPr>
      </p:sp>
      <p:sp>
        <p:nvSpPr>
          <p:cNvPr id="14" name="Text 12"/>
          <p:cNvSpPr/>
          <p:nvPr/>
        </p:nvSpPr>
        <p:spPr>
          <a:xfrm>
            <a:off x="256032" y="3236976"/>
            <a:ext cx="2103120" cy="502920"/>
          </a:xfrm>
          <a:prstGeom prst="rect">
            <a:avLst/>
          </a:prstGeom>
          <a:noFill/>
          <a:ln/>
        </p:spPr>
        <p:txBody>
          <a:bodyPr wrap="square" rtlCol="0" anchor="ctr"/>
          <a:lstStyle/>
          <a:p>
            <a:pPr algn="ctr" indent="0" marL="0">
              <a:buNone/>
            </a:pPr>
            <a:r>
              <a:rPr lang="en-US" sz="1100" dirty="0">
                <a:solidFill>
                  <a:srgbClr val="F87171"/>
                </a:solidFill>
                <a:latin typeface="Calibri" pitchFamily="34" charset="0"/>
                <a:ea typeface="Calibri" pitchFamily="34" charset="-122"/>
                <a:cs typeface="Calibri" pitchFamily="34" charset="-120"/>
              </a:rPr>
              <a:t>P2: Modular Monolith</a:t>
            </a:r>
            <a:endParaRPr lang="en-US" sz="1100" dirty="0"/>
          </a:p>
        </p:txBody>
      </p:sp>
      <p:sp>
        <p:nvSpPr>
          <p:cNvPr id="15" name="Shape 13"/>
          <p:cNvSpPr/>
          <p:nvPr/>
        </p:nvSpPr>
        <p:spPr>
          <a:xfrm>
            <a:off x="256032" y="3831336"/>
            <a:ext cx="2103120" cy="502920"/>
          </a:xfrm>
          <a:prstGeom prst="rect">
            <a:avLst/>
          </a:prstGeom>
          <a:solidFill>
            <a:srgbClr val="1E293B"/>
          </a:solidFill>
          <a:ln w="6350">
            <a:solidFill>
              <a:srgbClr val="F87171"/>
            </a:solidFill>
            <a:prstDash val="solid"/>
          </a:ln>
        </p:spPr>
      </p:sp>
      <p:sp>
        <p:nvSpPr>
          <p:cNvPr id="16" name="Text 14"/>
          <p:cNvSpPr/>
          <p:nvPr/>
        </p:nvSpPr>
        <p:spPr>
          <a:xfrm>
            <a:off x="256032" y="3831336"/>
            <a:ext cx="2103120" cy="502920"/>
          </a:xfrm>
          <a:prstGeom prst="rect">
            <a:avLst/>
          </a:prstGeom>
          <a:noFill/>
          <a:ln/>
        </p:spPr>
        <p:txBody>
          <a:bodyPr wrap="square" rtlCol="0" anchor="ctr"/>
          <a:lstStyle/>
          <a:p>
            <a:pPr algn="ctr" indent="0" marL="0">
              <a:buNone/>
            </a:pPr>
            <a:r>
              <a:rPr lang="en-US" sz="1100" dirty="0">
                <a:solidFill>
                  <a:srgbClr val="F87171"/>
                </a:solidFill>
                <a:latin typeface="Calibri" pitchFamily="34" charset="0"/>
                <a:ea typeface="Calibri" pitchFamily="34" charset="-122"/>
                <a:cs typeface="Calibri" pitchFamily="34" charset="-120"/>
              </a:rPr>
              <a:t>P3: Security</a:t>
            </a:r>
            <a:endParaRPr lang="en-US" sz="1100" dirty="0"/>
          </a:p>
        </p:txBody>
      </p:sp>
      <p:sp>
        <p:nvSpPr>
          <p:cNvPr id="17" name="Shape 15"/>
          <p:cNvSpPr/>
          <p:nvPr/>
        </p:nvSpPr>
        <p:spPr>
          <a:xfrm>
            <a:off x="2487168" y="1554480"/>
            <a:ext cx="2103120" cy="384048"/>
          </a:xfrm>
          <a:prstGeom prst="rect">
            <a:avLst/>
          </a:prstGeom>
          <a:solidFill>
            <a:srgbClr val="0D1929"/>
          </a:solidFill>
          <a:ln w="9525">
            <a:solidFill>
              <a:srgbClr val="FCD34D"/>
            </a:solidFill>
            <a:prstDash val="solid"/>
          </a:ln>
        </p:spPr>
      </p:sp>
      <p:sp>
        <p:nvSpPr>
          <p:cNvPr id="18" name="Text 16"/>
          <p:cNvSpPr/>
          <p:nvPr/>
        </p:nvSpPr>
        <p:spPr>
          <a:xfrm>
            <a:off x="2487168" y="1554480"/>
            <a:ext cx="2103120" cy="384048"/>
          </a:xfrm>
          <a:prstGeom prst="rect">
            <a:avLst/>
          </a:prstGeom>
          <a:noFill/>
          <a:ln/>
        </p:spPr>
        <p:txBody>
          <a:bodyPr wrap="square" rtlCol="0" anchor="ctr"/>
          <a:lstStyle/>
          <a:p>
            <a:pPr algn="ctr" indent="0" marL="0">
              <a:buNone/>
            </a:pPr>
            <a:r>
              <a:rPr lang="en-US" sz="850" b="1" dirty="0">
                <a:solidFill>
                  <a:srgbClr val="FCD34D"/>
                </a:solidFill>
                <a:latin typeface="Calibri" pitchFamily="34" charset="0"/>
                <a:ea typeface="Calibri" pitchFamily="34" charset="-122"/>
                <a:cs typeface="Calibri" pitchFamily="34" charset="-120"/>
              </a:rPr>
              <a:t>TIER 2 — CORE</a:t>
            </a:r>
            <a:endParaRPr lang="en-US" sz="850" dirty="0"/>
          </a:p>
        </p:txBody>
      </p:sp>
      <p:sp>
        <p:nvSpPr>
          <p:cNvPr id="19" name="Shape 17"/>
          <p:cNvSpPr/>
          <p:nvPr/>
        </p:nvSpPr>
        <p:spPr>
          <a:xfrm>
            <a:off x="2487168" y="2048256"/>
            <a:ext cx="2103120" cy="502920"/>
          </a:xfrm>
          <a:prstGeom prst="rect">
            <a:avLst/>
          </a:prstGeom>
          <a:solidFill>
            <a:srgbClr val="1E293B"/>
          </a:solidFill>
          <a:ln w="6350">
            <a:solidFill>
              <a:srgbClr val="FCD34D"/>
            </a:solidFill>
            <a:prstDash val="solid"/>
          </a:ln>
        </p:spPr>
      </p:sp>
      <p:sp>
        <p:nvSpPr>
          <p:cNvPr id="20" name="Text 18"/>
          <p:cNvSpPr/>
          <p:nvPr/>
        </p:nvSpPr>
        <p:spPr>
          <a:xfrm>
            <a:off x="2487168" y="2048256"/>
            <a:ext cx="2103120" cy="502920"/>
          </a:xfrm>
          <a:prstGeom prst="rect">
            <a:avLst/>
          </a:prstGeom>
          <a:noFill/>
          <a:ln/>
        </p:spPr>
        <p:txBody>
          <a:bodyPr wrap="square" rtlCol="0" anchor="ctr"/>
          <a:lstStyle/>
          <a:p>
            <a:pPr algn="ctr" indent="0" marL="0">
              <a:buNone/>
            </a:pPr>
            <a:r>
              <a:rPr lang="en-US" sz="1100" dirty="0">
                <a:solidFill>
                  <a:srgbClr val="FCD34D"/>
                </a:solidFill>
                <a:latin typeface="Calibri" pitchFamily="34" charset="0"/>
                <a:ea typeface="Calibri" pitchFamily="34" charset="-122"/>
                <a:cs typeface="Calibri" pitchFamily="34" charset="-120"/>
              </a:rPr>
              <a:t>P4: PostgreSQL</a:t>
            </a:r>
            <a:endParaRPr lang="en-US" sz="1100" dirty="0"/>
          </a:p>
        </p:txBody>
      </p:sp>
      <p:sp>
        <p:nvSpPr>
          <p:cNvPr id="21" name="Shape 19"/>
          <p:cNvSpPr/>
          <p:nvPr/>
        </p:nvSpPr>
        <p:spPr>
          <a:xfrm>
            <a:off x="2487168" y="2642616"/>
            <a:ext cx="2103120" cy="502920"/>
          </a:xfrm>
          <a:prstGeom prst="rect">
            <a:avLst/>
          </a:prstGeom>
          <a:solidFill>
            <a:srgbClr val="1E293B"/>
          </a:solidFill>
          <a:ln w="6350">
            <a:solidFill>
              <a:srgbClr val="FCD34D"/>
            </a:solidFill>
            <a:prstDash val="solid"/>
          </a:ln>
        </p:spPr>
      </p:sp>
      <p:sp>
        <p:nvSpPr>
          <p:cNvPr id="22" name="Text 20"/>
          <p:cNvSpPr/>
          <p:nvPr/>
        </p:nvSpPr>
        <p:spPr>
          <a:xfrm>
            <a:off x="2487168" y="2642616"/>
            <a:ext cx="2103120" cy="502920"/>
          </a:xfrm>
          <a:prstGeom prst="rect">
            <a:avLst/>
          </a:prstGeom>
          <a:noFill/>
          <a:ln/>
        </p:spPr>
        <p:txBody>
          <a:bodyPr wrap="square" rtlCol="0" anchor="ctr"/>
          <a:lstStyle/>
          <a:p>
            <a:pPr algn="ctr" indent="0" marL="0">
              <a:buNone/>
            </a:pPr>
            <a:r>
              <a:rPr lang="en-US" sz="1100" dirty="0">
                <a:solidFill>
                  <a:srgbClr val="FCD34D"/>
                </a:solidFill>
                <a:latin typeface="Calibri" pitchFamily="34" charset="0"/>
                <a:ea typeface="Calibri" pitchFamily="34" charset="-122"/>
                <a:cs typeface="Calibri" pitchFamily="34" charset="-120"/>
              </a:rPr>
              <a:t>P5: Redis</a:t>
            </a:r>
            <a:endParaRPr lang="en-US" sz="1100" dirty="0"/>
          </a:p>
        </p:txBody>
      </p:sp>
      <p:sp>
        <p:nvSpPr>
          <p:cNvPr id="23" name="Shape 21"/>
          <p:cNvSpPr/>
          <p:nvPr/>
        </p:nvSpPr>
        <p:spPr>
          <a:xfrm>
            <a:off x="2487168" y="3236976"/>
            <a:ext cx="2103120" cy="502920"/>
          </a:xfrm>
          <a:prstGeom prst="rect">
            <a:avLst/>
          </a:prstGeom>
          <a:solidFill>
            <a:srgbClr val="1E293B"/>
          </a:solidFill>
          <a:ln w="6350">
            <a:solidFill>
              <a:srgbClr val="FCD34D"/>
            </a:solidFill>
            <a:prstDash val="solid"/>
          </a:ln>
        </p:spPr>
      </p:sp>
      <p:sp>
        <p:nvSpPr>
          <p:cNvPr id="24" name="Text 22"/>
          <p:cNvSpPr/>
          <p:nvPr/>
        </p:nvSpPr>
        <p:spPr>
          <a:xfrm>
            <a:off x="2487168" y="3236976"/>
            <a:ext cx="2103120" cy="502920"/>
          </a:xfrm>
          <a:prstGeom prst="rect">
            <a:avLst/>
          </a:prstGeom>
          <a:noFill/>
          <a:ln/>
        </p:spPr>
        <p:txBody>
          <a:bodyPr wrap="square" rtlCol="0" anchor="ctr"/>
          <a:lstStyle/>
          <a:p>
            <a:pPr algn="ctr" indent="0" marL="0">
              <a:buNone/>
            </a:pPr>
            <a:r>
              <a:rPr lang="en-US" sz="1100" dirty="0">
                <a:solidFill>
                  <a:srgbClr val="FCD34D"/>
                </a:solidFill>
                <a:latin typeface="Calibri" pitchFamily="34" charset="0"/>
                <a:ea typeface="Calibri" pitchFamily="34" charset="-122"/>
                <a:cs typeface="Calibri" pitchFamily="34" charset="-120"/>
              </a:rPr>
              <a:t>P6: Game Engine</a:t>
            </a:r>
            <a:endParaRPr lang="en-US" sz="1100" dirty="0"/>
          </a:p>
        </p:txBody>
      </p:sp>
      <p:sp>
        <p:nvSpPr>
          <p:cNvPr id="25" name="Shape 23"/>
          <p:cNvSpPr/>
          <p:nvPr/>
        </p:nvSpPr>
        <p:spPr>
          <a:xfrm>
            <a:off x="2487168" y="3831336"/>
            <a:ext cx="2103120" cy="502920"/>
          </a:xfrm>
          <a:prstGeom prst="rect">
            <a:avLst/>
          </a:prstGeom>
          <a:solidFill>
            <a:srgbClr val="1E293B"/>
          </a:solidFill>
          <a:ln w="6350">
            <a:solidFill>
              <a:srgbClr val="FCD34D"/>
            </a:solidFill>
            <a:prstDash val="solid"/>
          </a:ln>
        </p:spPr>
      </p:sp>
      <p:sp>
        <p:nvSpPr>
          <p:cNvPr id="26" name="Text 24"/>
          <p:cNvSpPr/>
          <p:nvPr/>
        </p:nvSpPr>
        <p:spPr>
          <a:xfrm>
            <a:off x="2487168" y="3831336"/>
            <a:ext cx="2103120" cy="502920"/>
          </a:xfrm>
          <a:prstGeom prst="rect">
            <a:avLst/>
          </a:prstGeom>
          <a:noFill/>
          <a:ln/>
        </p:spPr>
        <p:txBody>
          <a:bodyPr wrap="square" rtlCol="0" anchor="ctr"/>
          <a:lstStyle/>
          <a:p>
            <a:pPr algn="ctr" indent="0" marL="0">
              <a:buNone/>
            </a:pPr>
            <a:r>
              <a:rPr lang="en-US" sz="1100" dirty="0">
                <a:solidFill>
                  <a:srgbClr val="FCD34D"/>
                </a:solidFill>
                <a:latin typeface="Calibri" pitchFamily="34" charset="0"/>
                <a:ea typeface="Calibri" pitchFamily="34" charset="-122"/>
                <a:cs typeface="Calibri" pitchFamily="34" charset="-120"/>
              </a:rPr>
              <a:t>P7: Daily Challenge</a:t>
            </a:r>
            <a:endParaRPr lang="en-US" sz="1100" dirty="0"/>
          </a:p>
        </p:txBody>
      </p:sp>
      <p:sp>
        <p:nvSpPr>
          <p:cNvPr id="27" name="Shape 25"/>
          <p:cNvSpPr/>
          <p:nvPr/>
        </p:nvSpPr>
        <p:spPr>
          <a:xfrm>
            <a:off x="4718304" y="1554480"/>
            <a:ext cx="2103120" cy="384048"/>
          </a:xfrm>
          <a:prstGeom prst="rect">
            <a:avLst/>
          </a:prstGeom>
          <a:solidFill>
            <a:srgbClr val="0D1929"/>
          </a:solidFill>
          <a:ln w="9525">
            <a:solidFill>
              <a:srgbClr val="4ADE80"/>
            </a:solidFill>
            <a:prstDash val="solid"/>
          </a:ln>
        </p:spPr>
      </p:sp>
      <p:sp>
        <p:nvSpPr>
          <p:cNvPr id="28" name="Text 26"/>
          <p:cNvSpPr/>
          <p:nvPr/>
        </p:nvSpPr>
        <p:spPr>
          <a:xfrm>
            <a:off x="4718304" y="1554480"/>
            <a:ext cx="2103120" cy="384048"/>
          </a:xfrm>
          <a:prstGeom prst="rect">
            <a:avLst/>
          </a:prstGeom>
          <a:noFill/>
          <a:ln/>
        </p:spPr>
        <p:txBody>
          <a:bodyPr wrap="square" rtlCol="0" anchor="ctr"/>
          <a:lstStyle/>
          <a:p>
            <a:pPr algn="ctr" indent="0" marL="0">
              <a:buNone/>
            </a:pPr>
            <a:r>
              <a:rPr lang="en-US" sz="850" b="1" dirty="0">
                <a:solidFill>
                  <a:srgbClr val="4ADE80"/>
                </a:solidFill>
                <a:latin typeface="Calibri" pitchFamily="34" charset="0"/>
                <a:ea typeface="Calibri" pitchFamily="34" charset="-122"/>
                <a:cs typeface="Calibri" pitchFamily="34" charset="-120"/>
              </a:rPr>
              <a:t>TIER 3 — QUALITY</a:t>
            </a:r>
            <a:endParaRPr lang="en-US" sz="850" dirty="0"/>
          </a:p>
        </p:txBody>
      </p:sp>
      <p:sp>
        <p:nvSpPr>
          <p:cNvPr id="29" name="Shape 27"/>
          <p:cNvSpPr/>
          <p:nvPr/>
        </p:nvSpPr>
        <p:spPr>
          <a:xfrm>
            <a:off x="4718304" y="2048256"/>
            <a:ext cx="2103120" cy="502920"/>
          </a:xfrm>
          <a:prstGeom prst="rect">
            <a:avLst/>
          </a:prstGeom>
          <a:solidFill>
            <a:srgbClr val="1E293B"/>
          </a:solidFill>
          <a:ln w="6350">
            <a:solidFill>
              <a:srgbClr val="4ADE80"/>
            </a:solidFill>
            <a:prstDash val="solid"/>
          </a:ln>
        </p:spPr>
      </p:sp>
      <p:sp>
        <p:nvSpPr>
          <p:cNvPr id="30" name="Text 28"/>
          <p:cNvSpPr/>
          <p:nvPr/>
        </p:nvSpPr>
        <p:spPr>
          <a:xfrm>
            <a:off x="4718304" y="2048256"/>
            <a:ext cx="2103120" cy="502920"/>
          </a:xfrm>
          <a:prstGeom prst="rect">
            <a:avLst/>
          </a:prstGeom>
          <a:noFill/>
          <a:ln/>
        </p:spPr>
        <p:txBody>
          <a:bodyPr wrap="square" rtlCol="0" anchor="ctr"/>
          <a:lstStyle/>
          <a:p>
            <a:pPr algn="ctr" indent="0" marL="0">
              <a:buNone/>
            </a:pPr>
            <a:r>
              <a:rPr lang="en-US" sz="1100" dirty="0">
                <a:solidFill>
                  <a:srgbClr val="4ADE80"/>
                </a:solidFill>
                <a:latin typeface="Calibri" pitchFamily="34" charset="0"/>
                <a:ea typeface="Calibri" pitchFamily="34" charset="-122"/>
                <a:cs typeface="Calibri" pitchFamily="34" charset="-120"/>
              </a:rPr>
              <a:t>P8: Hints</a:t>
            </a:r>
            <a:endParaRPr lang="en-US" sz="1100" dirty="0"/>
          </a:p>
        </p:txBody>
      </p:sp>
      <p:sp>
        <p:nvSpPr>
          <p:cNvPr id="31" name="Shape 29"/>
          <p:cNvSpPr/>
          <p:nvPr/>
        </p:nvSpPr>
        <p:spPr>
          <a:xfrm>
            <a:off x="4718304" y="2642616"/>
            <a:ext cx="2103120" cy="502920"/>
          </a:xfrm>
          <a:prstGeom prst="rect">
            <a:avLst/>
          </a:prstGeom>
          <a:solidFill>
            <a:srgbClr val="1E293B"/>
          </a:solidFill>
          <a:ln w="6350">
            <a:solidFill>
              <a:srgbClr val="4ADE80"/>
            </a:solidFill>
            <a:prstDash val="solid"/>
          </a:ln>
        </p:spPr>
      </p:sp>
      <p:sp>
        <p:nvSpPr>
          <p:cNvPr id="32" name="Text 30"/>
          <p:cNvSpPr/>
          <p:nvPr/>
        </p:nvSpPr>
        <p:spPr>
          <a:xfrm>
            <a:off x="4718304" y="2642616"/>
            <a:ext cx="2103120" cy="502920"/>
          </a:xfrm>
          <a:prstGeom prst="rect">
            <a:avLst/>
          </a:prstGeom>
          <a:noFill/>
          <a:ln/>
        </p:spPr>
        <p:txBody>
          <a:bodyPr wrap="square" rtlCol="0" anchor="ctr"/>
          <a:lstStyle/>
          <a:p>
            <a:pPr algn="ctr" indent="0" marL="0">
              <a:buNone/>
            </a:pPr>
            <a:r>
              <a:rPr lang="en-US" sz="1100" dirty="0">
                <a:solidFill>
                  <a:srgbClr val="4ADE80"/>
                </a:solidFill>
                <a:latin typeface="Calibri" pitchFamily="34" charset="0"/>
                <a:ea typeface="Calibri" pitchFamily="34" charset="-122"/>
                <a:cs typeface="Calibri" pitchFamily="34" charset="-120"/>
              </a:rPr>
              <a:t>P9: Frontend</a:t>
            </a:r>
            <a:endParaRPr lang="en-US" sz="1100" dirty="0"/>
          </a:p>
        </p:txBody>
      </p:sp>
      <p:sp>
        <p:nvSpPr>
          <p:cNvPr id="33" name="Shape 31"/>
          <p:cNvSpPr/>
          <p:nvPr/>
        </p:nvSpPr>
        <p:spPr>
          <a:xfrm>
            <a:off x="4718304" y="3236976"/>
            <a:ext cx="2103120" cy="502920"/>
          </a:xfrm>
          <a:prstGeom prst="rect">
            <a:avLst/>
          </a:prstGeom>
          <a:solidFill>
            <a:srgbClr val="1E293B"/>
          </a:solidFill>
          <a:ln w="6350">
            <a:solidFill>
              <a:srgbClr val="4ADE80"/>
            </a:solidFill>
            <a:prstDash val="solid"/>
          </a:ln>
        </p:spPr>
      </p:sp>
      <p:sp>
        <p:nvSpPr>
          <p:cNvPr id="34" name="Text 32"/>
          <p:cNvSpPr/>
          <p:nvPr/>
        </p:nvSpPr>
        <p:spPr>
          <a:xfrm>
            <a:off x="4718304" y="3236976"/>
            <a:ext cx="2103120" cy="502920"/>
          </a:xfrm>
          <a:prstGeom prst="rect">
            <a:avLst/>
          </a:prstGeom>
          <a:noFill/>
          <a:ln/>
        </p:spPr>
        <p:txBody>
          <a:bodyPr wrap="square" rtlCol="0" anchor="ctr"/>
          <a:lstStyle/>
          <a:p>
            <a:pPr algn="ctr" indent="0" marL="0">
              <a:buNone/>
            </a:pPr>
            <a:r>
              <a:rPr lang="en-US" sz="1100" dirty="0">
                <a:solidFill>
                  <a:srgbClr val="4ADE80"/>
                </a:solidFill>
                <a:latin typeface="Calibri" pitchFamily="34" charset="0"/>
                <a:ea typeface="Calibri" pitchFamily="34" charset="-122"/>
                <a:cs typeface="Calibri" pitchFamily="34" charset="-120"/>
              </a:rPr>
              <a:t>P10: Testing</a:t>
            </a:r>
            <a:endParaRPr lang="en-US" sz="1100" dirty="0"/>
          </a:p>
        </p:txBody>
      </p:sp>
      <p:sp>
        <p:nvSpPr>
          <p:cNvPr id="35" name="Shape 33"/>
          <p:cNvSpPr/>
          <p:nvPr/>
        </p:nvSpPr>
        <p:spPr>
          <a:xfrm>
            <a:off x="4718304" y="3831336"/>
            <a:ext cx="2103120" cy="502920"/>
          </a:xfrm>
          <a:prstGeom prst="rect">
            <a:avLst/>
          </a:prstGeom>
          <a:solidFill>
            <a:srgbClr val="1E293B"/>
          </a:solidFill>
          <a:ln w="6350">
            <a:solidFill>
              <a:srgbClr val="4ADE80"/>
            </a:solidFill>
            <a:prstDash val="solid"/>
          </a:ln>
        </p:spPr>
      </p:sp>
      <p:sp>
        <p:nvSpPr>
          <p:cNvPr id="36" name="Text 34"/>
          <p:cNvSpPr/>
          <p:nvPr/>
        </p:nvSpPr>
        <p:spPr>
          <a:xfrm>
            <a:off x="4718304" y="3831336"/>
            <a:ext cx="2103120" cy="502920"/>
          </a:xfrm>
          <a:prstGeom prst="rect">
            <a:avLst/>
          </a:prstGeom>
          <a:noFill/>
          <a:ln/>
        </p:spPr>
        <p:txBody>
          <a:bodyPr wrap="square" rtlCol="0" anchor="ctr"/>
          <a:lstStyle/>
          <a:p>
            <a:pPr algn="ctr" indent="0" marL="0">
              <a:buNone/>
            </a:pPr>
            <a:r>
              <a:rPr lang="en-US" sz="1100" dirty="0">
                <a:solidFill>
                  <a:srgbClr val="4ADE80"/>
                </a:solidFill>
                <a:latin typeface="Calibri" pitchFamily="34" charset="0"/>
                <a:ea typeface="Calibri" pitchFamily="34" charset="-122"/>
                <a:cs typeface="Calibri" pitchFamily="34" charset="-120"/>
              </a:rPr>
              <a:t>P11: Load Test</a:t>
            </a:r>
            <a:endParaRPr lang="en-US" sz="1100" dirty="0"/>
          </a:p>
        </p:txBody>
      </p:sp>
      <p:sp>
        <p:nvSpPr>
          <p:cNvPr id="37" name="Shape 35"/>
          <p:cNvSpPr/>
          <p:nvPr/>
        </p:nvSpPr>
        <p:spPr>
          <a:xfrm>
            <a:off x="6949440" y="1554480"/>
            <a:ext cx="2103120" cy="384048"/>
          </a:xfrm>
          <a:prstGeom prst="rect">
            <a:avLst/>
          </a:prstGeom>
          <a:solidFill>
            <a:srgbClr val="0D1929"/>
          </a:solidFill>
          <a:ln w="9525">
            <a:solidFill>
              <a:srgbClr val="6366F1"/>
            </a:solidFill>
            <a:prstDash val="solid"/>
          </a:ln>
        </p:spPr>
      </p:sp>
      <p:sp>
        <p:nvSpPr>
          <p:cNvPr id="38" name="Text 36"/>
          <p:cNvSpPr/>
          <p:nvPr/>
        </p:nvSpPr>
        <p:spPr>
          <a:xfrm>
            <a:off x="6949440" y="1554480"/>
            <a:ext cx="2103120" cy="384048"/>
          </a:xfrm>
          <a:prstGeom prst="rect">
            <a:avLst/>
          </a:prstGeom>
          <a:noFill/>
          <a:ln/>
        </p:spPr>
        <p:txBody>
          <a:bodyPr wrap="square" rtlCol="0" anchor="ctr"/>
          <a:lstStyle/>
          <a:p>
            <a:pPr algn="ctr" indent="0" marL="0">
              <a:buNone/>
            </a:pPr>
            <a:r>
              <a:rPr lang="en-US" sz="850" b="1" dirty="0">
                <a:solidFill>
                  <a:srgbClr val="6366F1"/>
                </a:solidFill>
                <a:latin typeface="Calibri" pitchFamily="34" charset="0"/>
                <a:ea typeface="Calibri" pitchFamily="34" charset="-122"/>
                <a:cs typeface="Calibri" pitchFamily="34" charset="-120"/>
              </a:rPr>
              <a:t>TIER 4 — PRODUCTION</a:t>
            </a:r>
            <a:endParaRPr lang="en-US" sz="850" dirty="0"/>
          </a:p>
        </p:txBody>
      </p:sp>
      <p:sp>
        <p:nvSpPr>
          <p:cNvPr id="39" name="Shape 37"/>
          <p:cNvSpPr/>
          <p:nvPr/>
        </p:nvSpPr>
        <p:spPr>
          <a:xfrm>
            <a:off x="6949440" y="2048256"/>
            <a:ext cx="2103120" cy="502920"/>
          </a:xfrm>
          <a:prstGeom prst="rect">
            <a:avLst/>
          </a:prstGeom>
          <a:solidFill>
            <a:srgbClr val="1E293B"/>
          </a:solidFill>
          <a:ln w="6350">
            <a:solidFill>
              <a:srgbClr val="6366F1"/>
            </a:solidFill>
            <a:prstDash val="solid"/>
          </a:ln>
        </p:spPr>
      </p:sp>
      <p:sp>
        <p:nvSpPr>
          <p:cNvPr id="40" name="Text 38"/>
          <p:cNvSpPr/>
          <p:nvPr/>
        </p:nvSpPr>
        <p:spPr>
          <a:xfrm>
            <a:off x="6949440" y="2048256"/>
            <a:ext cx="2103120" cy="502920"/>
          </a:xfrm>
          <a:prstGeom prst="rect">
            <a:avLst/>
          </a:prstGeom>
          <a:noFill/>
          <a:ln/>
        </p:spPr>
        <p:txBody>
          <a:bodyPr wrap="square" rtlCol="0" anchor="ctr"/>
          <a:lstStyle/>
          <a:p>
            <a:pPr algn="ctr" indent="0" marL="0">
              <a:buNone/>
            </a:pPr>
            <a:r>
              <a:rPr lang="en-US" sz="1100" dirty="0">
                <a:solidFill>
                  <a:srgbClr val="6366F1"/>
                </a:solidFill>
                <a:latin typeface="Calibri" pitchFamily="34" charset="0"/>
                <a:ea typeface="Calibri" pitchFamily="34" charset="-122"/>
                <a:cs typeface="Calibri" pitchFamily="34" charset="-120"/>
              </a:rPr>
              <a:t>P12: Observability</a:t>
            </a:r>
            <a:endParaRPr lang="en-US" sz="1100" dirty="0"/>
          </a:p>
        </p:txBody>
      </p:sp>
      <p:sp>
        <p:nvSpPr>
          <p:cNvPr id="41" name="Shape 39"/>
          <p:cNvSpPr/>
          <p:nvPr/>
        </p:nvSpPr>
        <p:spPr>
          <a:xfrm>
            <a:off x="6949440" y="2642616"/>
            <a:ext cx="2103120" cy="502920"/>
          </a:xfrm>
          <a:prstGeom prst="rect">
            <a:avLst/>
          </a:prstGeom>
          <a:solidFill>
            <a:srgbClr val="1E293B"/>
          </a:solidFill>
          <a:ln w="6350">
            <a:solidFill>
              <a:srgbClr val="6366F1"/>
            </a:solidFill>
            <a:prstDash val="solid"/>
          </a:ln>
        </p:spPr>
      </p:sp>
      <p:sp>
        <p:nvSpPr>
          <p:cNvPr id="42" name="Text 40"/>
          <p:cNvSpPr/>
          <p:nvPr/>
        </p:nvSpPr>
        <p:spPr>
          <a:xfrm>
            <a:off x="6949440" y="2642616"/>
            <a:ext cx="2103120" cy="502920"/>
          </a:xfrm>
          <a:prstGeom prst="rect">
            <a:avLst/>
          </a:prstGeom>
          <a:noFill/>
          <a:ln/>
        </p:spPr>
        <p:txBody>
          <a:bodyPr wrap="square" rtlCol="0" anchor="ctr"/>
          <a:lstStyle/>
          <a:p>
            <a:pPr algn="ctr" indent="0" marL="0">
              <a:buNone/>
            </a:pPr>
            <a:r>
              <a:rPr lang="en-US" sz="1100" dirty="0">
                <a:solidFill>
                  <a:srgbClr val="6366F1"/>
                </a:solidFill>
                <a:latin typeface="Calibri" pitchFamily="34" charset="0"/>
                <a:ea typeface="Calibri" pitchFamily="34" charset="-122"/>
                <a:cs typeface="Calibri" pitchFamily="34" charset="-120"/>
              </a:rPr>
              <a:t>P13: DevOps</a:t>
            </a:r>
            <a:endParaRPr lang="en-US" sz="1100" dirty="0"/>
          </a:p>
        </p:txBody>
      </p:sp>
      <p:sp>
        <p:nvSpPr>
          <p:cNvPr id="43" name="Shape 41"/>
          <p:cNvSpPr/>
          <p:nvPr/>
        </p:nvSpPr>
        <p:spPr>
          <a:xfrm>
            <a:off x="6949440" y="3236976"/>
            <a:ext cx="2103120" cy="502920"/>
          </a:xfrm>
          <a:prstGeom prst="rect">
            <a:avLst/>
          </a:prstGeom>
          <a:solidFill>
            <a:srgbClr val="1E293B"/>
          </a:solidFill>
          <a:ln w="6350">
            <a:solidFill>
              <a:srgbClr val="6366F1"/>
            </a:solidFill>
            <a:prstDash val="solid"/>
          </a:ln>
        </p:spPr>
      </p:sp>
      <p:sp>
        <p:nvSpPr>
          <p:cNvPr id="44" name="Text 42"/>
          <p:cNvSpPr/>
          <p:nvPr/>
        </p:nvSpPr>
        <p:spPr>
          <a:xfrm>
            <a:off x="6949440" y="3236976"/>
            <a:ext cx="2103120" cy="502920"/>
          </a:xfrm>
          <a:prstGeom prst="rect">
            <a:avLst/>
          </a:prstGeom>
          <a:noFill/>
          <a:ln/>
        </p:spPr>
        <p:txBody>
          <a:bodyPr wrap="square" rtlCol="0" anchor="ctr"/>
          <a:lstStyle/>
          <a:p>
            <a:pPr algn="ctr" indent="0" marL="0">
              <a:buNone/>
            </a:pPr>
            <a:r>
              <a:rPr lang="en-US" sz="1100" dirty="0">
                <a:solidFill>
                  <a:srgbClr val="6366F1"/>
                </a:solidFill>
                <a:latin typeface="Calibri" pitchFamily="34" charset="0"/>
                <a:ea typeface="Calibri" pitchFamily="34" charset="-122"/>
                <a:cs typeface="Calibri" pitchFamily="34" charset="-120"/>
              </a:rPr>
              <a:t>P14: Docs + Demo</a:t>
            </a:r>
            <a:endParaRPr lang="en-US" sz="1100" dirty="0"/>
          </a:p>
        </p:txBody>
      </p:sp>
      <p:sp>
        <p:nvSpPr>
          <p:cNvPr id="45" name="Text 43"/>
          <p:cNvSpPr/>
          <p:nvPr/>
        </p:nvSpPr>
        <p:spPr>
          <a:xfrm>
            <a:off x="274320" y="4727448"/>
            <a:ext cx="8595360" cy="301752"/>
          </a:xfrm>
          <a:prstGeom prst="rect">
            <a:avLst/>
          </a:prstGeom>
          <a:noFill/>
          <a:ln/>
        </p:spPr>
        <p:txBody>
          <a:bodyPr wrap="square" rtlCol="0" anchor="ctr"/>
          <a:lstStyle/>
          <a:p>
            <a:pPr algn="ctr" indent="0" marL="0">
              <a:buNone/>
            </a:pPr>
            <a:r>
              <a:rPr lang="en-US" sz="1100" i="1" dirty="0">
                <a:solidFill>
                  <a:srgbClr val="94A3B8"/>
                </a:solidFill>
                <a:latin typeface="Calibri" pitchFamily="34" charset="0"/>
                <a:ea typeface="Calibri" pitchFamily="34" charset="-122"/>
                <a:cs typeface="Calibri" pitchFamily="34" charset="-120"/>
              </a:rPr>
              <a:t>Execute this plan and you will have a system that is genuinely defensible in any senior engineering interview.</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Realtime Multiplayer Sudoku — Production Engineering Roadmap</dc:title>
  <dc:subject>PptxGenJS Presentation</dc:subject>
  <dc:creator>PptxGenJS</dc:creator>
  <cp:lastModifiedBy>PptxGenJS</cp:lastModifiedBy>
  <cp:revision>1</cp:revision>
  <dcterms:created xsi:type="dcterms:W3CDTF">2026-06-05T10:13:22Z</dcterms:created>
  <dcterms:modified xsi:type="dcterms:W3CDTF">2026-06-05T10:13:22Z</dcterms:modified>
</cp:coreProperties>
</file>